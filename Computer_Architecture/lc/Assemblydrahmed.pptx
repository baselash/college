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303" r:id="rId3"/>
    <p:sldId id="257" r:id="rId4"/>
    <p:sldId id="259" r:id="rId5"/>
    <p:sldId id="263" r:id="rId6"/>
    <p:sldId id="262" r:id="rId7"/>
    <p:sldId id="304" r:id="rId8"/>
    <p:sldId id="305" r:id="rId9"/>
    <p:sldId id="264" r:id="rId10"/>
    <p:sldId id="270" r:id="rId11"/>
    <p:sldId id="298" r:id="rId12"/>
    <p:sldId id="267" r:id="rId13"/>
    <p:sldId id="299" r:id="rId14"/>
    <p:sldId id="301" r:id="rId15"/>
    <p:sldId id="276" r:id="rId16"/>
    <p:sldId id="274" r:id="rId17"/>
    <p:sldId id="302" r:id="rId18"/>
    <p:sldId id="277" r:id="rId19"/>
    <p:sldId id="279" r:id="rId20"/>
    <p:sldId id="280" r:id="rId21"/>
    <p:sldId id="282" r:id="rId22"/>
    <p:sldId id="281" r:id="rId23"/>
    <p:sldId id="300" r:id="rId24"/>
    <p:sldId id="268" r:id="rId25"/>
    <p:sldId id="269" r:id="rId26"/>
    <p:sldId id="272" r:id="rId27"/>
    <p:sldId id="271" r:id="rId28"/>
    <p:sldId id="289" r:id="rId29"/>
    <p:sldId id="297" r:id="rId30"/>
    <p:sldId id="285" r:id="rId31"/>
    <p:sldId id="308" r:id="rId32"/>
    <p:sldId id="307" r:id="rId33"/>
    <p:sldId id="306" r:id="rId34"/>
    <p:sldId id="309" r:id="rId35"/>
    <p:sldId id="310" r:id="rId36"/>
    <p:sldId id="287" r:id="rId37"/>
    <p:sldId id="28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09" autoAdjust="0"/>
    <p:restoredTop sz="92151"/>
  </p:normalViewPr>
  <p:slideViewPr>
    <p:cSldViewPr snapToGrid="0">
      <p:cViewPr varScale="1">
        <p:scale>
          <a:sx n="83" d="100"/>
          <a:sy n="83" d="100"/>
        </p:scale>
        <p:origin x="224"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51E17D-E168-6047-8B77-BAFEE1B0E9C3}" type="datetimeFigureOut">
              <a:rPr lang="en-EG" smtClean="0"/>
              <a:t>09/04/2026</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6AE0F-8859-B043-876D-93B4B48B3A77}" type="slidenum">
              <a:rPr lang="en-EG" smtClean="0"/>
              <a:t>‹#›</a:t>
            </a:fld>
            <a:endParaRPr lang="en-EG"/>
          </a:p>
        </p:txBody>
      </p:sp>
    </p:spTree>
    <p:extLst>
      <p:ext uri="{BB962C8B-B14F-4D97-AF65-F5344CB8AC3E}">
        <p14:creationId xmlns:p14="http://schemas.microsoft.com/office/powerpoint/2010/main" val="330844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11111  AND 00000=== 00000</a:t>
            </a:r>
          </a:p>
        </p:txBody>
      </p:sp>
      <p:sp>
        <p:nvSpPr>
          <p:cNvPr id="4" name="Slide Number Placeholder 3"/>
          <p:cNvSpPr>
            <a:spLocks noGrp="1"/>
          </p:cNvSpPr>
          <p:nvPr>
            <p:ph type="sldNum" sz="quarter" idx="5"/>
          </p:nvPr>
        </p:nvSpPr>
        <p:spPr/>
        <p:txBody>
          <a:bodyPr/>
          <a:lstStyle/>
          <a:p>
            <a:fld id="{0556AE0F-8859-B043-876D-93B4B48B3A77}" type="slidenum">
              <a:rPr lang="en-EG" smtClean="0"/>
              <a:t>11</a:t>
            </a:fld>
            <a:endParaRPr lang="en-EG"/>
          </a:p>
        </p:txBody>
      </p:sp>
    </p:spTree>
    <p:extLst>
      <p:ext uri="{BB962C8B-B14F-4D97-AF65-F5344CB8AC3E}">
        <p14:creationId xmlns:p14="http://schemas.microsoft.com/office/powerpoint/2010/main" val="3956196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556AE0F-8859-B043-876D-93B4B48B3A77}" type="slidenum">
              <a:rPr lang="en-EG" smtClean="0"/>
              <a:t>13</a:t>
            </a:fld>
            <a:endParaRPr lang="en-EG"/>
          </a:p>
        </p:txBody>
      </p:sp>
    </p:spTree>
    <p:extLst>
      <p:ext uri="{BB962C8B-B14F-4D97-AF65-F5344CB8AC3E}">
        <p14:creationId xmlns:p14="http://schemas.microsoft.com/office/powerpoint/2010/main" val="1616225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if I need to </a:t>
            </a:r>
            <a:r>
              <a:rPr lang="en-US" dirty="0" err="1"/>
              <a:t>declar</a:t>
            </a:r>
            <a:r>
              <a:rPr lang="en-US" dirty="0"/>
              <a:t> pointer point to data</a:t>
            </a:r>
            <a:endParaRPr lang="en-EG" dirty="0"/>
          </a:p>
        </p:txBody>
      </p:sp>
      <p:sp>
        <p:nvSpPr>
          <p:cNvPr id="4" name="Slide Number Placeholder 3"/>
          <p:cNvSpPr>
            <a:spLocks noGrp="1"/>
          </p:cNvSpPr>
          <p:nvPr>
            <p:ph type="sldNum" sz="quarter" idx="5"/>
          </p:nvPr>
        </p:nvSpPr>
        <p:spPr/>
        <p:txBody>
          <a:bodyPr/>
          <a:lstStyle/>
          <a:p>
            <a:fld id="{0556AE0F-8859-B043-876D-93B4B48B3A77}" type="slidenum">
              <a:rPr lang="en-EG" smtClean="0"/>
              <a:t>29</a:t>
            </a:fld>
            <a:endParaRPr lang="en-EG"/>
          </a:p>
        </p:txBody>
      </p:sp>
    </p:spTree>
    <p:extLst>
      <p:ext uri="{BB962C8B-B14F-4D97-AF65-F5344CB8AC3E}">
        <p14:creationId xmlns:p14="http://schemas.microsoft.com/office/powerpoint/2010/main" val="38199128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4/9/26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4/9/26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Assembly</a:t>
            </a:r>
            <a:br>
              <a:rPr lang="en-US" dirty="0"/>
            </a:br>
            <a:r>
              <a:rPr lang="en-US" dirty="0"/>
              <a:t>LC-3 program </a:t>
            </a:r>
            <a:endParaRPr lang="en-US" altLang="en-US" dirty="0"/>
          </a:p>
        </p:txBody>
      </p:sp>
      <p:sp>
        <p:nvSpPr>
          <p:cNvPr id="3" name="Subtitle 2"/>
          <p:cNvSpPr>
            <a:spLocks noGrp="1"/>
          </p:cNvSpPr>
          <p:nvPr>
            <p:ph type="subTitle" idx="1"/>
          </p:nvPr>
        </p:nvSpPr>
        <p:spPr>
          <a:xfrm>
            <a:off x="2063751" y="2927350"/>
            <a:ext cx="9218083" cy="1752600"/>
          </a:xfrm>
        </p:spPr>
        <p:txBody>
          <a:bodyPr/>
          <a:lstStyle/>
          <a:p>
            <a:r>
              <a:rPr lang="en-US">
                <a:highlight>
                  <a:srgbClr val="FFFF00"/>
                </a:highlight>
              </a:rPr>
              <a:t>dr ahmed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EE83-0771-06DE-F7C6-7EB209A1F940}"/>
              </a:ext>
            </a:extLst>
          </p:cNvPr>
          <p:cNvSpPr>
            <a:spLocks noGrp="1"/>
          </p:cNvSpPr>
          <p:nvPr>
            <p:ph type="title"/>
          </p:nvPr>
        </p:nvSpPr>
        <p:spPr/>
        <p:txBody>
          <a:bodyPr/>
          <a:lstStyle/>
          <a:p>
            <a:r>
              <a:rPr lang="en-EG" dirty="0"/>
              <a:t>Link to download the program</a:t>
            </a:r>
          </a:p>
        </p:txBody>
      </p:sp>
      <p:sp>
        <p:nvSpPr>
          <p:cNvPr id="3" name="Content Placeholder 2">
            <a:extLst>
              <a:ext uri="{FF2B5EF4-FFF2-40B4-BE49-F238E27FC236}">
                <a16:creationId xmlns:a16="http://schemas.microsoft.com/office/drawing/2014/main" id="{3445AF23-7169-1361-91C6-B6358D0B2AA1}"/>
              </a:ext>
            </a:extLst>
          </p:cNvPr>
          <p:cNvSpPr>
            <a:spLocks noGrp="1"/>
          </p:cNvSpPr>
          <p:nvPr>
            <p:ph idx="1"/>
          </p:nvPr>
        </p:nvSpPr>
        <p:spPr/>
        <p:txBody>
          <a:bodyPr/>
          <a:lstStyle/>
          <a:p>
            <a:r>
              <a:rPr lang="en-US" dirty="0"/>
              <a:t>https://</a:t>
            </a:r>
            <a:r>
              <a:rPr lang="en-US" dirty="0" err="1"/>
              <a:t>hackmd.io</a:t>
            </a:r>
            <a:r>
              <a:rPr lang="en-US"/>
              <a:t>/@kIKuOG-cRvKPOEH2Mg2QtQ/HkYVXl4Mh</a:t>
            </a:r>
            <a:endParaRPr lang="en-EG"/>
          </a:p>
        </p:txBody>
      </p:sp>
    </p:spTree>
    <p:extLst>
      <p:ext uri="{BB962C8B-B14F-4D97-AF65-F5344CB8AC3E}">
        <p14:creationId xmlns:p14="http://schemas.microsoft.com/office/powerpoint/2010/main" val="4066620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ISA</a:t>
            </a:r>
            <a:endParaRPr lang="en-US" b="1" dirty="0"/>
          </a:p>
        </p:txBody>
      </p:sp>
      <p:sp>
        <p:nvSpPr>
          <p:cNvPr id="3" name="Content Placeholder 2"/>
          <p:cNvSpPr>
            <a:spLocks noGrp="1"/>
          </p:cNvSpPr>
          <p:nvPr>
            <p:ph idx="1"/>
          </p:nvPr>
        </p:nvSpPr>
        <p:spPr>
          <a:xfrm>
            <a:off x="494030" y="1390650"/>
            <a:ext cx="11203305" cy="4618990"/>
          </a:xfrm>
        </p:spPr>
        <p:txBody>
          <a:bodyPr/>
          <a:lstStyle/>
          <a:p>
            <a:pPr>
              <a:lnSpc>
                <a:spcPct val="150000"/>
              </a:lnSpc>
            </a:pPr>
            <a:r>
              <a:rPr lang="en-US" sz="2800" dirty="0"/>
              <a:t>In computer science and engineering, ISA stands for </a:t>
            </a:r>
            <a:r>
              <a:rPr lang="en-US" sz="2800" b="1" dirty="0">
                <a:solidFill>
                  <a:srgbClr val="FF0000"/>
                </a:solidFill>
              </a:rPr>
              <a:t>Instruction Set Architecture</a:t>
            </a:r>
            <a:r>
              <a:rPr lang="en-US" sz="2800" dirty="0"/>
              <a:t>. It serves as the interface </a:t>
            </a:r>
            <a:r>
              <a:rPr lang="en-US" sz="2800" i="1" u="sng" dirty="0"/>
              <a:t>between software and hardware</a:t>
            </a:r>
            <a:r>
              <a:rPr lang="en-US" sz="2800" dirty="0"/>
              <a:t> components of a computer system</a:t>
            </a:r>
          </a:p>
          <a:p>
            <a:pPr>
              <a:lnSpc>
                <a:spcPct val="150000"/>
              </a:lnSpc>
            </a:pPr>
            <a:r>
              <a:rPr lang="en-US" sz="2800" dirty="0"/>
              <a:t>The ISA defines the set of instructions that a processor can execute, along with the format of those instructions,</a:t>
            </a:r>
          </a:p>
          <a:p>
            <a:pPr>
              <a:lnSpc>
                <a:spcPct val="150000"/>
              </a:lnSpc>
            </a:pP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3235"/>
            <a:ext cx="10515600" cy="1576705"/>
          </a:xfrm>
        </p:spPr>
        <p:txBody>
          <a:bodyPr>
            <a:normAutofit/>
          </a:bodyPr>
          <a:lstStyle/>
          <a:p>
            <a:r>
              <a:rPr lang="en-US" b="1" dirty="0"/>
              <a:t>LC-3 Assembly Language Instruction</a:t>
            </a:r>
            <a:br>
              <a:rPr lang="en-US" dirty="0"/>
            </a:br>
            <a:r>
              <a:rPr lang="en-US" dirty="0"/>
              <a:t> </a:t>
            </a:r>
          </a:p>
        </p:txBody>
      </p:sp>
      <p:sp>
        <p:nvSpPr>
          <p:cNvPr id="3" name="Content Placeholder 2"/>
          <p:cNvSpPr>
            <a:spLocks noGrp="1"/>
          </p:cNvSpPr>
          <p:nvPr>
            <p:ph idx="1"/>
          </p:nvPr>
        </p:nvSpPr>
        <p:spPr>
          <a:xfrm>
            <a:off x="609600" y="1456055"/>
            <a:ext cx="10972800" cy="4953000"/>
          </a:xfrm>
        </p:spPr>
        <p:txBody>
          <a:bodyPr/>
          <a:lstStyle/>
          <a:p>
            <a:pPr marL="0" indent="0">
              <a:lnSpc>
                <a:spcPct val="150000"/>
              </a:lnSpc>
              <a:buNone/>
            </a:pPr>
            <a:r>
              <a:rPr lang="en-US" sz="2000" dirty="0"/>
              <a:t>Each instruction &gt;&gt; LABEL OPCODE OPERANDS ; COMMENT</a:t>
            </a:r>
            <a:endParaRPr lang="en-US" sz="2000" dirty="0">
              <a:highlight>
                <a:srgbClr val="FFFF00"/>
              </a:highlight>
            </a:endParaRPr>
          </a:p>
          <a:p>
            <a:pPr>
              <a:lnSpc>
                <a:spcPct val="150000"/>
              </a:lnSpc>
            </a:pPr>
            <a:r>
              <a:rPr lang="en-US" sz="1800" b="1" dirty="0"/>
              <a:t>LABEL: </a:t>
            </a:r>
          </a:p>
          <a:p>
            <a:pPr lvl="1">
              <a:lnSpc>
                <a:spcPct val="150000"/>
              </a:lnSpc>
            </a:pPr>
            <a:r>
              <a:rPr lang="en-US" sz="1800" dirty="0"/>
              <a:t>This is an </a:t>
            </a:r>
            <a:r>
              <a:rPr lang="en-US" sz="1800" u="sng" dirty="0"/>
              <a:t>optional </a:t>
            </a:r>
            <a:r>
              <a:rPr lang="en-US" sz="1800" dirty="0"/>
              <a:t>segment, preceding the opcode, that designates a </a:t>
            </a:r>
            <a:r>
              <a:rPr lang="en-US" sz="1800" u="sng" dirty="0"/>
              <a:t>symbolic name for the instruction</a:t>
            </a:r>
            <a:r>
              <a:rPr lang="en-US" sz="1800" dirty="0"/>
              <a:t>. It serves as a reference point within the program. The label is terminated by a colon ":” </a:t>
            </a:r>
            <a:r>
              <a:rPr lang="en-US" sz="1800" b="1" dirty="0"/>
              <a:t>example</a:t>
            </a:r>
            <a:r>
              <a:rPr lang="en-US" sz="1800" dirty="0"/>
              <a:t>: Addition: </a:t>
            </a:r>
          </a:p>
          <a:p>
            <a:pPr>
              <a:lnSpc>
                <a:spcPct val="150000"/>
              </a:lnSpc>
            </a:pPr>
            <a:r>
              <a:rPr lang="en-US" sz="1800" b="1" dirty="0"/>
              <a:t>OPCODE: </a:t>
            </a:r>
          </a:p>
          <a:p>
            <a:pPr lvl="1">
              <a:lnSpc>
                <a:spcPct val="150000"/>
              </a:lnSpc>
            </a:pPr>
            <a:r>
              <a:rPr lang="en-US" sz="1800" dirty="0"/>
              <a:t>This is a </a:t>
            </a:r>
            <a:r>
              <a:rPr lang="en-US" sz="1800" u="sng" dirty="0"/>
              <a:t>mandatory element</a:t>
            </a:r>
            <a:r>
              <a:rPr lang="en-US" sz="1800" dirty="0"/>
              <a:t>, indicating the </a:t>
            </a:r>
            <a:r>
              <a:rPr lang="en-US" sz="1800" b="1" dirty="0"/>
              <a:t>operation</a:t>
            </a:r>
            <a:r>
              <a:rPr lang="en-US" sz="1800" dirty="0"/>
              <a:t> code of the instruction. It determines the specific task that the LC-3 processor will execute, such as arithmetic operations, data handling, or control flow commands. </a:t>
            </a:r>
            <a:r>
              <a:rPr lang="en-US" sz="2000" b="1" dirty="0"/>
              <a:t>example: </a:t>
            </a:r>
            <a:r>
              <a:rPr lang="en-US" sz="2000" dirty="0"/>
              <a:t>ADD</a:t>
            </a:r>
          </a:p>
          <a:p>
            <a:pPr lvl="1">
              <a:lnSpc>
                <a:spcPct val="200000"/>
              </a:lnSpc>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040" y="1253331"/>
            <a:ext cx="10515600" cy="4351338"/>
          </a:xfrm>
        </p:spPr>
        <p:txBody>
          <a:bodyPr>
            <a:noAutofit/>
          </a:bodyPr>
          <a:lstStyle/>
          <a:p>
            <a:pPr marL="0" indent="0">
              <a:lnSpc>
                <a:spcPct val="150000"/>
              </a:lnSpc>
              <a:buNone/>
            </a:pPr>
            <a:r>
              <a:rPr lang="en-US" sz="2000" dirty="0"/>
              <a:t>Each instruction &gt;&gt; LABEL OPCODE OPERANDS ; COMMENT</a:t>
            </a:r>
          </a:p>
          <a:p>
            <a:pPr>
              <a:lnSpc>
                <a:spcPct val="150000"/>
              </a:lnSpc>
            </a:pPr>
            <a:r>
              <a:rPr lang="en-US" sz="2000" b="1" dirty="0"/>
              <a:t>OPERANDS</a:t>
            </a:r>
            <a:r>
              <a:rPr lang="en-US" sz="2000" dirty="0"/>
              <a:t>: </a:t>
            </a:r>
          </a:p>
          <a:p>
            <a:pPr lvl="1">
              <a:lnSpc>
                <a:spcPct val="150000"/>
              </a:lnSpc>
            </a:pPr>
            <a:r>
              <a:rPr lang="en-US" sz="1800" dirty="0"/>
              <a:t>These are optional constituents, following the opcode, which provide supplementary information or data required by the instruction. Depending on the opcode, an instruction might necessitate zero, one, or multiple operands. Operands can encompass memory addresses, register identifiers, or immediate values</a:t>
            </a:r>
            <a:r>
              <a:rPr lang="en-US" sz="1600" dirty="0"/>
              <a:t>.</a:t>
            </a:r>
          </a:p>
          <a:p>
            <a:pPr>
              <a:lnSpc>
                <a:spcPct val="150000"/>
              </a:lnSpc>
            </a:pPr>
            <a:r>
              <a:rPr lang="en-US" sz="2000" b="1" dirty="0"/>
              <a:t>COMMENTS</a:t>
            </a:r>
            <a:r>
              <a:rPr lang="en-US" sz="2000" dirty="0"/>
              <a:t>: </a:t>
            </a:r>
          </a:p>
          <a:p>
            <a:pPr lvl="1">
              <a:lnSpc>
                <a:spcPct val="150000"/>
              </a:lnSpc>
            </a:pPr>
            <a:r>
              <a:rPr lang="en-US" sz="1800" dirty="0"/>
              <a:t>This is an </a:t>
            </a:r>
            <a:r>
              <a:rPr lang="en-US" sz="1800" u="sng" dirty="0"/>
              <a:t>optional section</a:t>
            </a:r>
            <a:r>
              <a:rPr lang="en-US" sz="1800" dirty="0"/>
              <a:t>, denoted by a semicolon </a:t>
            </a:r>
            <a:r>
              <a:rPr lang="en-US" sz="1800" u="sng" dirty="0"/>
              <a:t>";"</a:t>
            </a:r>
            <a:r>
              <a:rPr lang="en-US" sz="1800" dirty="0"/>
              <a:t> and located after the operands (if present), that offers human-readable elucidation or annotations regarding the instruction. Comments are </a:t>
            </a:r>
            <a:r>
              <a:rPr lang="en-US" sz="1800" i="1" u="sng" dirty="0"/>
              <a:t>disregarded</a:t>
            </a:r>
            <a:r>
              <a:rPr lang="en-US" sz="1800" dirty="0"/>
              <a:t> by the assembler during the translation of code into machine language.</a:t>
            </a:r>
          </a:p>
        </p:txBody>
      </p:sp>
      <p:sp>
        <p:nvSpPr>
          <p:cNvPr id="2" name="Title 1">
            <a:extLst>
              <a:ext uri="{FF2B5EF4-FFF2-40B4-BE49-F238E27FC236}">
                <a16:creationId xmlns:a16="http://schemas.microsoft.com/office/drawing/2014/main" id="{B9745EB1-E788-115D-ECF3-C1E8A42B09D1}"/>
              </a:ext>
            </a:extLst>
          </p:cNvPr>
          <p:cNvSpPr>
            <a:spLocks noGrp="1"/>
          </p:cNvSpPr>
          <p:nvPr>
            <p:ph type="title"/>
          </p:nvPr>
        </p:nvSpPr>
        <p:spPr>
          <a:xfrm>
            <a:off x="609600" y="223235"/>
            <a:ext cx="10515600" cy="1576705"/>
          </a:xfrm>
        </p:spPr>
        <p:txBody>
          <a:bodyPr>
            <a:normAutofit/>
          </a:bodyPr>
          <a:lstStyle/>
          <a:p>
            <a:r>
              <a:rPr lang="en-US" b="1" dirty="0"/>
              <a:t>LC-3 Assembly Language Instruction</a:t>
            </a:r>
            <a:br>
              <a:rPr lang="en-US" dirty="0"/>
            </a:br>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r>
              <a:rPr lang="en-US" sz="1800" dirty="0"/>
              <a:t>LOOP:  ADD R1, R2, R3    ; Add contents of R2 and R3, storing the result in </a:t>
            </a:r>
            <a:r>
              <a:rPr lang="en-US" sz="2000" dirty="0"/>
              <a:t>R1</a:t>
            </a:r>
            <a:endParaRPr lang="en-US" sz="3200" dirty="0"/>
          </a:p>
        </p:txBody>
      </p:sp>
      <p:cxnSp>
        <p:nvCxnSpPr>
          <p:cNvPr id="4" name="Straight Arrow Connector 3"/>
          <p:cNvCxnSpPr>
            <a:cxnSpLocks/>
          </p:cNvCxnSpPr>
          <p:nvPr/>
        </p:nvCxnSpPr>
        <p:spPr>
          <a:xfrm>
            <a:off x="1368302" y="1627725"/>
            <a:ext cx="3175" cy="833755"/>
          </a:xfrm>
          <a:prstGeom prst="straightConnector1">
            <a:avLst/>
          </a:prstGeom>
          <a:ln w="25400">
            <a:solidFill>
              <a:schemeClr val="accent1">
                <a:alpha val="70000"/>
              </a:schemeClr>
            </a:solidFill>
            <a:tailEnd type="arrow"/>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1029970" y="2645030"/>
            <a:ext cx="1104900" cy="369332"/>
          </a:xfrm>
          <a:prstGeom prst="rect">
            <a:avLst/>
          </a:prstGeom>
          <a:noFill/>
        </p:spPr>
        <p:txBody>
          <a:bodyPr wrap="square" rtlCol="0">
            <a:spAutoFit/>
          </a:bodyPr>
          <a:lstStyle/>
          <a:p>
            <a:r>
              <a:rPr lang="en-US" dirty="0"/>
              <a:t>LABEL</a:t>
            </a:r>
          </a:p>
        </p:txBody>
      </p:sp>
      <p:cxnSp>
        <p:nvCxnSpPr>
          <p:cNvPr id="6" name="Straight Arrow Connector 5"/>
          <p:cNvCxnSpPr>
            <a:cxnSpLocks/>
          </p:cNvCxnSpPr>
          <p:nvPr/>
        </p:nvCxnSpPr>
        <p:spPr>
          <a:xfrm>
            <a:off x="2106341" y="1569532"/>
            <a:ext cx="424743" cy="942111"/>
          </a:xfrm>
          <a:prstGeom prst="straightConnector1">
            <a:avLst/>
          </a:prstGeom>
          <a:ln w="25400">
            <a:solidFill>
              <a:schemeClr val="accent1">
                <a:alpha val="70000"/>
              </a:schemeClr>
            </a:solidFill>
            <a:tailEnd type="arrow"/>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2075480" y="2679082"/>
            <a:ext cx="1750695" cy="335280"/>
          </a:xfrm>
          <a:prstGeom prst="rect">
            <a:avLst/>
          </a:prstGeom>
          <a:noFill/>
        </p:spPr>
        <p:txBody>
          <a:bodyPr wrap="square" rtlCol="0">
            <a:noAutofit/>
          </a:bodyPr>
          <a:lstStyle/>
          <a:p>
            <a:r>
              <a:rPr lang="en-US" b="1" dirty="0">
                <a:sym typeface="+mn-ea"/>
              </a:rPr>
              <a:t>OPCODE</a:t>
            </a:r>
            <a:endParaRPr lang="en-US" dirty="0"/>
          </a:p>
        </p:txBody>
      </p:sp>
      <p:cxnSp>
        <p:nvCxnSpPr>
          <p:cNvPr id="8" name="Straight Arrow Connector 7"/>
          <p:cNvCxnSpPr>
            <a:cxnSpLocks/>
          </p:cNvCxnSpPr>
          <p:nvPr/>
        </p:nvCxnSpPr>
        <p:spPr>
          <a:xfrm>
            <a:off x="6551900" y="2090224"/>
            <a:ext cx="171881" cy="455806"/>
          </a:xfrm>
          <a:prstGeom prst="straightConnector1">
            <a:avLst/>
          </a:prstGeom>
          <a:ln w="25400">
            <a:solidFill>
              <a:schemeClr val="accent1">
                <a:alpha val="70000"/>
              </a:schemeClr>
            </a:solidFill>
            <a:tailEnd type="arrow"/>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6143609" y="2731443"/>
            <a:ext cx="1750695" cy="335280"/>
          </a:xfrm>
          <a:prstGeom prst="rect">
            <a:avLst/>
          </a:prstGeom>
          <a:noFill/>
        </p:spPr>
        <p:txBody>
          <a:bodyPr wrap="square" rtlCol="0">
            <a:noAutofit/>
          </a:bodyPr>
          <a:lstStyle/>
          <a:p>
            <a:r>
              <a:rPr lang="en-US" b="1" dirty="0">
                <a:sym typeface="+mn-ea"/>
              </a:rPr>
              <a:t>COMMENT</a:t>
            </a:r>
            <a:endParaRPr lang="en-US" dirty="0"/>
          </a:p>
        </p:txBody>
      </p:sp>
      <p:cxnSp>
        <p:nvCxnSpPr>
          <p:cNvPr id="11" name="Straight Arrow Connector 10"/>
          <p:cNvCxnSpPr>
            <a:cxnSpLocks/>
          </p:cNvCxnSpPr>
          <p:nvPr/>
        </p:nvCxnSpPr>
        <p:spPr>
          <a:xfrm>
            <a:off x="2967880" y="2051603"/>
            <a:ext cx="858295" cy="460040"/>
          </a:xfrm>
          <a:prstGeom prst="straightConnector1">
            <a:avLst/>
          </a:prstGeom>
          <a:ln w="25400">
            <a:solidFill>
              <a:schemeClr val="accent1">
                <a:alpha val="70000"/>
              </a:schemeClr>
            </a:solidFill>
            <a:tailEnd type="arrow"/>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3422350" y="2674615"/>
            <a:ext cx="1750695" cy="335280"/>
          </a:xfrm>
          <a:prstGeom prst="rect">
            <a:avLst/>
          </a:prstGeom>
          <a:noFill/>
        </p:spPr>
        <p:txBody>
          <a:bodyPr wrap="square" rtlCol="0">
            <a:noAutofit/>
          </a:bodyPr>
          <a:lstStyle/>
          <a:p>
            <a:r>
              <a:rPr lang="en-US" dirty="0">
                <a:sym typeface="+mn-ea"/>
              </a:rPr>
              <a:t>OPERANDS</a:t>
            </a:r>
            <a:endParaRPr lang="en-US" dirty="0"/>
          </a:p>
        </p:txBody>
      </p:sp>
      <p:sp>
        <p:nvSpPr>
          <p:cNvPr id="17" name="Left Brace 16">
            <a:extLst>
              <a:ext uri="{FF2B5EF4-FFF2-40B4-BE49-F238E27FC236}">
                <a16:creationId xmlns:a16="http://schemas.microsoft.com/office/drawing/2014/main" id="{D72EBE10-6D4C-C2D2-FE58-F62DD16B8DCF}"/>
              </a:ext>
            </a:extLst>
          </p:cNvPr>
          <p:cNvSpPr/>
          <p:nvPr/>
        </p:nvSpPr>
        <p:spPr bwMode="auto">
          <a:xfrm rot="16200000">
            <a:off x="2688401" y="1193942"/>
            <a:ext cx="574861" cy="1140461"/>
          </a:xfrm>
          <a:prstGeom prst="leftBrace">
            <a:avLst>
              <a:gd name="adj1" fmla="val 8333"/>
              <a:gd name="adj2" fmla="val 49109"/>
            </a:avLst>
          </a:prstGeom>
          <a:noFill/>
          <a:ln w="19050"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EG"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21" name="Left Brace 20">
            <a:extLst>
              <a:ext uri="{FF2B5EF4-FFF2-40B4-BE49-F238E27FC236}">
                <a16:creationId xmlns:a16="http://schemas.microsoft.com/office/drawing/2014/main" id="{72196B99-AB83-D45B-58B8-AF807C019ED9}"/>
              </a:ext>
            </a:extLst>
          </p:cNvPr>
          <p:cNvSpPr/>
          <p:nvPr/>
        </p:nvSpPr>
        <p:spPr bwMode="auto">
          <a:xfrm rot="16200000">
            <a:off x="6286973" y="-792754"/>
            <a:ext cx="574861" cy="5299432"/>
          </a:xfrm>
          <a:prstGeom prst="leftBrace">
            <a:avLst>
              <a:gd name="adj1" fmla="val 8333"/>
              <a:gd name="adj2" fmla="val 49109"/>
            </a:avLst>
          </a:prstGeom>
          <a:noFill/>
          <a:ln w="19050"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EG"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809DD-BB4B-0E79-81BB-99D1C0493406}"/>
              </a:ext>
            </a:extLst>
          </p:cNvPr>
          <p:cNvSpPr>
            <a:spLocks noGrp="1"/>
          </p:cNvSpPr>
          <p:nvPr>
            <p:ph type="title"/>
          </p:nvPr>
        </p:nvSpPr>
        <p:spPr>
          <a:xfrm>
            <a:off x="609600" y="463348"/>
            <a:ext cx="10972800" cy="582613"/>
          </a:xfrm>
        </p:spPr>
        <p:txBody>
          <a:bodyPr/>
          <a:lstStyle/>
          <a:p>
            <a:r>
              <a:rPr lang="en-US" b="1" dirty="0"/>
              <a:t>Data Directives in LC-3</a:t>
            </a:r>
            <a:endParaRPr lang="en-EG" b="1" dirty="0"/>
          </a:p>
        </p:txBody>
      </p:sp>
      <p:sp>
        <p:nvSpPr>
          <p:cNvPr id="3" name="Content Placeholder 2">
            <a:extLst>
              <a:ext uri="{FF2B5EF4-FFF2-40B4-BE49-F238E27FC236}">
                <a16:creationId xmlns:a16="http://schemas.microsoft.com/office/drawing/2014/main" id="{FACB9ED3-A1A4-96EA-9B98-4DFD3879D0AB}"/>
              </a:ext>
            </a:extLst>
          </p:cNvPr>
          <p:cNvSpPr>
            <a:spLocks noGrp="1"/>
          </p:cNvSpPr>
          <p:nvPr>
            <p:ph idx="1"/>
          </p:nvPr>
        </p:nvSpPr>
        <p:spPr>
          <a:xfrm>
            <a:off x="751268" y="1045961"/>
            <a:ext cx="10972800" cy="4953000"/>
          </a:xfrm>
        </p:spPr>
        <p:txBody>
          <a:bodyPr/>
          <a:lstStyle/>
          <a:p>
            <a:pPr>
              <a:lnSpc>
                <a:spcPct val="150000"/>
              </a:lnSpc>
            </a:pPr>
            <a:r>
              <a:rPr lang="en-US" sz="2400" b="1" dirty="0"/>
              <a:t>.FILL </a:t>
            </a:r>
          </a:p>
          <a:p>
            <a:pPr lvl="1">
              <a:lnSpc>
                <a:spcPct val="150000"/>
              </a:lnSpc>
            </a:pPr>
            <a:r>
              <a:rPr lang="en-US" sz="2200" dirty="0"/>
              <a:t>Stores one value in memory, </a:t>
            </a:r>
            <a:r>
              <a:rPr lang="en-US" sz="2200" dirty="0">
                <a:solidFill>
                  <a:srgbClr val="0070C0"/>
                </a:solidFill>
              </a:rPr>
              <a:t>ex: NUM .FILL #10</a:t>
            </a:r>
          </a:p>
          <a:p>
            <a:pPr>
              <a:lnSpc>
                <a:spcPct val="150000"/>
              </a:lnSpc>
            </a:pPr>
            <a:r>
              <a:rPr lang="en-US" sz="2400" b="1" dirty="0"/>
              <a:t>.BLKW</a:t>
            </a:r>
          </a:p>
          <a:p>
            <a:pPr lvl="1">
              <a:lnSpc>
                <a:spcPct val="150000"/>
              </a:lnSpc>
            </a:pPr>
            <a:r>
              <a:rPr lang="en-US" sz="2200" dirty="0"/>
              <a:t>Reserves (allocates) a block of memory, </a:t>
            </a:r>
            <a:r>
              <a:rPr lang="en-US" sz="2200" dirty="0">
                <a:solidFill>
                  <a:srgbClr val="0070C0"/>
                </a:solidFill>
              </a:rPr>
              <a:t>ex: ARRAY .BLKW 5</a:t>
            </a:r>
          </a:p>
          <a:p>
            <a:pPr lvl="1">
              <a:lnSpc>
                <a:spcPct val="150000"/>
              </a:lnSpc>
            </a:pPr>
            <a:r>
              <a:rPr lang="en-US" sz="2200" dirty="0"/>
              <a:t>Allocates 5 memory locations</a:t>
            </a:r>
          </a:p>
          <a:p>
            <a:pPr>
              <a:lnSpc>
                <a:spcPct val="150000"/>
              </a:lnSpc>
            </a:pPr>
            <a:r>
              <a:rPr lang="en-US" sz="2400" b="1" dirty="0"/>
              <a:t>.STRINGZ</a:t>
            </a:r>
          </a:p>
          <a:p>
            <a:pPr lvl="1">
              <a:lnSpc>
                <a:spcPct val="150000"/>
              </a:lnSpc>
            </a:pPr>
            <a:r>
              <a:rPr lang="en-US" sz="2200" dirty="0"/>
              <a:t>stores a string of characters </a:t>
            </a:r>
          </a:p>
          <a:p>
            <a:pPr lvl="1">
              <a:lnSpc>
                <a:spcPct val="150000"/>
              </a:lnSpc>
            </a:pPr>
            <a:r>
              <a:rPr lang="en-US" sz="2200" dirty="0"/>
              <a:t>Automatically adds a null terminator (0) at the end</a:t>
            </a:r>
          </a:p>
          <a:p>
            <a:pPr lvl="1">
              <a:lnSpc>
                <a:spcPct val="150000"/>
              </a:lnSpc>
            </a:pPr>
            <a:r>
              <a:rPr lang="en-US" sz="2200" dirty="0">
                <a:solidFill>
                  <a:srgbClr val="0070C0"/>
                </a:solidFill>
              </a:rPr>
              <a:t>ex: MSG .STRINGZ "Hello"</a:t>
            </a:r>
          </a:p>
          <a:p>
            <a:pPr lvl="1"/>
            <a:endParaRPr lang="en-US" sz="2400" dirty="0"/>
          </a:p>
          <a:p>
            <a:endParaRPr lang="en-EG" sz="2400" dirty="0"/>
          </a:p>
        </p:txBody>
      </p:sp>
    </p:spTree>
    <p:extLst>
      <p:ext uri="{BB962C8B-B14F-4D97-AF65-F5344CB8AC3E}">
        <p14:creationId xmlns:p14="http://schemas.microsoft.com/office/powerpoint/2010/main" val="208089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E8A6C-69A2-A068-7BCA-B0597CBA6855}"/>
              </a:ext>
            </a:extLst>
          </p:cNvPr>
          <p:cNvSpPr>
            <a:spLocks noGrp="1"/>
          </p:cNvSpPr>
          <p:nvPr>
            <p:ph type="title"/>
          </p:nvPr>
        </p:nvSpPr>
        <p:spPr/>
        <p:txBody>
          <a:bodyPr/>
          <a:lstStyle/>
          <a:p>
            <a:r>
              <a:rPr lang="en-US" b="1" dirty="0"/>
              <a:t>Data Directives in LC-3</a:t>
            </a:r>
            <a:endParaRPr lang="en-EG" dirty="0"/>
          </a:p>
        </p:txBody>
      </p:sp>
      <p:sp>
        <p:nvSpPr>
          <p:cNvPr id="3" name="Content Placeholder 2">
            <a:extLst>
              <a:ext uri="{FF2B5EF4-FFF2-40B4-BE49-F238E27FC236}">
                <a16:creationId xmlns:a16="http://schemas.microsoft.com/office/drawing/2014/main" id="{AC9C629E-5359-0F75-BF64-D76625440A41}"/>
              </a:ext>
            </a:extLst>
          </p:cNvPr>
          <p:cNvSpPr>
            <a:spLocks noGrp="1"/>
          </p:cNvSpPr>
          <p:nvPr>
            <p:ph idx="1"/>
          </p:nvPr>
        </p:nvSpPr>
        <p:spPr/>
        <p:txBody>
          <a:bodyPr/>
          <a:lstStyle/>
          <a:p>
            <a:r>
              <a:rPr lang="en-US" sz="2400" b="1" dirty="0"/>
              <a:t>.ORIG</a:t>
            </a:r>
          </a:p>
          <a:p>
            <a:pPr lvl="1">
              <a:buFont typeface="Arial" panose="020B0604020202020204" pitchFamily="34" charset="0"/>
              <a:buChar char="•"/>
            </a:pPr>
            <a:r>
              <a:rPr lang="en-US" sz="2200" dirty="0"/>
              <a:t>Specifies the </a:t>
            </a:r>
            <a:r>
              <a:rPr lang="en-US" sz="2200" b="1" dirty="0"/>
              <a:t>starting address</a:t>
            </a:r>
            <a:r>
              <a:rPr lang="en-US" sz="2200" dirty="0"/>
              <a:t> of the program </a:t>
            </a:r>
          </a:p>
          <a:p>
            <a:pPr lvl="1">
              <a:buFont typeface="Arial" panose="020B0604020202020204" pitchFamily="34" charset="0"/>
              <a:buChar char="•"/>
            </a:pPr>
            <a:r>
              <a:rPr lang="en-US" sz="2200" dirty="0">
                <a:solidFill>
                  <a:srgbClr val="0070C0"/>
                </a:solidFill>
              </a:rPr>
              <a:t>ex:     .ORIG x3000</a:t>
            </a:r>
          </a:p>
          <a:p>
            <a:pPr lvl="1">
              <a:buFont typeface="Arial" panose="020B0604020202020204" pitchFamily="34" charset="0"/>
              <a:buChar char="•"/>
            </a:pPr>
            <a:endParaRPr lang="en-US" sz="2400" dirty="0"/>
          </a:p>
          <a:p>
            <a:r>
              <a:rPr lang="en-US" sz="2400" b="1" dirty="0"/>
              <a:t>.END</a:t>
            </a:r>
          </a:p>
          <a:p>
            <a:pPr lvl="1">
              <a:buFont typeface="Arial" panose="020B0604020202020204" pitchFamily="34" charset="0"/>
              <a:buChar char="•"/>
            </a:pPr>
            <a:r>
              <a:rPr lang="en-US" sz="2200" dirty="0"/>
              <a:t>Marks the </a:t>
            </a:r>
            <a:r>
              <a:rPr lang="en-US" sz="2200" b="1" dirty="0"/>
              <a:t>end of the program</a:t>
            </a:r>
            <a:endParaRPr lang="en-US" sz="2200" dirty="0"/>
          </a:p>
          <a:p>
            <a:pPr>
              <a:buFont typeface="Arial" panose="020B0604020202020204" pitchFamily="34" charset="0"/>
              <a:buChar char="•"/>
            </a:pPr>
            <a:endParaRPr lang="en-US" sz="2800" dirty="0"/>
          </a:p>
          <a:p>
            <a:endParaRPr lang="en-EG" sz="2800" dirty="0"/>
          </a:p>
        </p:txBody>
      </p:sp>
    </p:spTree>
    <p:extLst>
      <p:ext uri="{BB962C8B-B14F-4D97-AF65-F5344CB8AC3E}">
        <p14:creationId xmlns:p14="http://schemas.microsoft.com/office/powerpoint/2010/main" val="2180077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6780"/>
          </a:xfrm>
        </p:spPr>
        <p:txBody>
          <a:bodyPr/>
          <a:lstStyle/>
          <a:p>
            <a:r>
              <a:rPr lang="en-US"/>
              <a:t>instruction lc3</a:t>
            </a:r>
          </a:p>
        </p:txBody>
      </p:sp>
      <p:sp>
        <p:nvSpPr>
          <p:cNvPr id="3" name="Content Placeholder 2"/>
          <p:cNvSpPr>
            <a:spLocks noGrp="1"/>
          </p:cNvSpPr>
          <p:nvPr>
            <p:ph idx="1"/>
          </p:nvPr>
        </p:nvSpPr>
        <p:spPr>
          <a:xfrm>
            <a:off x="838200" y="1271905"/>
            <a:ext cx="10833735" cy="4905375"/>
          </a:xfrm>
        </p:spPr>
        <p:txBody>
          <a:bodyPr/>
          <a:lstStyle/>
          <a:p>
            <a:r>
              <a:rPr lang="en-US" b="1" u="sng" dirty="0">
                <a:solidFill>
                  <a:srgbClr val="FF0000"/>
                </a:solidFill>
              </a:rPr>
              <a:t>ADD R1, R2, R3</a:t>
            </a:r>
            <a:r>
              <a:rPr lang="en-US" dirty="0"/>
              <a:t>  ; Add the contents of R2 and R3, store the result in R1.</a:t>
            </a:r>
          </a:p>
          <a:p>
            <a:r>
              <a:rPr lang="en-US" b="1" dirty="0">
                <a:solidFill>
                  <a:srgbClr val="FF0000"/>
                </a:solidFill>
              </a:rPr>
              <a:t>AND R1, R2, R3</a:t>
            </a:r>
            <a:r>
              <a:rPr lang="en-US" dirty="0"/>
              <a:t>  ; Perform bitwise AND on the contents of R2 and R3, store the result in R1</a:t>
            </a:r>
          </a:p>
          <a:p>
            <a:r>
              <a:rPr lang="en-US" b="1" u="sng" dirty="0">
                <a:solidFill>
                  <a:srgbClr val="FF0000"/>
                </a:solidFill>
              </a:rPr>
              <a:t>LD </a:t>
            </a:r>
            <a:r>
              <a:rPr lang="en-US" b="1" dirty="0">
                <a:solidFill>
                  <a:srgbClr val="FF0000"/>
                </a:solidFill>
              </a:rPr>
              <a:t>R1, OFFSET</a:t>
            </a:r>
            <a:r>
              <a:rPr lang="en-US" dirty="0"/>
              <a:t>  ; Load the contents of memory location OFFSET into R1.</a:t>
            </a:r>
          </a:p>
          <a:p>
            <a:r>
              <a:rPr lang="en-US" b="1" dirty="0">
                <a:solidFill>
                  <a:srgbClr val="FF0000"/>
                </a:solidFill>
              </a:rPr>
              <a:t>ST R1, OFFSET</a:t>
            </a:r>
            <a:r>
              <a:rPr lang="en-US" dirty="0"/>
              <a:t>  ; Store the contents of R1 into memory location OFFSET.</a:t>
            </a:r>
          </a:p>
          <a:p>
            <a:r>
              <a:rPr lang="en-US" b="1" dirty="0" err="1">
                <a:solidFill>
                  <a:srgbClr val="FF0000"/>
                </a:solidFill>
              </a:rPr>
              <a:t>BRz</a:t>
            </a:r>
            <a:r>
              <a:rPr lang="en-US" b="1" dirty="0">
                <a:solidFill>
                  <a:srgbClr val="FF0000"/>
                </a:solidFill>
              </a:rPr>
              <a:t> LABEL</a:t>
            </a:r>
            <a:r>
              <a:rPr lang="en-US" dirty="0">
                <a:solidFill>
                  <a:srgbClr val="FF0000"/>
                </a:solidFill>
              </a:rPr>
              <a:t> </a:t>
            </a:r>
            <a:r>
              <a:rPr lang="en-US" dirty="0"/>
              <a:t> ; Branch to LABEL if the result is zero</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ltLang="en-US" dirty="0" err="1"/>
              <a:t>BRp</a:t>
            </a:r>
            <a:r>
              <a:rPr lang="en-US" altLang="en-US" dirty="0"/>
              <a:t> means "Branch if Positive."</a:t>
            </a:r>
          </a:p>
          <a:p>
            <a:endParaRPr lang="en-US" altLang="en-US" dirty="0"/>
          </a:p>
          <a:p>
            <a:r>
              <a:rPr lang="en-US" altLang="en-US" dirty="0"/>
              <a:t>N (Negative) if the result is negative </a:t>
            </a:r>
            <a:r>
              <a:rPr lang="en-US" altLang="en-US" dirty="0" err="1">
                <a:solidFill>
                  <a:srgbClr val="FF0000"/>
                </a:solidFill>
              </a:rPr>
              <a:t>BRn</a:t>
            </a:r>
            <a:endParaRPr lang="en-US" altLang="en-US" dirty="0">
              <a:solidFill>
                <a:srgbClr val="FF0000"/>
              </a:solidFill>
            </a:endParaRPr>
          </a:p>
          <a:p>
            <a:endParaRPr lang="en-US" altLang="en-US" dirty="0"/>
          </a:p>
          <a:p>
            <a:r>
              <a:rPr lang="en-US" altLang="en-US" dirty="0"/>
              <a:t>Z (Zero) if the result is zero  </a:t>
            </a:r>
            <a:r>
              <a:rPr lang="en-US" altLang="en-US" dirty="0" err="1">
                <a:solidFill>
                  <a:srgbClr val="FF0000"/>
                </a:solidFill>
              </a:rPr>
              <a:t>BRz</a:t>
            </a:r>
            <a:endParaRPr lang="en-US" altLang="en-US" dirty="0">
              <a:solidFill>
                <a:srgbClr val="FF0000"/>
              </a:solidFill>
            </a:endParaRPr>
          </a:p>
          <a:p>
            <a:endParaRPr lang="en-US" altLang="en-US" dirty="0"/>
          </a:p>
          <a:p>
            <a:r>
              <a:rPr lang="en-US" altLang="en-US" dirty="0"/>
              <a:t>P (Positive) if the result is positive  </a:t>
            </a:r>
            <a:r>
              <a:rPr lang="en-US" altLang="en-US" dirty="0" err="1">
                <a:solidFill>
                  <a:srgbClr val="FF0000"/>
                </a:solidFill>
              </a:rPr>
              <a:t>BRp</a:t>
            </a:r>
            <a:endParaRPr lang="en-US" altLang="en-US"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C84A3-A928-8FC0-3A4B-455A4A613BDF}"/>
              </a:ext>
            </a:extLst>
          </p:cNvPr>
          <p:cNvSpPr>
            <a:spLocks noGrp="1"/>
          </p:cNvSpPr>
          <p:nvPr>
            <p:ph type="title"/>
          </p:nvPr>
        </p:nvSpPr>
        <p:spPr/>
        <p:txBody>
          <a:bodyPr/>
          <a:lstStyle/>
          <a:p>
            <a:r>
              <a:rPr lang="en-EG" dirty="0"/>
              <a:t>Small Program</a:t>
            </a:r>
          </a:p>
        </p:txBody>
      </p:sp>
      <p:sp>
        <p:nvSpPr>
          <p:cNvPr id="3" name="Content Placeholder 2">
            <a:extLst>
              <a:ext uri="{FF2B5EF4-FFF2-40B4-BE49-F238E27FC236}">
                <a16:creationId xmlns:a16="http://schemas.microsoft.com/office/drawing/2014/main" id="{94E87FAE-77F2-1B08-8B15-0605B1390199}"/>
              </a:ext>
            </a:extLst>
          </p:cNvPr>
          <p:cNvSpPr>
            <a:spLocks noGrp="1"/>
          </p:cNvSpPr>
          <p:nvPr>
            <p:ph idx="1"/>
          </p:nvPr>
        </p:nvSpPr>
        <p:spPr/>
        <p:txBody>
          <a:bodyPr/>
          <a:lstStyle/>
          <a:p>
            <a:pPr marL="0" indent="0">
              <a:buNone/>
            </a:pPr>
            <a:r>
              <a:rPr lang="en-US" dirty="0"/>
              <a:t> .ORIG x3000</a:t>
            </a:r>
          </a:p>
          <a:p>
            <a:pPr marL="0" indent="0">
              <a:buNone/>
            </a:pPr>
            <a:r>
              <a:rPr lang="en-US" dirty="0"/>
              <a:t>  AND R0, R0, #0</a:t>
            </a:r>
          </a:p>
          <a:p>
            <a:pPr marL="0" indent="0">
              <a:buNone/>
            </a:pPr>
            <a:r>
              <a:rPr lang="en-US" dirty="0"/>
              <a:t>  ADD R0, R0, #5</a:t>
            </a:r>
          </a:p>
          <a:p>
            <a:pPr marL="0" indent="0">
              <a:buNone/>
            </a:pPr>
            <a:r>
              <a:rPr lang="en-US" dirty="0"/>
              <a:t>  HALT</a:t>
            </a:r>
          </a:p>
          <a:p>
            <a:pPr marL="0" indent="0">
              <a:buNone/>
            </a:pPr>
            <a:r>
              <a:rPr lang="en-US" dirty="0"/>
              <a:t> .END</a:t>
            </a:r>
            <a:endParaRPr lang="en-EG" dirty="0"/>
          </a:p>
        </p:txBody>
      </p:sp>
    </p:spTree>
    <p:extLst>
      <p:ext uri="{BB962C8B-B14F-4D97-AF65-F5344CB8AC3E}">
        <p14:creationId xmlns:p14="http://schemas.microsoft.com/office/powerpoint/2010/main" val="184663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0860"/>
          </a:xfrm>
        </p:spPr>
        <p:txBody>
          <a:bodyPr>
            <a:normAutofit fontScale="90000"/>
          </a:bodyPr>
          <a:lstStyle/>
          <a:p>
            <a:r>
              <a:rPr lang="en-US">
                <a:solidFill>
                  <a:srgbClr val="FF0000"/>
                </a:solidFill>
                <a:sym typeface="+mn-ea"/>
              </a:rPr>
              <a:t>page 7-11 pdf</a:t>
            </a:r>
            <a:r>
              <a:rPr lang="en-US">
                <a:sym typeface="+mn-ea"/>
              </a:rPr>
              <a:t> </a:t>
            </a:r>
            <a:endParaRPr lang="en-US"/>
          </a:p>
        </p:txBody>
      </p:sp>
      <p:sp>
        <p:nvSpPr>
          <p:cNvPr id="3" name="Content Placeholder 2"/>
          <p:cNvSpPr>
            <a:spLocks noGrp="1"/>
          </p:cNvSpPr>
          <p:nvPr>
            <p:ph idx="1"/>
          </p:nvPr>
        </p:nvSpPr>
        <p:spPr>
          <a:xfrm>
            <a:off x="838200" y="895350"/>
            <a:ext cx="10515600" cy="5695950"/>
          </a:xfrm>
        </p:spPr>
        <p:txBody>
          <a:bodyPr>
            <a:normAutofit fontScale="90000" lnSpcReduction="20000"/>
          </a:bodyPr>
          <a:lstStyle/>
          <a:p>
            <a:r>
              <a:rPr lang="en-US" altLang="en-US" dirty="0"/>
              <a:t>       .ORIG x3000     ; Start at address x3000</a:t>
            </a:r>
          </a:p>
          <a:p>
            <a:endParaRPr lang="en-US" altLang="en-US" dirty="0"/>
          </a:p>
          <a:p>
            <a:r>
              <a:rPr lang="en-US" altLang="en-US" dirty="0"/>
              <a:t>        LD R0, NUM1     ; Load number 1 into R0</a:t>
            </a:r>
          </a:p>
          <a:p>
            <a:r>
              <a:rPr lang="en-US" altLang="en-US" dirty="0"/>
              <a:t>        LD R1, NUM2     ; Load number 2 into R1</a:t>
            </a:r>
          </a:p>
          <a:p>
            <a:r>
              <a:rPr lang="en-US" altLang="en-US" dirty="0"/>
              <a:t>        ADD R2, R0, R1  ; Add R0 and R1, store in R2</a:t>
            </a:r>
          </a:p>
          <a:p>
            <a:endParaRPr lang="en-US" altLang="en-US" dirty="0"/>
          </a:p>
          <a:p>
            <a:r>
              <a:rPr lang="en-US" altLang="en-US" dirty="0"/>
              <a:t>        </a:t>
            </a:r>
            <a:r>
              <a:rPr lang="en-US" altLang="en-US" dirty="0">
                <a:highlight>
                  <a:srgbClr val="FFFF00"/>
                </a:highlight>
              </a:rPr>
              <a:t>HALT</a:t>
            </a:r>
            <a:r>
              <a:rPr lang="en-US" altLang="en-US" dirty="0"/>
              <a:t>            ; Stop the program</a:t>
            </a:r>
          </a:p>
          <a:p>
            <a:endParaRPr lang="en-US" altLang="en-US" dirty="0"/>
          </a:p>
          <a:p>
            <a:r>
              <a:rPr lang="en-US" altLang="en-US" dirty="0"/>
              <a:t>NUM1    .FILL     #3        ; First number (3)</a:t>
            </a:r>
          </a:p>
          <a:p>
            <a:r>
              <a:rPr lang="en-US" altLang="en-US" dirty="0"/>
              <a:t>NUM2    .FILL #4        ; Second number (4)</a:t>
            </a:r>
          </a:p>
          <a:p>
            <a:endParaRPr lang="en-US" altLang="en-US" dirty="0"/>
          </a:p>
          <a:p>
            <a:r>
              <a:rPr lang="en-US" altLang="en-US" dirty="0"/>
              <a:t>    </a:t>
            </a:r>
            <a:r>
              <a:rPr lang="en-US" altLang="en-US" dirty="0">
                <a:highlight>
                  <a:srgbClr val="FFFF00"/>
                </a:highlight>
              </a:rPr>
              <a:t>    .END </a:t>
            </a:r>
            <a:r>
              <a:rPr lang="en-US" altLang="en-US" dirty="0"/>
              <a:t>           ; End of program</a:t>
            </a:r>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0CA1C-F6A3-9F3A-60AE-CD19F8D80427}"/>
              </a:ext>
            </a:extLst>
          </p:cNvPr>
          <p:cNvSpPr>
            <a:spLocks noGrp="1"/>
          </p:cNvSpPr>
          <p:nvPr>
            <p:ph type="title"/>
          </p:nvPr>
        </p:nvSpPr>
        <p:spPr/>
        <p:txBody>
          <a:bodyPr/>
          <a:lstStyle/>
          <a:p>
            <a:r>
              <a:rPr lang="en-EG" dirty="0"/>
              <a:t>Task </a:t>
            </a:r>
          </a:p>
        </p:txBody>
      </p:sp>
      <p:sp>
        <p:nvSpPr>
          <p:cNvPr id="3" name="Content Placeholder 2">
            <a:extLst>
              <a:ext uri="{FF2B5EF4-FFF2-40B4-BE49-F238E27FC236}">
                <a16:creationId xmlns:a16="http://schemas.microsoft.com/office/drawing/2014/main" id="{3036A76C-4774-4C20-BBD5-FA1A898ACB7F}"/>
              </a:ext>
            </a:extLst>
          </p:cNvPr>
          <p:cNvSpPr>
            <a:spLocks noGrp="1"/>
          </p:cNvSpPr>
          <p:nvPr>
            <p:ph idx="1"/>
          </p:nvPr>
        </p:nvSpPr>
        <p:spPr/>
        <p:txBody>
          <a:bodyPr/>
          <a:lstStyle/>
          <a:p>
            <a:pPr marL="0" indent="0">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Task: LC-3 Assembly Programming</a:t>
            </a:r>
            <a:endParaRPr lang="en-EG" sz="1800" kern="100" dirty="0">
              <a:effectLst/>
              <a:latin typeface="Aptos" panose="020B0004020202020204" pitchFamily="34" charset="0"/>
              <a:ea typeface="Aptos" panose="020B0004020202020204" pitchFamily="34" charset="0"/>
              <a:cs typeface="Arial" panose="020B0604020202020204" pitchFamily="34" charset="0"/>
            </a:endParaRPr>
          </a:p>
          <a:p>
            <a:pPr marL="400050" lvl="1" indent="0">
              <a:lnSpc>
                <a:spcPct val="115000"/>
              </a:lnSpc>
              <a:spcAft>
                <a:spcPts val="800"/>
              </a:spcAft>
              <a:buNone/>
            </a:pPr>
            <a:r>
              <a:rPr lang="en-US" sz="1600" kern="100" dirty="0">
                <a:effectLst/>
                <a:latin typeface="Aptos" panose="020B0004020202020204" pitchFamily="34" charset="0"/>
                <a:ea typeface="Aptos" panose="020B0004020202020204" pitchFamily="34" charset="0"/>
                <a:cs typeface="Arial" panose="020B0604020202020204" pitchFamily="34" charset="0"/>
              </a:rPr>
              <a:t>Write an LC-3 assembly program that performs the following steps:</a:t>
            </a:r>
            <a:endParaRPr lang="en-EG" sz="1600" kern="100" dirty="0">
              <a:effectLst/>
              <a:latin typeface="Aptos" panose="020B0004020202020204" pitchFamily="34" charset="0"/>
              <a:ea typeface="Aptos" panose="020B0004020202020204" pitchFamily="34" charset="0"/>
              <a:cs typeface="Arial" panose="020B0604020202020204" pitchFamily="34" charset="0"/>
            </a:endParaRPr>
          </a:p>
          <a:p>
            <a:pPr marL="400050" lvl="1" indent="0">
              <a:lnSpc>
                <a:spcPct val="115000"/>
              </a:lnSpc>
              <a:spcAft>
                <a:spcPts val="800"/>
              </a:spcAft>
              <a:buNone/>
            </a:pPr>
            <a:r>
              <a:rPr lang="en-US" sz="1600" kern="100" dirty="0">
                <a:effectLst/>
                <a:latin typeface="Aptos" panose="020B0004020202020204" pitchFamily="34" charset="0"/>
                <a:ea typeface="Aptos" panose="020B0004020202020204" pitchFamily="34" charset="0"/>
                <a:cs typeface="Arial" panose="020B0604020202020204" pitchFamily="34" charset="0"/>
              </a:rPr>
              <a:t>Load a value from memory into a register.</a:t>
            </a:r>
            <a:endParaRPr lang="en-EG" sz="1600" kern="100" dirty="0">
              <a:effectLst/>
              <a:latin typeface="Aptos" panose="020B0004020202020204" pitchFamily="34" charset="0"/>
              <a:ea typeface="Aptos" panose="020B0004020202020204" pitchFamily="34" charset="0"/>
              <a:cs typeface="Arial" panose="020B0604020202020204" pitchFamily="34" charset="0"/>
            </a:endParaRPr>
          </a:p>
          <a:p>
            <a:pPr marL="400050" lvl="1" indent="0">
              <a:lnSpc>
                <a:spcPct val="115000"/>
              </a:lnSpc>
              <a:spcAft>
                <a:spcPts val="800"/>
              </a:spcAft>
              <a:buNone/>
            </a:pPr>
            <a:r>
              <a:rPr lang="en-US" sz="1600" kern="100" dirty="0">
                <a:effectLst/>
                <a:latin typeface="Aptos" panose="020B0004020202020204" pitchFamily="34" charset="0"/>
                <a:ea typeface="Aptos" panose="020B0004020202020204" pitchFamily="34" charset="0"/>
                <a:cs typeface="Arial" panose="020B0604020202020204" pitchFamily="34" charset="0"/>
              </a:rPr>
              <a:t>Add 2 to the value.</a:t>
            </a:r>
            <a:endParaRPr lang="en-EG" sz="1600" kern="100" dirty="0">
              <a:effectLst/>
              <a:latin typeface="Aptos" panose="020B0004020202020204" pitchFamily="34" charset="0"/>
              <a:ea typeface="Aptos" panose="020B0004020202020204" pitchFamily="34" charset="0"/>
              <a:cs typeface="Arial" panose="020B0604020202020204" pitchFamily="34" charset="0"/>
            </a:endParaRPr>
          </a:p>
          <a:p>
            <a:pPr marL="400050" lvl="1" indent="0">
              <a:lnSpc>
                <a:spcPct val="115000"/>
              </a:lnSpc>
              <a:spcAft>
                <a:spcPts val="800"/>
              </a:spcAft>
              <a:buNone/>
            </a:pPr>
            <a:r>
              <a:rPr lang="en-US" sz="1600" kern="100" dirty="0">
                <a:effectLst/>
                <a:latin typeface="Aptos" panose="020B0004020202020204" pitchFamily="34" charset="0"/>
                <a:ea typeface="Aptos" panose="020B0004020202020204" pitchFamily="34" charset="0"/>
                <a:cs typeface="Arial" panose="020B0604020202020204" pitchFamily="34" charset="0"/>
              </a:rPr>
              <a:t>Store the updated value back into a result variable in memory.</a:t>
            </a:r>
            <a:endParaRPr lang="en-EG" sz="1600" kern="100" dirty="0">
              <a:effectLst/>
              <a:latin typeface="Aptos" panose="020B0004020202020204" pitchFamily="34" charset="0"/>
              <a:ea typeface="Aptos" panose="020B0004020202020204" pitchFamily="34" charset="0"/>
              <a:cs typeface="Arial" panose="020B0604020202020204" pitchFamily="34" charset="0"/>
            </a:endParaRPr>
          </a:p>
          <a:p>
            <a:pPr marL="0" indent="0">
              <a:buNone/>
            </a:pPr>
            <a:endParaRPr lang="en-EG" dirty="0"/>
          </a:p>
        </p:txBody>
      </p:sp>
    </p:spTree>
    <p:extLst>
      <p:ext uri="{BB962C8B-B14F-4D97-AF65-F5344CB8AC3E}">
        <p14:creationId xmlns:p14="http://schemas.microsoft.com/office/powerpoint/2010/main" val="298305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65D2-879E-F8C1-8B47-C087C6830089}"/>
              </a:ext>
            </a:extLst>
          </p:cNvPr>
          <p:cNvSpPr>
            <a:spLocks noGrp="1"/>
          </p:cNvSpPr>
          <p:nvPr>
            <p:ph type="title"/>
          </p:nvPr>
        </p:nvSpPr>
        <p:spPr/>
        <p:txBody>
          <a:bodyPr/>
          <a:lstStyle/>
          <a:p>
            <a:r>
              <a:rPr lang="en-US" b="1" dirty="0"/>
              <a:t>Description of SUB Operation in LC-3</a:t>
            </a:r>
            <a:endParaRPr lang="en-EG" dirty="0"/>
          </a:p>
        </p:txBody>
      </p:sp>
      <p:sp>
        <p:nvSpPr>
          <p:cNvPr id="3" name="Content Placeholder 2">
            <a:extLst>
              <a:ext uri="{FF2B5EF4-FFF2-40B4-BE49-F238E27FC236}">
                <a16:creationId xmlns:a16="http://schemas.microsoft.com/office/drawing/2014/main" id="{1F8C0825-1E6C-A92E-3645-37365D5C0F61}"/>
              </a:ext>
            </a:extLst>
          </p:cNvPr>
          <p:cNvSpPr>
            <a:spLocks noGrp="1"/>
          </p:cNvSpPr>
          <p:nvPr>
            <p:ph idx="1"/>
          </p:nvPr>
        </p:nvSpPr>
        <p:spPr/>
        <p:txBody>
          <a:bodyPr/>
          <a:lstStyle/>
          <a:p>
            <a:pPr marL="0" indent="0">
              <a:buNone/>
            </a:pPr>
            <a:r>
              <a:rPr lang="en-US" sz="2400" dirty="0"/>
              <a:t>Subtraction in LC-3 is performed using </a:t>
            </a:r>
            <a:r>
              <a:rPr lang="en-US" sz="2400" b="1" dirty="0"/>
              <a:t>2’s complement</a:t>
            </a:r>
            <a:r>
              <a:rPr lang="en-US" sz="2400" dirty="0"/>
              <a:t>.</a:t>
            </a:r>
          </a:p>
          <a:p>
            <a:r>
              <a:rPr lang="en-US" sz="2400" dirty="0"/>
              <a:t>To compute: A - B </a:t>
            </a:r>
          </a:p>
          <a:p>
            <a:pPr marL="457200" lvl="1" indent="0">
              <a:buNone/>
            </a:pPr>
            <a:r>
              <a:rPr lang="en-US" sz="2000" dirty="0"/>
              <a:t>we convert </a:t>
            </a:r>
            <a:r>
              <a:rPr lang="en-US" sz="2000" b="1" dirty="0"/>
              <a:t>B</a:t>
            </a:r>
            <a:r>
              <a:rPr lang="en-US" sz="2000" dirty="0"/>
              <a:t> to its negative using:</a:t>
            </a:r>
          </a:p>
          <a:p>
            <a:pPr marL="914400" lvl="1" indent="-457200">
              <a:buFont typeface="+mj-lt"/>
              <a:buAutoNum type="arabicPeriod"/>
            </a:pPr>
            <a:r>
              <a:rPr lang="en-US" sz="2000" dirty="0"/>
              <a:t>NOT (bitwise inversion)</a:t>
            </a:r>
          </a:p>
          <a:p>
            <a:pPr marL="914400" lvl="1" indent="-457200">
              <a:buFont typeface="+mj-lt"/>
              <a:buAutoNum type="arabicPeriod"/>
            </a:pPr>
            <a:r>
              <a:rPr lang="en-US" sz="2000" dirty="0"/>
              <a:t>ADD #1 (to complete 2’s complement)</a:t>
            </a:r>
          </a:p>
          <a:p>
            <a:pPr marL="457200" lvl="1" indent="0">
              <a:buNone/>
            </a:pPr>
            <a:r>
              <a:rPr lang="en-US" sz="2000" dirty="0"/>
              <a:t>Then we add it to A: </a:t>
            </a:r>
            <a:r>
              <a:rPr lang="en-US" sz="1800" dirty="0"/>
              <a:t>A + (-B)</a:t>
            </a:r>
            <a:endParaRPr lang="en-US" sz="1800" b="1" dirty="0"/>
          </a:p>
          <a:p>
            <a:pPr marL="857250" lvl="2" indent="0">
              <a:buNone/>
            </a:pPr>
            <a:endParaRPr lang="en-US" sz="1800" dirty="0"/>
          </a:p>
          <a:p>
            <a:pPr marL="457200" lvl="1" indent="0">
              <a:buNone/>
            </a:pPr>
            <a:r>
              <a:rPr lang="en-US" sz="2000" b="1" dirty="0">
                <a:solidFill>
                  <a:srgbClr val="0070C0"/>
                </a:solidFill>
              </a:rPr>
              <a:t>NOT R2, R2 </a:t>
            </a:r>
          </a:p>
          <a:p>
            <a:pPr marL="457200" lvl="1" indent="0">
              <a:buNone/>
            </a:pPr>
            <a:r>
              <a:rPr lang="en-US" sz="2000" b="1" dirty="0">
                <a:solidFill>
                  <a:srgbClr val="0070C0"/>
                </a:solidFill>
              </a:rPr>
              <a:t>ADD R2, R2, #1 </a:t>
            </a:r>
          </a:p>
          <a:p>
            <a:pPr marL="457200" lvl="1" indent="0">
              <a:buNone/>
            </a:pPr>
            <a:r>
              <a:rPr lang="en-US" sz="2000" b="1" dirty="0">
                <a:solidFill>
                  <a:srgbClr val="0070C0"/>
                </a:solidFill>
              </a:rPr>
              <a:t>ADD R3, R1, R2 </a:t>
            </a:r>
          </a:p>
          <a:p>
            <a:pPr marL="457200" lvl="1" indent="0" algn="ctr">
              <a:buNone/>
            </a:pPr>
            <a:endParaRPr lang="en-US" sz="2000" b="1" dirty="0">
              <a:solidFill>
                <a:srgbClr val="0070C0"/>
              </a:solidFill>
            </a:endParaRPr>
          </a:p>
          <a:p>
            <a:pPr marL="457200" lvl="1" indent="0">
              <a:buNone/>
            </a:pPr>
            <a:r>
              <a:rPr lang="en-US" sz="2000" dirty="0"/>
              <a:t>This sequence subtracts the value in R2 from R1 and stores the result in R3.</a:t>
            </a:r>
          </a:p>
          <a:p>
            <a:endParaRPr lang="en-EG" sz="2400" dirty="0"/>
          </a:p>
        </p:txBody>
      </p:sp>
    </p:spTree>
    <p:extLst>
      <p:ext uri="{BB962C8B-B14F-4D97-AF65-F5344CB8AC3E}">
        <p14:creationId xmlns:p14="http://schemas.microsoft.com/office/powerpoint/2010/main" val="1233518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3020" y="1103586"/>
            <a:ext cx="10972800" cy="5544119"/>
          </a:xfrm>
        </p:spPr>
        <p:txBody>
          <a:bodyPr/>
          <a:lstStyle/>
          <a:p>
            <a:pPr marL="0" indent="0">
              <a:buNone/>
            </a:pPr>
            <a:r>
              <a:rPr lang="en-US" altLang="en-US" sz="2800" dirty="0"/>
              <a:t>.ORIG x3000</a:t>
            </a:r>
          </a:p>
          <a:p>
            <a:pPr marL="400050" lvl="1" indent="0">
              <a:buNone/>
            </a:pPr>
            <a:r>
              <a:rPr lang="en-US" altLang="en-US" sz="2400" dirty="0"/>
              <a:t>LD R1, NUM1 </a:t>
            </a:r>
          </a:p>
          <a:p>
            <a:pPr marL="400050" lvl="1" indent="0">
              <a:buNone/>
            </a:pPr>
            <a:r>
              <a:rPr lang="en-US" altLang="en-US" sz="2400" dirty="0"/>
              <a:t>LD R2, NUM2</a:t>
            </a:r>
          </a:p>
          <a:p>
            <a:pPr marL="400050" lvl="1" indent="0">
              <a:buNone/>
            </a:pPr>
            <a:r>
              <a:rPr lang="en-US" altLang="en-US" sz="2400" dirty="0"/>
              <a:t>AND R3,R3,#0</a:t>
            </a:r>
          </a:p>
          <a:p>
            <a:pPr marL="400050" lvl="1" indent="0">
              <a:buNone/>
            </a:pPr>
            <a:r>
              <a:rPr lang="en-US" altLang="en-US" sz="2400" dirty="0">
                <a:highlight>
                  <a:srgbClr val="FFFF00"/>
                </a:highlight>
              </a:rPr>
              <a:t>NOT R2, R2</a:t>
            </a:r>
          </a:p>
          <a:p>
            <a:pPr marL="400050" lvl="1" indent="0">
              <a:buNone/>
            </a:pPr>
            <a:r>
              <a:rPr lang="en-US" altLang="en-US" sz="2400" dirty="0">
                <a:highlight>
                  <a:srgbClr val="FFFF00"/>
                </a:highlight>
              </a:rPr>
              <a:t>ADD R2,R2,#1</a:t>
            </a:r>
          </a:p>
          <a:p>
            <a:pPr marL="400050" lvl="1" indent="0">
              <a:buNone/>
            </a:pPr>
            <a:r>
              <a:rPr lang="en-US" altLang="en-US" sz="2400" dirty="0"/>
              <a:t>ADD R3,R1,R2</a:t>
            </a:r>
          </a:p>
          <a:p>
            <a:pPr marL="400050" lvl="1" indent="0">
              <a:buNone/>
            </a:pPr>
            <a:r>
              <a:rPr lang="en-US" altLang="en-US" sz="2400" dirty="0"/>
              <a:t>HALT</a:t>
            </a:r>
          </a:p>
          <a:p>
            <a:pPr marL="400050" lvl="1" indent="0">
              <a:buNone/>
            </a:pPr>
            <a:endParaRPr lang="en-US" altLang="en-US" sz="2400" dirty="0"/>
          </a:p>
          <a:p>
            <a:pPr marL="400050" lvl="1" indent="0">
              <a:buNone/>
            </a:pPr>
            <a:r>
              <a:rPr lang="en-US" altLang="en-US" sz="2400" dirty="0"/>
              <a:t>NUM1 .FILL x000D &gt;&gt; number 13</a:t>
            </a:r>
          </a:p>
          <a:p>
            <a:pPr marL="400050" lvl="1" indent="0">
              <a:buNone/>
            </a:pPr>
            <a:r>
              <a:rPr lang="en-US" altLang="en-US" sz="2400" dirty="0"/>
              <a:t>NUM2 .FILL x0005</a:t>
            </a:r>
          </a:p>
          <a:p>
            <a:pPr marL="0" indent="0">
              <a:buNone/>
            </a:pPr>
            <a:r>
              <a:rPr lang="en-US" altLang="en-US" sz="2800" dirty="0"/>
              <a:t>.END</a:t>
            </a:r>
          </a:p>
        </p:txBody>
      </p:sp>
      <p:cxnSp>
        <p:nvCxnSpPr>
          <p:cNvPr id="4" name="Straight Arrow Connector 3"/>
          <p:cNvCxnSpPr/>
          <p:nvPr/>
        </p:nvCxnSpPr>
        <p:spPr>
          <a:xfrm flipV="1">
            <a:off x="3278438" y="3106858"/>
            <a:ext cx="1633855" cy="10795"/>
          </a:xfrm>
          <a:prstGeom prst="straightConnector1">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w="med" len="med"/>
          </a:ln>
        </p:spPr>
      </p:cxnSp>
      <p:sp>
        <p:nvSpPr>
          <p:cNvPr id="5" name="Rounded Rectangle 4"/>
          <p:cNvSpPr/>
          <p:nvPr/>
        </p:nvSpPr>
        <p:spPr>
          <a:xfrm>
            <a:off x="5225237" y="2865361"/>
            <a:ext cx="4339174" cy="890949"/>
          </a:xfrm>
          <a:prstGeom prst="roundRect">
            <a:avLst/>
          </a:prstGeom>
          <a:solidFill>
            <a:srgbClr val="FFFF00"/>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5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NOT = 2’s complement  </a:t>
            </a:r>
          </a:p>
          <a:p>
            <a:pPr marL="0" marR="0" indent="0" algn="l" defTabSz="914400" rtl="0" eaLnBrk="1" fontAlgn="base" latinLnBrk="0" hangingPunct="1">
              <a:lnSpc>
                <a:spcPct val="15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NOT(R2) + 1 = -R2</a:t>
            </a:r>
          </a:p>
        </p:txBody>
      </p:sp>
      <p:cxnSp>
        <p:nvCxnSpPr>
          <p:cNvPr id="2" name="Straight Arrow Connector 1">
            <a:extLst>
              <a:ext uri="{FF2B5EF4-FFF2-40B4-BE49-F238E27FC236}">
                <a16:creationId xmlns:a16="http://schemas.microsoft.com/office/drawing/2014/main" id="{F4C04B87-542F-91C7-5B22-7D758D878354}"/>
              </a:ext>
            </a:extLst>
          </p:cNvPr>
          <p:cNvCxnSpPr>
            <a:cxnSpLocks/>
          </p:cNvCxnSpPr>
          <p:nvPr/>
        </p:nvCxnSpPr>
        <p:spPr>
          <a:xfrm>
            <a:off x="3434910" y="3567123"/>
            <a:ext cx="1477383" cy="0"/>
          </a:xfrm>
          <a:prstGeom prst="straightConnector1">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w="med" len="med"/>
          </a:ln>
        </p:spPr>
      </p:cxnSp>
      <p:sp>
        <p:nvSpPr>
          <p:cNvPr id="6" name="TextBox 5">
            <a:extLst>
              <a:ext uri="{FF2B5EF4-FFF2-40B4-BE49-F238E27FC236}">
                <a16:creationId xmlns:a16="http://schemas.microsoft.com/office/drawing/2014/main" id="{E4E9508F-2419-BF1B-FE02-C8E676187C39}"/>
              </a:ext>
            </a:extLst>
          </p:cNvPr>
          <p:cNvSpPr txBox="1"/>
          <p:nvPr/>
        </p:nvSpPr>
        <p:spPr>
          <a:xfrm>
            <a:off x="386812" y="339485"/>
            <a:ext cx="4339174" cy="461665"/>
          </a:xfrm>
          <a:prstGeom prst="rect">
            <a:avLst/>
          </a:prstGeom>
          <a:noFill/>
        </p:spPr>
        <p:txBody>
          <a:bodyPr wrap="square" rtlCol="0">
            <a:spAutoFit/>
          </a:bodyPr>
          <a:lstStyle/>
          <a:p>
            <a:r>
              <a:rPr lang="en-EG" sz="2400" b="1" dirty="0"/>
              <a:t>Full subtraction program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575435"/>
          </a:xfrm>
        </p:spPr>
        <p:txBody>
          <a:bodyPr/>
          <a:lstStyle/>
          <a:p>
            <a:r>
              <a:rPr lang="en-US" altLang="en-US" sz="4400" b="1" dirty="0"/>
              <a:t>IF statement in LC-3</a:t>
            </a:r>
          </a:p>
        </p:txBody>
      </p:sp>
      <p:sp>
        <p:nvSpPr>
          <p:cNvPr id="3" name="Content Placeholder 2">
            <a:extLst>
              <a:ext uri="{FF2B5EF4-FFF2-40B4-BE49-F238E27FC236}">
                <a16:creationId xmlns:a16="http://schemas.microsoft.com/office/drawing/2014/main" id="{C30CA150-596E-B0C6-06FB-7203C21C431E}"/>
              </a:ext>
            </a:extLst>
          </p:cNvPr>
          <p:cNvSpPr>
            <a:spLocks noGrp="1"/>
          </p:cNvSpPr>
          <p:nvPr>
            <p:ph idx="1"/>
          </p:nvPr>
        </p:nvSpPr>
        <p:spPr>
          <a:xfrm>
            <a:off x="609600" y="1450428"/>
            <a:ext cx="10972800" cy="4677322"/>
          </a:xfrm>
        </p:spPr>
        <p:txBody>
          <a:bodyPr/>
          <a:lstStyle/>
          <a:p>
            <a:pPr>
              <a:lnSpc>
                <a:spcPct val="150000"/>
              </a:lnSpc>
            </a:pPr>
            <a:r>
              <a:rPr lang="en-US" altLang="en-US" sz="2700" dirty="0"/>
              <a:t>Use </a:t>
            </a:r>
            <a:r>
              <a:rPr lang="en-US" altLang="en-US" sz="2700" dirty="0" err="1"/>
              <a:t>BRnzp</a:t>
            </a:r>
            <a:r>
              <a:rPr lang="en-US" altLang="en-US" sz="2700" dirty="0"/>
              <a:t> , </a:t>
            </a:r>
            <a:r>
              <a:rPr lang="en-US" altLang="en-US" sz="2700" dirty="0" err="1"/>
              <a:t>BRn</a:t>
            </a:r>
            <a:r>
              <a:rPr lang="en-US" altLang="en-US" sz="2700" dirty="0"/>
              <a:t>, </a:t>
            </a:r>
            <a:r>
              <a:rPr lang="en-US" altLang="en-US" sz="2700" dirty="0" err="1"/>
              <a:t>BRz</a:t>
            </a:r>
            <a:r>
              <a:rPr lang="en-US" altLang="en-US" sz="2700" dirty="0"/>
              <a:t>, </a:t>
            </a:r>
            <a:r>
              <a:rPr lang="en-US" altLang="en-US" sz="2700" dirty="0" err="1"/>
              <a:t>BRp</a:t>
            </a:r>
            <a:endParaRPr lang="en-US" altLang="en-US" sz="2700" dirty="0"/>
          </a:p>
          <a:p>
            <a:pPr>
              <a:lnSpc>
                <a:spcPct val="150000"/>
              </a:lnSpc>
            </a:pPr>
            <a:r>
              <a:rPr lang="en-US" altLang="en-US" sz="2700" b="1" dirty="0" err="1">
                <a:solidFill>
                  <a:srgbClr val="0070C0"/>
                </a:solidFill>
              </a:rPr>
              <a:t>BRnzp</a:t>
            </a:r>
            <a:r>
              <a:rPr lang="en-US" altLang="en-US" sz="2700" dirty="0"/>
              <a:t> &gt;&gt; the branch is taken If any of these flags are set </a:t>
            </a:r>
            <a:r>
              <a:rPr lang="en-US" altLang="en-US" sz="2700" b="1" dirty="0"/>
              <a:t>(n , z, p)</a:t>
            </a:r>
            <a:r>
              <a:rPr lang="en-US" altLang="en-US" sz="2700" dirty="0"/>
              <a:t>.</a:t>
            </a:r>
          </a:p>
          <a:p>
            <a:pPr>
              <a:lnSpc>
                <a:spcPct val="150000"/>
              </a:lnSpc>
            </a:pPr>
            <a:r>
              <a:rPr lang="en-US" altLang="en-US" sz="2700" b="1" dirty="0" err="1">
                <a:solidFill>
                  <a:srgbClr val="0070C0"/>
                </a:solidFill>
              </a:rPr>
              <a:t>BRn</a:t>
            </a:r>
            <a:r>
              <a:rPr lang="en-US" altLang="en-US" sz="2700" b="1" dirty="0">
                <a:solidFill>
                  <a:srgbClr val="0070C0"/>
                </a:solidFill>
              </a:rPr>
              <a:t> </a:t>
            </a:r>
            <a:r>
              <a:rPr lang="en-US" altLang="en-US" sz="2700" dirty="0"/>
              <a:t> &gt;&gt; branch if the result is </a:t>
            </a:r>
            <a:r>
              <a:rPr lang="en-US" altLang="en-US" sz="2700" b="1" dirty="0"/>
              <a:t>negative.</a:t>
            </a:r>
            <a:r>
              <a:rPr lang="en-US" altLang="en-US" sz="2700" dirty="0"/>
              <a:t> </a:t>
            </a:r>
          </a:p>
          <a:p>
            <a:pPr>
              <a:lnSpc>
                <a:spcPct val="150000"/>
              </a:lnSpc>
            </a:pPr>
            <a:r>
              <a:rPr lang="en-US" altLang="en-US" sz="2700" b="1" dirty="0" err="1">
                <a:solidFill>
                  <a:srgbClr val="0070C0"/>
                </a:solidFill>
              </a:rPr>
              <a:t>BRz</a:t>
            </a:r>
            <a:r>
              <a:rPr lang="en-US" altLang="en-US" sz="2700" dirty="0">
                <a:solidFill>
                  <a:srgbClr val="FF0000"/>
                </a:solidFill>
              </a:rPr>
              <a:t> </a:t>
            </a:r>
            <a:r>
              <a:rPr lang="en-US" altLang="en-US" sz="2700" dirty="0"/>
              <a:t>&gt;&gt; branch if the result is negative </a:t>
            </a:r>
            <a:r>
              <a:rPr lang="en-US" altLang="en-US" sz="2700" b="1" dirty="0"/>
              <a:t>zero.</a:t>
            </a:r>
            <a:endParaRPr lang="en-US" altLang="en-US" sz="2700" dirty="0"/>
          </a:p>
          <a:p>
            <a:pPr>
              <a:lnSpc>
                <a:spcPct val="150000"/>
              </a:lnSpc>
            </a:pPr>
            <a:r>
              <a:rPr lang="en-US" altLang="en-US" sz="2700" dirty="0"/>
              <a:t> </a:t>
            </a:r>
            <a:r>
              <a:rPr lang="en-US" altLang="en-US" sz="2700" b="1" dirty="0" err="1">
                <a:solidFill>
                  <a:srgbClr val="0070C0"/>
                </a:solidFill>
              </a:rPr>
              <a:t>BRp</a:t>
            </a:r>
            <a:r>
              <a:rPr lang="en-US" altLang="en-US" sz="2700" dirty="0">
                <a:solidFill>
                  <a:srgbClr val="FF0000"/>
                </a:solidFill>
              </a:rPr>
              <a:t> </a:t>
            </a:r>
            <a:r>
              <a:rPr lang="en-US" altLang="en-US" sz="2700" dirty="0"/>
              <a:t>&gt;&gt; branch if the result </a:t>
            </a:r>
            <a:r>
              <a:rPr lang="en-US" altLang="en-US" sz="2700" b="1" dirty="0"/>
              <a:t>positive</a:t>
            </a:r>
            <a:r>
              <a:rPr lang="en-US" altLang="en-US" sz="2700" dirty="0"/>
              <a:t>.</a:t>
            </a:r>
            <a:endParaRPr lang="en-US" altLang="en-US" sz="270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668C5-7FA6-9545-100E-CC89363464F9}"/>
              </a:ext>
            </a:extLst>
          </p:cNvPr>
          <p:cNvSpPr>
            <a:spLocks noGrp="1"/>
          </p:cNvSpPr>
          <p:nvPr>
            <p:ph type="title"/>
          </p:nvPr>
        </p:nvSpPr>
        <p:spPr/>
        <p:txBody>
          <a:bodyPr/>
          <a:lstStyle/>
          <a:p>
            <a:r>
              <a:rPr lang="en-EG" b="1" dirty="0"/>
              <a:t>IF example</a:t>
            </a:r>
          </a:p>
        </p:txBody>
      </p:sp>
      <p:sp>
        <p:nvSpPr>
          <p:cNvPr id="3" name="Content Placeholder 2">
            <a:extLst>
              <a:ext uri="{FF2B5EF4-FFF2-40B4-BE49-F238E27FC236}">
                <a16:creationId xmlns:a16="http://schemas.microsoft.com/office/drawing/2014/main" id="{9A89FA38-9461-37F3-314F-03BA0C5B2269}"/>
              </a:ext>
            </a:extLst>
          </p:cNvPr>
          <p:cNvSpPr>
            <a:spLocks noGrp="1"/>
          </p:cNvSpPr>
          <p:nvPr>
            <p:ph idx="1"/>
          </p:nvPr>
        </p:nvSpPr>
        <p:spPr/>
        <p:txBody>
          <a:bodyPr/>
          <a:lstStyle/>
          <a:p>
            <a:r>
              <a:rPr lang="en-US" altLang="en-US" sz="3200" dirty="0"/>
              <a:t>Write a short LC-3 program that Subtracts two numbers and save the result to R5.</a:t>
            </a:r>
            <a:br>
              <a:rPr lang="en-US" altLang="en-US" sz="3200" dirty="0"/>
            </a:br>
            <a:r>
              <a:rPr lang="en-US" altLang="en-US" sz="3200" dirty="0"/>
              <a:t>.ORIG x3000</a:t>
            </a:r>
            <a:endParaRPr lang="en-EG" dirty="0"/>
          </a:p>
        </p:txBody>
      </p:sp>
      <p:sp>
        <p:nvSpPr>
          <p:cNvPr id="5" name="Content Placeholder 2">
            <a:extLst>
              <a:ext uri="{FF2B5EF4-FFF2-40B4-BE49-F238E27FC236}">
                <a16:creationId xmlns:a16="http://schemas.microsoft.com/office/drawing/2014/main" id="{B99B0B14-4E0D-BDEB-D09E-78495D1BD14A}"/>
              </a:ext>
            </a:extLst>
          </p:cNvPr>
          <p:cNvSpPr txBox="1">
            <a:spLocks/>
          </p:cNvSpPr>
          <p:nvPr/>
        </p:nvSpPr>
        <p:spPr>
          <a:xfrm>
            <a:off x="6647793" y="2727435"/>
            <a:ext cx="4261945" cy="3455714"/>
          </a:xfrm>
          <a:prstGeom prst="rect">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sz="2800" dirty="0">
                <a:ln w="0"/>
                <a:solidFill>
                  <a:schemeClr val="accent1"/>
                </a:solidFill>
                <a:effectLst>
                  <a:outerShdw blurRad="38100" dist="25400" dir="5400000" algn="ctr" rotWithShape="0">
                    <a:srgbClr val="6E747A">
                      <a:alpha val="43000"/>
                    </a:srgbClr>
                  </a:outerShdw>
                </a:effectLst>
              </a:rPr>
              <a:t>As C++ program:</a:t>
            </a:r>
          </a:p>
          <a:p>
            <a:pPr marL="0" indent="0">
              <a:buFontTx/>
              <a:buNone/>
            </a:pPr>
            <a:r>
              <a:rPr lang="en-US" sz="2800" dirty="0">
                <a:ln w="0"/>
                <a:solidFill>
                  <a:schemeClr val="accent1"/>
                </a:solidFill>
                <a:effectLst>
                  <a:outerShdw blurRad="38100" dist="25400" dir="5400000" algn="ctr" rotWithShape="0">
                    <a:srgbClr val="6E747A">
                      <a:alpha val="43000"/>
                    </a:srgbClr>
                  </a:outerShdw>
                </a:effectLst>
              </a:rPr>
              <a:t>int x=1;</a:t>
            </a:r>
          </a:p>
          <a:p>
            <a:pPr marL="0" indent="0">
              <a:buFontTx/>
              <a:buNone/>
            </a:pPr>
            <a:r>
              <a:rPr lang="en-US" sz="2800" dirty="0">
                <a:ln w="0"/>
                <a:solidFill>
                  <a:schemeClr val="accent1"/>
                </a:solidFill>
                <a:effectLst>
                  <a:outerShdw blurRad="38100" dist="25400" dir="5400000" algn="ctr" rotWithShape="0">
                    <a:srgbClr val="6E747A">
                      <a:alpha val="43000"/>
                    </a:srgbClr>
                  </a:outerShdw>
                </a:effectLst>
              </a:rPr>
              <a:t>int y=2;</a:t>
            </a:r>
          </a:p>
          <a:p>
            <a:pPr marL="0" indent="0">
              <a:buFontTx/>
              <a:buNone/>
            </a:pPr>
            <a:r>
              <a:rPr lang="en-US" sz="2800" dirty="0">
                <a:ln w="0"/>
                <a:solidFill>
                  <a:schemeClr val="accent1"/>
                </a:solidFill>
                <a:effectLst>
                  <a:outerShdw blurRad="38100" dist="25400" dir="5400000" algn="ctr" rotWithShape="0">
                    <a:srgbClr val="6E747A">
                      <a:alpha val="43000"/>
                    </a:srgbClr>
                  </a:outerShdw>
                </a:effectLst>
              </a:rPr>
              <a:t>if(x==y)  </a:t>
            </a:r>
            <a:r>
              <a:rPr lang="en-US" sz="2800" dirty="0" err="1">
                <a:ln w="0"/>
                <a:solidFill>
                  <a:schemeClr val="accent1"/>
                </a:solidFill>
                <a:effectLst>
                  <a:outerShdw blurRad="38100" dist="25400" dir="5400000" algn="ctr" rotWithShape="0">
                    <a:srgbClr val="6E747A">
                      <a:alpha val="43000"/>
                    </a:srgbClr>
                  </a:outerShdw>
                </a:effectLst>
              </a:rPr>
              <a:t>cout</a:t>
            </a:r>
            <a:r>
              <a:rPr lang="en-US" sz="2800" dirty="0">
                <a:ln w="0"/>
                <a:solidFill>
                  <a:schemeClr val="accent1"/>
                </a:solidFill>
                <a:effectLst>
                  <a:outerShdw blurRad="38100" dist="25400" dir="5400000" algn="ctr" rotWithShape="0">
                    <a:srgbClr val="6E747A">
                      <a:alpha val="43000"/>
                    </a:srgbClr>
                  </a:outerShdw>
                </a:effectLst>
              </a:rPr>
              <a:t>&lt;&lt;”0”;</a:t>
            </a:r>
          </a:p>
          <a:p>
            <a:pPr marL="0" indent="0">
              <a:buFontTx/>
              <a:buNone/>
            </a:pPr>
            <a:r>
              <a:rPr lang="en-US" sz="2800" dirty="0">
                <a:ln w="0"/>
                <a:solidFill>
                  <a:schemeClr val="accent1"/>
                </a:solidFill>
                <a:effectLst>
                  <a:outerShdw blurRad="38100" dist="25400" dir="5400000" algn="ctr" rotWithShape="0">
                    <a:srgbClr val="6E747A">
                      <a:alpha val="43000"/>
                    </a:srgbClr>
                  </a:outerShdw>
                </a:effectLst>
              </a:rPr>
              <a:t>elseif(x&gt;y)   </a:t>
            </a:r>
            <a:r>
              <a:rPr lang="en-US" sz="2800" dirty="0" err="1">
                <a:ln w="0"/>
                <a:solidFill>
                  <a:schemeClr val="accent1"/>
                </a:solidFill>
                <a:effectLst>
                  <a:outerShdw blurRad="38100" dist="25400" dir="5400000" algn="ctr" rotWithShape="0">
                    <a:srgbClr val="6E747A">
                      <a:alpha val="43000"/>
                    </a:srgbClr>
                  </a:outerShdw>
                </a:effectLst>
              </a:rPr>
              <a:t>cout</a:t>
            </a:r>
            <a:r>
              <a:rPr lang="en-US" sz="2800" dirty="0">
                <a:ln w="0"/>
                <a:solidFill>
                  <a:schemeClr val="accent1"/>
                </a:solidFill>
                <a:effectLst>
                  <a:outerShdw blurRad="38100" dist="25400" dir="5400000" algn="ctr" rotWithShape="0">
                    <a:srgbClr val="6E747A">
                      <a:alpha val="43000"/>
                    </a:srgbClr>
                  </a:outerShdw>
                </a:effectLst>
              </a:rPr>
              <a:t>&lt;&lt;”1”;</a:t>
            </a:r>
          </a:p>
          <a:p>
            <a:pPr marL="0" indent="0">
              <a:buFontTx/>
              <a:buNone/>
            </a:pPr>
            <a:r>
              <a:rPr lang="en-US" sz="2800" dirty="0">
                <a:ln w="0"/>
                <a:solidFill>
                  <a:schemeClr val="accent1"/>
                </a:solidFill>
                <a:effectLst>
                  <a:outerShdw blurRad="38100" dist="25400" dir="5400000" algn="ctr" rotWithShape="0">
                    <a:srgbClr val="6E747A">
                      <a:alpha val="43000"/>
                    </a:srgbClr>
                  </a:outerShdw>
                </a:effectLst>
              </a:rPr>
              <a:t>else   </a:t>
            </a:r>
            <a:r>
              <a:rPr lang="en-US" sz="2800" dirty="0" err="1">
                <a:ln w="0"/>
                <a:solidFill>
                  <a:schemeClr val="accent1"/>
                </a:solidFill>
                <a:effectLst>
                  <a:outerShdw blurRad="38100" dist="25400" dir="5400000" algn="ctr" rotWithShape="0">
                    <a:srgbClr val="6E747A">
                      <a:alpha val="43000"/>
                    </a:srgbClr>
                  </a:outerShdw>
                </a:effectLst>
              </a:rPr>
              <a:t>cout</a:t>
            </a:r>
            <a:r>
              <a:rPr lang="en-US" sz="2800" dirty="0">
                <a:ln w="0"/>
                <a:solidFill>
                  <a:schemeClr val="accent1"/>
                </a:solidFill>
                <a:effectLst>
                  <a:outerShdw blurRad="38100" dist="25400" dir="5400000" algn="ctr" rotWithShape="0">
                    <a:srgbClr val="6E747A">
                      <a:alpha val="43000"/>
                    </a:srgbClr>
                  </a:outerShdw>
                </a:effectLst>
              </a:rPr>
              <a:t>&lt;&lt;”-1”;</a:t>
            </a:r>
          </a:p>
        </p:txBody>
      </p:sp>
    </p:spTree>
    <p:extLst>
      <p:ext uri="{BB962C8B-B14F-4D97-AF65-F5344CB8AC3E}">
        <p14:creationId xmlns:p14="http://schemas.microsoft.com/office/powerpoint/2010/main" val="621752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54488"/>
            <a:ext cx="10972800" cy="4953000"/>
          </a:xfrm>
        </p:spPr>
        <p:txBody>
          <a:bodyPr/>
          <a:lstStyle/>
          <a:p>
            <a:r>
              <a:rPr lang="en-US" altLang="en-US" dirty="0"/>
              <a:t>Write a short LC-3 program that compares the two </a:t>
            </a:r>
          </a:p>
          <a:p>
            <a:pPr marL="0" indent="0">
              <a:buNone/>
            </a:pPr>
            <a:r>
              <a:rPr lang="en-US" altLang="en-US" dirty="0"/>
              <a:t>numbers in R1 and R2 and puts in R0 the following:</a:t>
            </a:r>
          </a:p>
          <a:p>
            <a:pPr marL="400050" lvl="1" indent="0">
              <a:buNone/>
            </a:pPr>
            <a:r>
              <a:rPr lang="en-US" altLang="en-US" dirty="0"/>
              <a:t>• 0 if R1 = R2, </a:t>
            </a:r>
          </a:p>
          <a:p>
            <a:pPr marL="400050" lvl="1" indent="0">
              <a:buNone/>
            </a:pPr>
            <a:r>
              <a:rPr lang="en-US" altLang="en-US" dirty="0"/>
              <a:t>• 1 if R1 &gt; R2, and </a:t>
            </a:r>
          </a:p>
          <a:p>
            <a:pPr marL="400050" lvl="1" indent="0">
              <a:buNone/>
            </a:pPr>
            <a:r>
              <a:rPr lang="en-US" altLang="en-US" dirty="0"/>
              <a:t>• −1 if R1 &lt; R2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98450"/>
            <a:ext cx="10972800" cy="5829300"/>
          </a:xfrm>
        </p:spPr>
        <p:txBody>
          <a:bodyPr/>
          <a:lstStyle/>
          <a:p>
            <a:r>
              <a:rPr lang="en-US" sz="4400" b="1">
                <a:solidFill>
                  <a:srgbClr val="FF0000"/>
                </a:solidFill>
                <a:effectLst>
                  <a:outerShdw blurRad="38100" dist="38100" dir="2700000" algn="tl">
                    <a:srgbClr val="000000">
                      <a:alpha val="43137"/>
                    </a:srgbClr>
                  </a:outerShdw>
                </a:effectLst>
              </a:rPr>
              <a:t>R1         R2 </a:t>
            </a:r>
          </a:p>
          <a:p>
            <a:r>
              <a:rPr lang="en-US" sz="4000"/>
              <a:t>10          10                    10-10= 0(zero)</a:t>
            </a:r>
          </a:p>
          <a:p>
            <a:endParaRPr lang="en-US" sz="4000"/>
          </a:p>
          <a:p>
            <a:r>
              <a:rPr lang="en-US" sz="4000"/>
              <a:t>11           10                   11-10=1  (pos)</a:t>
            </a:r>
          </a:p>
          <a:p>
            <a:endParaRPr lang="en-US" sz="4000"/>
          </a:p>
          <a:p>
            <a:pPr marL="0" indent="0">
              <a:buNone/>
            </a:pPr>
            <a:r>
              <a:rPr lang="en-US" sz="4000"/>
              <a:t>10              11                10-11=-1 (neg)</a:t>
            </a:r>
          </a:p>
        </p:txBody>
      </p:sp>
      <p:sp>
        <p:nvSpPr>
          <p:cNvPr id="4" name="Right Arrow 3"/>
          <p:cNvSpPr/>
          <p:nvPr/>
        </p:nvSpPr>
        <p:spPr>
          <a:xfrm>
            <a:off x="4183380" y="1361440"/>
            <a:ext cx="1926590" cy="38227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5" name="Right Arrow 4"/>
          <p:cNvSpPr/>
          <p:nvPr/>
        </p:nvSpPr>
        <p:spPr>
          <a:xfrm>
            <a:off x="4196080" y="2722880"/>
            <a:ext cx="1593215" cy="40513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6" name="Right Arrow 5"/>
          <p:cNvSpPr/>
          <p:nvPr/>
        </p:nvSpPr>
        <p:spPr>
          <a:xfrm>
            <a:off x="4219575" y="4284345"/>
            <a:ext cx="1569720" cy="306705"/>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cxnSp>
        <p:nvCxnSpPr>
          <p:cNvPr id="7" name="Straight Connector 6"/>
          <p:cNvCxnSpPr/>
          <p:nvPr/>
        </p:nvCxnSpPr>
        <p:spPr>
          <a:xfrm>
            <a:off x="2497455" y="207010"/>
            <a:ext cx="22860" cy="496443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8" name="Straight Connector 7"/>
          <p:cNvCxnSpPr/>
          <p:nvPr/>
        </p:nvCxnSpPr>
        <p:spPr>
          <a:xfrm flipH="1" flipV="1">
            <a:off x="153670" y="1072515"/>
            <a:ext cx="6226810" cy="2349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170" y="689610"/>
            <a:ext cx="12196445" cy="5899150"/>
          </a:xfrm>
        </p:spPr>
        <p:txBody>
          <a:bodyPr/>
          <a:lstStyle/>
          <a:p>
            <a:pPr marL="0" indent="0">
              <a:buNone/>
            </a:pPr>
            <a:r>
              <a:rPr lang="en-US" altLang="en-US" dirty="0"/>
              <a:t>.ORIG x3000</a:t>
            </a:r>
          </a:p>
          <a:p>
            <a:pPr marL="400050" lvl="1" indent="0">
              <a:buNone/>
            </a:pPr>
            <a:r>
              <a:rPr lang="en-US" altLang="en-US" dirty="0"/>
              <a:t>LD R1, NUMBER1</a:t>
            </a:r>
          </a:p>
          <a:p>
            <a:pPr marL="400050" lvl="1" indent="0">
              <a:buNone/>
            </a:pPr>
            <a:r>
              <a:rPr lang="en-US" altLang="en-US" dirty="0"/>
              <a:t>LD R2, NUMBER2</a:t>
            </a:r>
          </a:p>
          <a:p>
            <a:pPr marL="400050" lvl="1" indent="0">
              <a:buNone/>
            </a:pPr>
            <a:r>
              <a:rPr lang="en-US" altLang="en-US" dirty="0"/>
              <a:t>AND R0,R0,#0 </a:t>
            </a:r>
          </a:p>
          <a:p>
            <a:pPr marL="400050" lvl="1" indent="0">
              <a:buNone/>
            </a:pPr>
            <a:r>
              <a:rPr lang="en-US" altLang="en-US" dirty="0">
                <a:highlight>
                  <a:srgbClr val="FFFF00"/>
                </a:highlight>
              </a:rPr>
              <a:t>NOT R2, R2 </a:t>
            </a:r>
          </a:p>
          <a:p>
            <a:pPr marL="400050" lvl="1" indent="0">
              <a:buNone/>
            </a:pPr>
            <a:r>
              <a:rPr lang="en-US" altLang="en-US" dirty="0">
                <a:highlight>
                  <a:srgbClr val="FFFF00"/>
                </a:highlight>
              </a:rPr>
              <a:t>ADD R2,R2,#1</a:t>
            </a:r>
          </a:p>
          <a:p>
            <a:pPr marL="400050" lvl="1" indent="0">
              <a:buNone/>
            </a:pPr>
            <a:endParaRPr lang="en-US" altLang="en-US" dirty="0"/>
          </a:p>
          <a:p>
            <a:pPr marL="400050" lvl="1" indent="0">
              <a:buNone/>
            </a:pPr>
            <a:r>
              <a:rPr lang="en-US" altLang="en-US" dirty="0"/>
              <a:t>ADD R4, R2, R1</a:t>
            </a:r>
          </a:p>
          <a:p>
            <a:endParaRPr lang="en-US" altLang="en-US" dirty="0"/>
          </a:p>
        </p:txBody>
      </p:sp>
      <p:cxnSp>
        <p:nvCxnSpPr>
          <p:cNvPr id="6" name="Straight Arrow Connector 5"/>
          <p:cNvCxnSpPr/>
          <p:nvPr/>
        </p:nvCxnSpPr>
        <p:spPr>
          <a:xfrm flipV="1">
            <a:off x="3743960" y="3292081"/>
            <a:ext cx="1633855" cy="10795"/>
          </a:xfrm>
          <a:prstGeom prst="straightConnector1">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w="med" len="med"/>
          </a:ln>
        </p:spPr>
      </p:cxnSp>
      <p:sp>
        <p:nvSpPr>
          <p:cNvPr id="7" name="Rounded Rectangle 6"/>
          <p:cNvSpPr/>
          <p:nvPr/>
        </p:nvSpPr>
        <p:spPr>
          <a:xfrm>
            <a:off x="5525135" y="2892742"/>
            <a:ext cx="5325745" cy="629285"/>
          </a:xfrm>
          <a:prstGeom prst="roundRect">
            <a:avLst/>
          </a:prstGeom>
          <a:solidFill>
            <a:srgbClr val="FFFF00"/>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en-US" sz="2800" b="0" i="0" u="none" strike="noStrike" cap="none" normalizeH="0" baseline="0">
                <a:ln>
                  <a:noFill/>
                </a:ln>
                <a:solidFill>
                  <a:schemeClr val="tx1"/>
                </a:solidFill>
                <a:effectLst/>
                <a:latin typeface="Arial" panose="020B0604020202020204" pitchFamily="34" charset="0"/>
                <a:ea typeface="SimSun" panose="02010600030101010101" pitchFamily="2" charset="-122"/>
              </a:rPr>
              <a:t>2’s complement of the second</a:t>
            </a:r>
          </a:p>
        </p:txBody>
      </p:sp>
      <p:cxnSp>
        <p:nvCxnSpPr>
          <p:cNvPr id="8" name="Straight Arrow Connector 7"/>
          <p:cNvCxnSpPr/>
          <p:nvPr/>
        </p:nvCxnSpPr>
        <p:spPr>
          <a:xfrm flipV="1">
            <a:off x="3871594" y="4578810"/>
            <a:ext cx="1378585" cy="15240"/>
          </a:xfrm>
          <a:prstGeom prst="straightConnector1">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w="med" len="med"/>
          </a:ln>
        </p:spPr>
      </p:cxnSp>
      <p:sp>
        <p:nvSpPr>
          <p:cNvPr id="9" name="Rounded Rectangle 8"/>
          <p:cNvSpPr/>
          <p:nvPr/>
        </p:nvSpPr>
        <p:spPr>
          <a:xfrm>
            <a:off x="5854700" y="4578350"/>
            <a:ext cx="3248660" cy="624205"/>
          </a:xfrm>
          <a:prstGeom prst="roundRect">
            <a:avLst/>
          </a:prstGeom>
          <a:solidFill>
            <a:srgbClr val="FFFF00"/>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en-US" sz="2800" b="0" i="0" u="none" strike="noStrike" cap="none" normalizeH="0" baseline="0" dirty="0" err="1">
                <a:ln>
                  <a:noFill/>
                </a:ln>
                <a:solidFill>
                  <a:schemeClr val="tx1"/>
                </a:solidFill>
                <a:effectLst/>
                <a:latin typeface="Arial" panose="020B0604020202020204" pitchFamily="34" charset="0"/>
                <a:ea typeface="SimSun" panose="02010600030101010101" pitchFamily="2" charset="-122"/>
              </a:rPr>
              <a:t>substract</a:t>
            </a:r>
            <a:r>
              <a:rPr kumimoji="0" lang="en-US" altLang="en-US" sz="28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 result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en-US" dirty="0" err="1">
                <a:sym typeface="+mn-ea"/>
              </a:rPr>
              <a:t>BRz</a:t>
            </a:r>
            <a:r>
              <a:rPr lang="en-US" altLang="en-US" dirty="0">
                <a:sym typeface="+mn-ea"/>
              </a:rPr>
              <a:t> Equals    ;  </a:t>
            </a:r>
            <a:r>
              <a:rPr lang="en-US" altLang="en-US" dirty="0">
                <a:solidFill>
                  <a:srgbClr val="FF0000"/>
                </a:solidFill>
                <a:sym typeface="+mn-ea"/>
              </a:rPr>
              <a:t>if zero -&gt; Equal</a:t>
            </a:r>
            <a:endParaRPr lang="en-US" altLang="en-US" dirty="0">
              <a:solidFill>
                <a:srgbClr val="FF0000"/>
              </a:solidFill>
            </a:endParaRPr>
          </a:p>
          <a:p>
            <a:pPr marL="0" indent="0">
              <a:buNone/>
            </a:pPr>
            <a:r>
              <a:rPr lang="en-US" altLang="en-US" dirty="0" err="1">
                <a:sym typeface="+mn-ea"/>
              </a:rPr>
              <a:t>BRp</a:t>
            </a:r>
            <a:r>
              <a:rPr lang="en-US" altLang="en-US" dirty="0">
                <a:sym typeface="+mn-ea"/>
              </a:rPr>
              <a:t> Case1     ; </a:t>
            </a:r>
            <a:r>
              <a:rPr lang="en-US" altLang="en-US" dirty="0">
                <a:solidFill>
                  <a:srgbClr val="FF0000"/>
                </a:solidFill>
                <a:sym typeface="+mn-ea"/>
              </a:rPr>
              <a:t>if pos -&gt; case 1 </a:t>
            </a:r>
            <a:endParaRPr lang="en-US" altLang="en-US" dirty="0"/>
          </a:p>
          <a:p>
            <a:pPr marL="0" indent="0">
              <a:buNone/>
            </a:pPr>
            <a:r>
              <a:rPr lang="en-US" altLang="en-US" dirty="0" err="1">
                <a:sym typeface="+mn-ea"/>
              </a:rPr>
              <a:t>BRn</a:t>
            </a:r>
            <a:r>
              <a:rPr lang="en-US" altLang="en-US" dirty="0">
                <a:sym typeface="+mn-ea"/>
              </a:rPr>
              <a:t> Case2     </a:t>
            </a:r>
            <a:r>
              <a:rPr lang="en-US" altLang="en-US" dirty="0">
                <a:solidFill>
                  <a:srgbClr val="FF0000"/>
                </a:solidFill>
                <a:sym typeface="+mn-ea"/>
              </a:rPr>
              <a:t> ; if Neg -&gt; case 2</a:t>
            </a:r>
          </a:p>
          <a:p>
            <a:pPr marL="0" indent="0">
              <a:buNone/>
            </a:pPr>
            <a:endParaRPr lang="en-US" altLang="en-US" dirty="0">
              <a:solidFill>
                <a:srgbClr val="FF0000"/>
              </a:solidFill>
              <a:sym typeface="+mn-ea"/>
            </a:endParaRPr>
          </a:p>
          <a:p>
            <a:pPr marL="0" indent="0">
              <a:buNone/>
            </a:pPr>
            <a:r>
              <a:rPr lang="en-US" altLang="en-US" dirty="0">
                <a:highlight>
                  <a:srgbClr val="FFFF00"/>
                </a:highlight>
                <a:sym typeface="+mn-ea"/>
              </a:rPr>
              <a:t>Equals</a:t>
            </a:r>
            <a:r>
              <a:rPr lang="en-US" altLang="en-US" dirty="0">
                <a:sym typeface="+mn-ea"/>
              </a:rPr>
              <a:t> </a:t>
            </a:r>
          </a:p>
          <a:p>
            <a:pPr marL="0" indent="0">
              <a:buNone/>
            </a:pPr>
            <a:r>
              <a:rPr lang="en-US" altLang="en-US" dirty="0">
                <a:sym typeface="+mn-ea"/>
              </a:rPr>
              <a:t>AND R0, R0, #0 </a:t>
            </a:r>
            <a:endParaRPr lang="en-US" altLang="en-US" dirty="0"/>
          </a:p>
          <a:p>
            <a:pPr marL="0" indent="0">
              <a:buNone/>
            </a:pPr>
            <a:r>
              <a:rPr lang="en-US" altLang="en-US" dirty="0">
                <a:sym typeface="+mn-ea"/>
              </a:rPr>
              <a:t> </a:t>
            </a:r>
            <a:r>
              <a:rPr lang="en-US" altLang="en-US" dirty="0" err="1">
                <a:highlight>
                  <a:srgbClr val="00FF00"/>
                </a:highlight>
                <a:sym typeface="+mn-ea"/>
              </a:rPr>
              <a:t>BRnzp</a:t>
            </a:r>
            <a:r>
              <a:rPr lang="en-US" altLang="en-US" dirty="0">
                <a:highlight>
                  <a:srgbClr val="00FF00"/>
                </a:highlight>
                <a:sym typeface="+mn-ea"/>
              </a:rPr>
              <a:t> </a:t>
            </a:r>
            <a:r>
              <a:rPr lang="en-US" altLang="en-US" dirty="0">
                <a:sym typeface="+mn-ea"/>
              </a:rPr>
              <a:t>Done</a:t>
            </a:r>
            <a:endParaRPr lang="en-US" altLang="en-US" dirty="0"/>
          </a:p>
          <a:p>
            <a:pPr marL="0" indent="0">
              <a:buNone/>
            </a:pPr>
            <a:r>
              <a:rPr lang="en-US" altLang="en-US" dirty="0">
                <a:solidFill>
                  <a:srgbClr val="FF0000"/>
                </a:solidFill>
                <a:sym typeface="+mn-ea"/>
              </a:rPr>
              <a:t> </a:t>
            </a:r>
            <a:endParaRPr lang="en-US" altLang="en-US" dirty="0">
              <a:solidFill>
                <a:srgbClr val="FF0000"/>
              </a:solidFill>
            </a:endParaRPr>
          </a:p>
          <a:p>
            <a:endParaRPr lang="en-US" alt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nvSpPr>
        <p:spPr>
          <a:xfrm>
            <a:off x="712787" y="405130"/>
            <a:ext cx="10766425" cy="6452870"/>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800" dirty="0">
                <a:highlight>
                  <a:srgbClr val="FFFF00"/>
                </a:highlight>
              </a:rPr>
              <a:t>Case1 </a:t>
            </a:r>
          </a:p>
          <a:p>
            <a:pPr marL="0" indent="0">
              <a:buNone/>
            </a:pPr>
            <a:r>
              <a:rPr lang="en-US" altLang="en-US" sz="2800" dirty="0"/>
              <a:t>ADD R0, R0, #1 </a:t>
            </a:r>
          </a:p>
          <a:p>
            <a:pPr marL="0" indent="0">
              <a:buNone/>
            </a:pPr>
            <a:r>
              <a:rPr lang="en-US" altLang="en-US" sz="2800" dirty="0"/>
              <a:t> </a:t>
            </a:r>
            <a:r>
              <a:rPr lang="en-US" altLang="en-US" sz="2800" dirty="0" err="1"/>
              <a:t>BRnzp</a:t>
            </a:r>
            <a:r>
              <a:rPr lang="en-US" altLang="en-US" sz="2800" dirty="0"/>
              <a:t> Done</a:t>
            </a:r>
          </a:p>
          <a:p>
            <a:pPr marL="0" indent="0">
              <a:buNone/>
            </a:pPr>
            <a:endParaRPr lang="en-US" altLang="en-US" sz="2800" dirty="0"/>
          </a:p>
          <a:p>
            <a:pPr marL="0" indent="0">
              <a:buNone/>
            </a:pPr>
            <a:r>
              <a:rPr lang="en-US" altLang="en-US" sz="2800" dirty="0">
                <a:highlight>
                  <a:srgbClr val="FFFF00"/>
                </a:highlight>
              </a:rPr>
              <a:t>Case2 </a:t>
            </a:r>
          </a:p>
          <a:p>
            <a:pPr marL="0" indent="0">
              <a:buNone/>
            </a:pPr>
            <a:r>
              <a:rPr lang="en-US" altLang="en-US" sz="2800" dirty="0"/>
              <a:t>ADD R0, R0, #-1</a:t>
            </a:r>
          </a:p>
          <a:p>
            <a:pPr marL="0" indent="0">
              <a:buNone/>
            </a:pPr>
            <a:r>
              <a:rPr lang="en-US" altLang="en-US" sz="2800" dirty="0"/>
              <a:t> </a:t>
            </a:r>
          </a:p>
          <a:p>
            <a:pPr marL="0" indent="0">
              <a:buNone/>
            </a:pPr>
            <a:r>
              <a:rPr lang="en-US" altLang="en-US" sz="2800" dirty="0"/>
              <a:t>Done </a:t>
            </a:r>
          </a:p>
          <a:p>
            <a:pPr marL="0" indent="0">
              <a:buNone/>
            </a:pPr>
            <a:r>
              <a:rPr lang="en-US" altLang="en-US" sz="2800" dirty="0"/>
              <a:t>HALT</a:t>
            </a:r>
          </a:p>
          <a:p>
            <a:pPr marL="0" indent="0">
              <a:buNone/>
            </a:pPr>
            <a:r>
              <a:rPr lang="en-US" altLang="en-US" sz="2800" dirty="0"/>
              <a:t>NUMBER1 .FILL #10</a:t>
            </a:r>
          </a:p>
          <a:p>
            <a:pPr marL="0" indent="0">
              <a:buNone/>
            </a:pPr>
            <a:r>
              <a:rPr lang="en-US" altLang="en-US" sz="2800" dirty="0"/>
              <a:t>NUMBER2 .FILL #10 </a:t>
            </a:r>
          </a:p>
          <a:p>
            <a:pPr marL="0" indent="0">
              <a:buNone/>
            </a:pPr>
            <a:r>
              <a:rPr lang="en-US" altLang="en-US" sz="2800" dirty="0"/>
              <a:t>.END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19BDC-20CD-73EC-0C4E-29DB5591ABE5}"/>
              </a:ext>
            </a:extLst>
          </p:cNvPr>
          <p:cNvSpPr>
            <a:spLocks noGrp="1"/>
          </p:cNvSpPr>
          <p:nvPr>
            <p:ph type="title"/>
          </p:nvPr>
        </p:nvSpPr>
        <p:spPr/>
        <p:txBody>
          <a:bodyPr/>
          <a:lstStyle/>
          <a:p>
            <a:r>
              <a:rPr lang="en-EG" dirty="0"/>
              <a:t>Loops:</a:t>
            </a:r>
          </a:p>
        </p:txBody>
      </p:sp>
      <p:sp>
        <p:nvSpPr>
          <p:cNvPr id="3" name="Content Placeholder 2">
            <a:extLst>
              <a:ext uri="{FF2B5EF4-FFF2-40B4-BE49-F238E27FC236}">
                <a16:creationId xmlns:a16="http://schemas.microsoft.com/office/drawing/2014/main" id="{B59AFE94-5EF4-258D-3AD6-F1CF61F5E73A}"/>
              </a:ext>
            </a:extLst>
          </p:cNvPr>
          <p:cNvSpPr>
            <a:spLocks noGrp="1"/>
          </p:cNvSpPr>
          <p:nvPr>
            <p:ph idx="1"/>
          </p:nvPr>
        </p:nvSpPr>
        <p:spPr/>
        <p:txBody>
          <a:bodyPr/>
          <a:lstStyle/>
          <a:p>
            <a:pPr marL="0" indent="0">
              <a:buNone/>
            </a:pPr>
            <a:r>
              <a:rPr lang="en-US" dirty="0"/>
              <a:t> ; initialize</a:t>
            </a:r>
          </a:p>
          <a:p>
            <a:pPr marL="0" indent="0">
              <a:buNone/>
            </a:pPr>
            <a:endParaRPr lang="en-US" dirty="0"/>
          </a:p>
          <a:p>
            <a:pPr marL="0" indent="0">
              <a:buNone/>
            </a:pPr>
            <a:r>
              <a:rPr lang="en-US" dirty="0"/>
              <a:t>LOOP    ; do something</a:t>
            </a:r>
          </a:p>
          <a:p>
            <a:pPr marL="0" indent="0">
              <a:buNone/>
            </a:pPr>
            <a:endParaRPr lang="en-US" dirty="0"/>
          </a:p>
          <a:p>
            <a:pPr marL="0" indent="0">
              <a:buNone/>
            </a:pPr>
            <a:r>
              <a:rPr lang="en-US" dirty="0"/>
              <a:t>              ; update</a:t>
            </a:r>
          </a:p>
          <a:p>
            <a:pPr marL="0" indent="0">
              <a:buNone/>
            </a:pPr>
            <a:endParaRPr lang="en-US" dirty="0"/>
          </a:p>
          <a:p>
            <a:pPr marL="0" indent="0">
              <a:buNone/>
            </a:pPr>
            <a:r>
              <a:rPr lang="en-US" dirty="0"/>
              <a:t>        </a:t>
            </a:r>
            <a:r>
              <a:rPr lang="en-US" dirty="0" err="1"/>
              <a:t>BRcondition</a:t>
            </a:r>
            <a:r>
              <a:rPr lang="en-US" dirty="0"/>
              <a:t> LOOP </a:t>
            </a:r>
            <a:r>
              <a:rPr lang="en-US" dirty="0">
                <a:solidFill>
                  <a:srgbClr val="0070C0"/>
                </a:solidFill>
              </a:rPr>
              <a:t>[</a:t>
            </a:r>
            <a:r>
              <a:rPr lang="en-US" altLang="en-US" dirty="0" err="1">
                <a:solidFill>
                  <a:srgbClr val="0070C0"/>
                </a:solidFill>
              </a:rPr>
              <a:t>BRn</a:t>
            </a:r>
            <a:r>
              <a:rPr lang="en-US" altLang="en-US" dirty="0">
                <a:solidFill>
                  <a:srgbClr val="0070C0"/>
                </a:solidFill>
              </a:rPr>
              <a:t>, </a:t>
            </a:r>
            <a:r>
              <a:rPr lang="en-US" altLang="en-US" dirty="0" err="1">
                <a:solidFill>
                  <a:srgbClr val="0070C0"/>
                </a:solidFill>
              </a:rPr>
              <a:t>BRz</a:t>
            </a:r>
            <a:r>
              <a:rPr lang="en-US" altLang="en-US" dirty="0">
                <a:solidFill>
                  <a:srgbClr val="0070C0"/>
                </a:solidFill>
              </a:rPr>
              <a:t>, </a:t>
            </a:r>
            <a:r>
              <a:rPr lang="en-US" altLang="en-US" dirty="0" err="1">
                <a:solidFill>
                  <a:srgbClr val="0070C0"/>
                </a:solidFill>
              </a:rPr>
              <a:t>BRp</a:t>
            </a:r>
            <a:r>
              <a:rPr lang="en-US" altLang="en-US" dirty="0">
                <a:solidFill>
                  <a:srgbClr val="0070C0"/>
                </a:solidFill>
              </a:rPr>
              <a:t> ]</a:t>
            </a:r>
            <a:endParaRPr lang="en-EG" dirty="0">
              <a:solidFill>
                <a:srgbClr val="0070C0"/>
              </a:solidFill>
            </a:endParaRPr>
          </a:p>
        </p:txBody>
      </p:sp>
    </p:spTree>
    <p:extLst>
      <p:ext uri="{BB962C8B-B14F-4D97-AF65-F5344CB8AC3E}">
        <p14:creationId xmlns:p14="http://schemas.microsoft.com/office/powerpoint/2010/main" val="924946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0720"/>
          </a:xfrm>
        </p:spPr>
        <p:txBody>
          <a:bodyPr>
            <a:normAutofit/>
          </a:bodyPr>
          <a:lstStyle/>
          <a:p>
            <a:r>
              <a:rPr lang="en-US" altLang="en-US" b="1" dirty="0">
                <a:solidFill>
                  <a:srgbClr val="FF0000"/>
                </a:solidFill>
              </a:rPr>
              <a:t>LOOP: Compute 4*5</a:t>
            </a:r>
          </a:p>
        </p:txBody>
      </p:sp>
      <p:sp>
        <p:nvSpPr>
          <p:cNvPr id="3" name="Content Placeholder 2"/>
          <p:cNvSpPr>
            <a:spLocks noGrp="1"/>
          </p:cNvSpPr>
          <p:nvPr>
            <p:ph idx="1"/>
          </p:nvPr>
        </p:nvSpPr>
        <p:spPr>
          <a:xfrm>
            <a:off x="838200" y="1261241"/>
            <a:ext cx="10515600" cy="4855781"/>
          </a:xfrm>
          <a:solidFill>
            <a:schemeClr val="bg1">
              <a:lumMod val="75000"/>
            </a:schemeClr>
          </a:solidFill>
        </p:spPr>
        <p:txBody>
          <a:bodyPr/>
          <a:lstStyle/>
          <a:p>
            <a:pPr marL="0" indent="0">
              <a:buNone/>
            </a:pPr>
            <a:r>
              <a:rPr lang="en-US" altLang="en-US" sz="4000" b="1" dirty="0"/>
              <a:t> </a:t>
            </a:r>
          </a:p>
          <a:p>
            <a:r>
              <a:rPr lang="en-US" altLang="en-US" sz="3600" b="1" dirty="0"/>
              <a:t>R1 = 5</a:t>
            </a:r>
          </a:p>
          <a:p>
            <a:endParaRPr lang="en-US" altLang="en-US" sz="3600" b="1" dirty="0"/>
          </a:p>
          <a:p>
            <a:r>
              <a:rPr lang="en-US" altLang="en-US" sz="3600" b="1" dirty="0"/>
              <a:t>R2 = 4</a:t>
            </a:r>
          </a:p>
          <a:p>
            <a:endParaRPr lang="en-US" altLang="en-US" sz="3600" b="1" dirty="0"/>
          </a:p>
          <a:p>
            <a:r>
              <a:rPr lang="en-US" altLang="en-US" sz="3600" b="1" dirty="0"/>
              <a:t>R3 = 5 + 5 + 5 + 5 = 20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695" y="501453"/>
            <a:ext cx="11584305" cy="5855094"/>
          </a:xfrm>
        </p:spPr>
        <p:txBody>
          <a:bodyPr/>
          <a:lstStyle/>
          <a:p>
            <a:pPr marL="0" indent="0">
              <a:buNone/>
            </a:pPr>
            <a:r>
              <a:rPr lang="en-US" altLang="en-US" sz="2000" b="1" dirty="0"/>
              <a:t>.ORIG	x3000</a:t>
            </a:r>
          </a:p>
          <a:p>
            <a:pPr marL="0" indent="0">
              <a:buNone/>
            </a:pPr>
            <a:r>
              <a:rPr lang="en-US" altLang="en-US" sz="2000" b="1" dirty="0"/>
              <a:t>	LD	R1, </a:t>
            </a:r>
            <a:r>
              <a:rPr lang="en-US" altLang="en-US" sz="2000" b="1" dirty="0" err="1"/>
              <a:t>lbl_Five</a:t>
            </a:r>
            <a:endParaRPr lang="en-US" altLang="en-US" sz="2000" b="1" dirty="0"/>
          </a:p>
          <a:p>
            <a:pPr marL="0" indent="0">
              <a:buNone/>
            </a:pPr>
            <a:r>
              <a:rPr lang="en-US" altLang="en-US" sz="2000" b="1" dirty="0"/>
              <a:t>	LD	R2, </a:t>
            </a:r>
            <a:r>
              <a:rPr lang="en-US" altLang="en-US" sz="2000" b="1" dirty="0" err="1"/>
              <a:t>lbl_Four</a:t>
            </a:r>
            <a:endParaRPr lang="en-US" altLang="en-US" sz="2000" b="1" dirty="0"/>
          </a:p>
          <a:p>
            <a:pPr marL="0" indent="0">
              <a:buNone/>
            </a:pPr>
            <a:r>
              <a:rPr lang="en-US" altLang="en-US" sz="2000" b="1" dirty="0"/>
              <a:t>	AND	R3, R3, #0	; Clear R3.  It will  contain the product.</a:t>
            </a:r>
          </a:p>
          <a:p>
            <a:pPr marL="0" indent="0">
              <a:buNone/>
            </a:pPr>
            <a:endParaRPr lang="en-US" altLang="en-US" sz="2000" b="1" dirty="0"/>
          </a:p>
          <a:p>
            <a:pPr marL="0" indent="0">
              <a:buNone/>
            </a:pPr>
            <a:r>
              <a:rPr lang="en-US" altLang="en-US" sz="2000" b="1" dirty="0"/>
              <a:t>; The inner loop</a:t>
            </a:r>
          </a:p>
          <a:p>
            <a:pPr marL="0" indent="0">
              <a:buNone/>
            </a:pPr>
            <a:r>
              <a:rPr lang="en-US" altLang="en-US" sz="2000" b="1" dirty="0"/>
              <a:t>AGAIN	ADD	R3, R3, R1</a:t>
            </a:r>
          </a:p>
          <a:p>
            <a:pPr marL="0" indent="0">
              <a:buNone/>
            </a:pPr>
            <a:r>
              <a:rPr lang="en-US" altLang="en-US" sz="2000" b="1" dirty="0"/>
              <a:t>	ADD	R2, R2, #-1	; R1 keeps track of</a:t>
            </a:r>
          </a:p>
          <a:p>
            <a:pPr marL="0" indent="0">
              <a:buNone/>
            </a:pPr>
            <a:r>
              <a:rPr lang="en-US" altLang="en-US" sz="2000" b="1" dirty="0"/>
              <a:t>	</a:t>
            </a:r>
            <a:r>
              <a:rPr lang="en-US" altLang="en-US" sz="2000" b="1" dirty="0" err="1">
                <a:highlight>
                  <a:srgbClr val="FFFF00"/>
                </a:highlight>
              </a:rPr>
              <a:t>BRp</a:t>
            </a:r>
            <a:r>
              <a:rPr lang="en-US" altLang="en-US" sz="2000" b="1" dirty="0">
                <a:highlight>
                  <a:srgbClr val="FFFF00"/>
                </a:highlight>
              </a:rPr>
              <a:t>	AGAIN	  ;If R2 &gt; 0, go back to AGAIN and repeat the loop.</a:t>
            </a:r>
            <a:endParaRPr lang="en-US" altLang="en-US" sz="2000" b="1" dirty="0"/>
          </a:p>
          <a:p>
            <a:pPr marL="0" indent="0">
              <a:buNone/>
            </a:pPr>
            <a:r>
              <a:rPr lang="en-US" altLang="en-US" sz="2000" b="1" dirty="0"/>
              <a:t>	HALT</a:t>
            </a:r>
          </a:p>
          <a:p>
            <a:pPr marL="0" indent="0">
              <a:buNone/>
            </a:pPr>
            <a:endParaRPr lang="en-US" altLang="en-US" sz="2000" b="1" dirty="0"/>
          </a:p>
          <a:p>
            <a:pPr marL="0" indent="0">
              <a:buNone/>
            </a:pPr>
            <a:r>
              <a:rPr lang="en-US" altLang="en-US" sz="2000" b="1" dirty="0" err="1"/>
              <a:t>lbl_Four</a:t>
            </a:r>
            <a:r>
              <a:rPr lang="en-US" altLang="en-US" sz="2000" b="1" dirty="0"/>
              <a:t>    .FILL	x0004</a:t>
            </a:r>
          </a:p>
          <a:p>
            <a:pPr marL="0" indent="0">
              <a:buNone/>
            </a:pPr>
            <a:r>
              <a:rPr lang="en-US" altLang="en-US" sz="2000" b="1" dirty="0" err="1"/>
              <a:t>lbl_Five</a:t>
            </a:r>
            <a:r>
              <a:rPr lang="en-US" altLang="en-US" sz="2000" b="1" dirty="0"/>
              <a:t>    .FILL	x0005</a:t>
            </a:r>
          </a:p>
          <a:p>
            <a:pPr marL="0" indent="0">
              <a:buNone/>
            </a:pPr>
            <a:endParaRPr lang="en-US" altLang="en-US" sz="2000" b="1" dirty="0"/>
          </a:p>
          <a:p>
            <a:pPr marL="0" indent="0">
              <a:buNone/>
            </a:pPr>
            <a:r>
              <a:rPr lang="en-US" altLang="en-US" sz="2000" b="1" dirty="0"/>
              <a:t>.END</a:t>
            </a:r>
          </a:p>
          <a:p>
            <a:endParaRPr lang="en-US" altLang="en-US" sz="20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this program to LC-3 </a:t>
            </a:r>
          </a:p>
        </p:txBody>
      </p:sp>
      <p:sp>
        <p:nvSpPr>
          <p:cNvPr id="3" name="Content Placeholder 2"/>
          <p:cNvSpPr>
            <a:spLocks noGrp="1"/>
          </p:cNvSpPr>
          <p:nvPr>
            <p:ph idx="1"/>
          </p:nvPr>
        </p:nvSpPr>
        <p:spPr>
          <a:xfrm>
            <a:off x="1051034" y="952500"/>
            <a:ext cx="10972800" cy="4953000"/>
          </a:xfrm>
        </p:spPr>
        <p:txBody>
          <a:bodyPr/>
          <a:lstStyle/>
          <a:p>
            <a:pPr marL="0" indent="0">
              <a:buNone/>
            </a:pPr>
            <a:r>
              <a:rPr lang="en-US" altLang="en-US" sz="2000" dirty="0"/>
              <a:t>#include &lt;iostream&gt;</a:t>
            </a:r>
          </a:p>
          <a:p>
            <a:pPr marL="0" indent="0">
              <a:buNone/>
            </a:pPr>
            <a:r>
              <a:rPr lang="en-US" altLang="en-US" sz="2000" dirty="0"/>
              <a:t>using namespace std;</a:t>
            </a:r>
          </a:p>
          <a:p>
            <a:pPr marL="0" indent="0">
              <a:buNone/>
            </a:pPr>
            <a:endParaRPr lang="en-US" altLang="en-US" sz="2000" dirty="0"/>
          </a:p>
          <a:p>
            <a:pPr marL="0" indent="0">
              <a:buNone/>
            </a:pPr>
            <a:r>
              <a:rPr lang="en-US" altLang="en-US" sz="2000" dirty="0"/>
              <a:t>int main() {</a:t>
            </a:r>
          </a:p>
          <a:p>
            <a:pPr marL="0" indent="0">
              <a:buNone/>
            </a:pPr>
            <a:r>
              <a:rPr lang="en-US" altLang="en-US" sz="2000" dirty="0"/>
              <a:t>    int sum = 0;</a:t>
            </a:r>
          </a:p>
          <a:p>
            <a:pPr marL="0" indent="0">
              <a:buNone/>
            </a:pPr>
            <a:endParaRPr lang="en-US" altLang="en-US" sz="2000" dirty="0"/>
          </a:p>
          <a:p>
            <a:pPr marL="0" indent="0">
              <a:buNone/>
            </a:pPr>
            <a:r>
              <a:rPr lang="en-US" altLang="en-US" sz="2000" dirty="0"/>
              <a:t>    // For loop to add numbers from 1 to 5   </a:t>
            </a:r>
          </a:p>
          <a:p>
            <a:pPr marL="0" indent="0">
              <a:buNone/>
            </a:pPr>
            <a:r>
              <a:rPr lang="en-US" altLang="en-US" sz="2000" dirty="0"/>
              <a:t>    for (int </a:t>
            </a:r>
            <a:r>
              <a:rPr lang="en-US" altLang="en-US" sz="2000" dirty="0" err="1"/>
              <a:t>i</a:t>
            </a:r>
            <a:r>
              <a:rPr lang="en-US" altLang="en-US" sz="2000" dirty="0"/>
              <a:t> = 1; </a:t>
            </a:r>
            <a:r>
              <a:rPr lang="en-US" altLang="en-US" sz="2000" dirty="0" err="1"/>
              <a:t>i</a:t>
            </a:r>
            <a:r>
              <a:rPr lang="en-US" altLang="en-US" sz="2000" dirty="0"/>
              <a:t> &lt;= 5; </a:t>
            </a:r>
            <a:r>
              <a:rPr lang="en-US" altLang="en-US" sz="2000" dirty="0" err="1"/>
              <a:t>i</a:t>
            </a:r>
            <a:r>
              <a:rPr lang="en-US" altLang="en-US" sz="2000" dirty="0"/>
              <a:t>++) {</a:t>
            </a:r>
          </a:p>
          <a:p>
            <a:pPr marL="0" indent="0">
              <a:buNone/>
            </a:pPr>
            <a:r>
              <a:rPr lang="en-US" altLang="en-US" sz="2000" dirty="0"/>
              <a:t>        sum += </a:t>
            </a:r>
            <a:r>
              <a:rPr lang="en-US" altLang="en-US" sz="2000" dirty="0" err="1"/>
              <a:t>i</a:t>
            </a:r>
            <a:r>
              <a:rPr lang="en-US" altLang="en-US" sz="2000" dirty="0"/>
              <a:t>;         </a:t>
            </a:r>
            <a:r>
              <a:rPr lang="en-US" altLang="en-US" sz="2400" b="1" dirty="0">
                <a:solidFill>
                  <a:srgbClr val="FF0000"/>
                </a:solidFill>
              </a:rPr>
              <a:t> //sum=</a:t>
            </a:r>
            <a:r>
              <a:rPr lang="en-US" altLang="en-US" sz="2400" b="1" dirty="0" err="1">
                <a:solidFill>
                  <a:srgbClr val="FF0000"/>
                </a:solidFill>
              </a:rPr>
              <a:t>sum+i</a:t>
            </a:r>
            <a:r>
              <a:rPr lang="en-US" altLang="en-US" sz="2400" b="1" dirty="0">
                <a:solidFill>
                  <a:srgbClr val="FF0000"/>
                </a:solidFill>
              </a:rPr>
              <a:t>;</a:t>
            </a:r>
          </a:p>
          <a:p>
            <a:pPr marL="0" indent="0">
              <a:buNone/>
            </a:pPr>
            <a:r>
              <a:rPr lang="en-US" altLang="en-US" sz="2000" dirty="0"/>
              <a:t>    }</a:t>
            </a:r>
          </a:p>
          <a:p>
            <a:pPr marL="0" indent="0">
              <a:buNone/>
            </a:pPr>
            <a:endParaRPr lang="en-US" altLang="en-US" sz="2000" dirty="0"/>
          </a:p>
          <a:p>
            <a:pPr marL="0" indent="0">
              <a:buNone/>
            </a:pPr>
            <a:r>
              <a:rPr lang="en-US" altLang="en-US" sz="2000" dirty="0"/>
              <a:t>    </a:t>
            </a:r>
            <a:r>
              <a:rPr lang="en-US" altLang="en-US" sz="2000" dirty="0" err="1"/>
              <a:t>cout</a:t>
            </a:r>
            <a:r>
              <a:rPr lang="en-US" altLang="en-US" sz="2000" dirty="0"/>
              <a:t> &lt;&lt; "The sum is: " &lt;&lt; sum &lt;&lt; </a:t>
            </a:r>
            <a:r>
              <a:rPr lang="en-US" altLang="en-US" sz="2000" dirty="0" err="1"/>
              <a:t>endl</a:t>
            </a:r>
            <a:r>
              <a:rPr lang="en-US" altLang="en-US" sz="2000" dirty="0"/>
              <a:t>;</a:t>
            </a:r>
          </a:p>
          <a:p>
            <a:pPr marL="0" indent="0">
              <a:buNone/>
            </a:pPr>
            <a:r>
              <a:rPr lang="en-US" altLang="en-US" sz="2000" dirty="0"/>
              <a:t>    return 0;</a:t>
            </a:r>
          </a:p>
          <a:p>
            <a:pPr marL="0" indent="0">
              <a:buNone/>
            </a:pPr>
            <a:r>
              <a:rPr lang="en-US" altLang="en-US" sz="2000" dirty="0"/>
              <a:t>}</a:t>
            </a:r>
          </a:p>
          <a:p>
            <a:endParaRPr lang="en-US"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400" y="936702"/>
            <a:ext cx="10972800" cy="5906135"/>
          </a:xfrm>
        </p:spPr>
        <p:txBody>
          <a:bodyPr/>
          <a:lstStyle/>
          <a:p>
            <a:pPr marL="0" indent="0">
              <a:buNone/>
            </a:pPr>
            <a:r>
              <a:rPr lang="en-US" altLang="en-US" sz="1800" dirty="0"/>
              <a:t>        .ORIG x3000        ; Start at address x3000</a:t>
            </a:r>
          </a:p>
          <a:p>
            <a:pPr marL="0" indent="0">
              <a:buNone/>
            </a:pPr>
            <a:endParaRPr lang="en-US" altLang="en-US" sz="1800" dirty="0"/>
          </a:p>
          <a:p>
            <a:pPr marL="0" indent="0">
              <a:buNone/>
            </a:pPr>
            <a:r>
              <a:rPr lang="en-US" altLang="en-US" sz="1800" dirty="0"/>
              <a:t>        AND R0, R0, #0     ; Clear R0 (sum = 0)</a:t>
            </a:r>
          </a:p>
          <a:p>
            <a:pPr marL="0" indent="0">
              <a:buNone/>
            </a:pPr>
            <a:r>
              <a:rPr lang="en-US" altLang="en-US" sz="1800" dirty="0"/>
              <a:t>        AND R1, R1, #0     ; Clear R1 (</a:t>
            </a:r>
            <a:r>
              <a:rPr lang="en-US" altLang="en-US" sz="1800" dirty="0" err="1"/>
              <a:t>i</a:t>
            </a:r>
            <a:r>
              <a:rPr lang="en-US" altLang="en-US" sz="1800" dirty="0"/>
              <a:t> = 0)</a:t>
            </a:r>
          </a:p>
          <a:p>
            <a:pPr marL="0" indent="0">
              <a:buNone/>
            </a:pPr>
            <a:r>
              <a:rPr lang="en-US" altLang="en-US" sz="1800" dirty="0"/>
              <a:t>        ADD R1, R1, # 5     ; Set R1 (</a:t>
            </a:r>
            <a:r>
              <a:rPr lang="en-US" altLang="en-US" sz="1800" dirty="0" err="1"/>
              <a:t>i</a:t>
            </a:r>
            <a:r>
              <a:rPr lang="en-US" altLang="en-US" sz="1800" dirty="0"/>
              <a:t>) to 1</a:t>
            </a:r>
          </a:p>
          <a:p>
            <a:pPr marL="0" indent="0">
              <a:buNone/>
            </a:pPr>
            <a:endParaRPr lang="en-US" altLang="en-US" sz="1800" dirty="0"/>
          </a:p>
          <a:p>
            <a:pPr marL="0" indent="0">
              <a:buNone/>
            </a:pPr>
            <a:r>
              <a:rPr lang="en-US" altLang="en-US" sz="1800" dirty="0"/>
              <a:t>LOOP    ADD R0, R0, R1     ; sum += </a:t>
            </a:r>
            <a:r>
              <a:rPr lang="en-US" altLang="en-US" sz="1800" dirty="0" err="1"/>
              <a:t>i</a:t>
            </a:r>
            <a:r>
              <a:rPr lang="en-US" altLang="en-US" sz="1800" dirty="0"/>
              <a:t> (R0 = R0 + R1)</a:t>
            </a:r>
          </a:p>
          <a:p>
            <a:pPr marL="0" indent="0">
              <a:buNone/>
            </a:pPr>
            <a:r>
              <a:rPr lang="en-US" altLang="en-US" sz="1800" dirty="0"/>
              <a:t>        ADD R1, R1, #-1     ; Increment </a:t>
            </a:r>
            <a:r>
              <a:rPr lang="en-US" altLang="en-US" sz="1800" dirty="0" err="1"/>
              <a:t>i</a:t>
            </a:r>
            <a:r>
              <a:rPr lang="en-US" altLang="en-US" sz="1800" dirty="0"/>
              <a:t> (</a:t>
            </a:r>
            <a:r>
              <a:rPr lang="en-US" altLang="en-US" sz="1800" dirty="0" err="1"/>
              <a:t>i</a:t>
            </a:r>
            <a:r>
              <a:rPr lang="en-US" altLang="en-US" sz="1800" dirty="0"/>
              <a:t>++)</a:t>
            </a:r>
          </a:p>
          <a:p>
            <a:pPr marL="0" indent="0">
              <a:buNone/>
            </a:pPr>
            <a:r>
              <a:rPr lang="en-US" altLang="en-US" sz="1800" dirty="0"/>
              <a:t>        </a:t>
            </a:r>
            <a:r>
              <a:rPr lang="en-US" altLang="en-US" sz="1800" dirty="0" err="1"/>
              <a:t>BRp</a:t>
            </a:r>
            <a:r>
              <a:rPr lang="en-US" altLang="en-US" sz="1800" dirty="0"/>
              <a:t> LOOP           ; If </a:t>
            </a:r>
            <a:r>
              <a:rPr lang="en-US" altLang="en-US" sz="1800" dirty="0" err="1"/>
              <a:t>i</a:t>
            </a:r>
            <a:r>
              <a:rPr lang="en-US" altLang="en-US" sz="1800" dirty="0"/>
              <a:t> &gt; 0, continue looping</a:t>
            </a:r>
          </a:p>
          <a:p>
            <a:pPr marL="0" indent="0">
              <a:buNone/>
            </a:pPr>
            <a:endParaRPr lang="en-US" altLang="en-US" sz="1800" dirty="0"/>
          </a:p>
          <a:p>
            <a:pPr marL="0" indent="0">
              <a:buNone/>
            </a:pPr>
            <a:r>
              <a:rPr lang="en-US" altLang="en-US" sz="1800" dirty="0"/>
              <a:t>        HALT               ; Stop the program</a:t>
            </a:r>
          </a:p>
          <a:p>
            <a:pPr marL="0" indent="0">
              <a:buNone/>
            </a:pPr>
            <a:endParaRPr lang="en-US" altLang="en-US" sz="1800" dirty="0"/>
          </a:p>
          <a:p>
            <a:pPr marL="0" indent="0">
              <a:buNone/>
            </a:pPr>
            <a:r>
              <a:rPr lang="en-US" altLang="en-US" sz="1800" dirty="0"/>
              <a:t>        .END               ; End of program</a:t>
            </a:r>
          </a:p>
          <a:p>
            <a:endParaRPr lang="en-US"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ox(in)">
                                      <p:cBhvr>
                                        <p:cTn id="7" dur="2000"/>
                                        <p:tgtEl>
                                          <p:spTgt spid="3">
                                            <p:txEl>
                                              <p:pRg st="6" end="6"/>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box(in)">
                                      <p:cBhvr>
                                        <p:cTn id="10" dur="2000"/>
                                        <p:tgtEl>
                                          <p:spTgt spid="3">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box(in)">
                                      <p:cBhvr>
                                        <p:cTn id="15"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845" y="1002665"/>
            <a:ext cx="10972800" cy="4574540"/>
          </a:xfrm>
        </p:spPr>
        <p:txBody>
          <a:bodyPr/>
          <a:lstStyle/>
          <a:p>
            <a:pPr>
              <a:lnSpc>
                <a:spcPct val="150000"/>
              </a:lnSpc>
            </a:pPr>
            <a:r>
              <a:rPr lang="en-US" altLang="en-US" sz="2800" u="sng" dirty="0"/>
              <a:t>LC-3 can access memory</a:t>
            </a:r>
            <a:r>
              <a:rPr lang="en-US" altLang="en-US" sz="2800" dirty="0"/>
              <a:t> in three different ways, using different addressing modes to:</a:t>
            </a:r>
            <a:br>
              <a:rPr lang="en-US" altLang="en-US" sz="2800" dirty="0"/>
            </a:br>
            <a:r>
              <a:rPr lang="en-US" altLang="en-US" sz="2800" dirty="0"/>
              <a:t>  </a:t>
            </a:r>
            <a:r>
              <a:rPr lang="en-US" altLang="en-US" sz="2600" dirty="0"/>
              <a:t>- Load addresses </a:t>
            </a:r>
            <a:r>
              <a:rPr lang="en-US" altLang="en-US" sz="2600" b="1" dirty="0">
                <a:solidFill>
                  <a:srgbClr val="0070C0"/>
                </a:solidFill>
              </a:rPr>
              <a:t>(LEA)</a:t>
            </a:r>
            <a:br>
              <a:rPr lang="en-US" altLang="en-US" sz="2600" dirty="0"/>
            </a:br>
            <a:r>
              <a:rPr lang="en-US" altLang="en-US" sz="2600" dirty="0"/>
              <a:t>  - Store or fetch values using base registers </a:t>
            </a:r>
            <a:r>
              <a:rPr lang="en-US" altLang="en-US" sz="2600" b="1" dirty="0">
                <a:solidFill>
                  <a:srgbClr val="0070C0"/>
                </a:solidFill>
              </a:rPr>
              <a:t>(STR)/</a:t>
            </a:r>
            <a:r>
              <a:rPr lang="en-US" sz="2600" dirty="0"/>
              <a:t> </a:t>
            </a:r>
            <a:r>
              <a:rPr lang="en-US" sz="2600" dirty="0">
                <a:solidFill>
                  <a:srgbClr val="0070C0"/>
                </a:solidFill>
              </a:rPr>
              <a:t>LDR</a:t>
            </a:r>
            <a:br>
              <a:rPr lang="en-US" altLang="en-US" sz="2600" b="1" dirty="0">
                <a:solidFill>
                  <a:srgbClr val="0070C0"/>
                </a:solidFill>
              </a:rPr>
            </a:br>
            <a:r>
              <a:rPr lang="en-US" altLang="en-US" sz="2600" b="1" dirty="0">
                <a:solidFill>
                  <a:srgbClr val="0070C0"/>
                </a:solidFill>
              </a:rPr>
              <a:t>  </a:t>
            </a:r>
            <a:r>
              <a:rPr lang="en-US" altLang="en-US" sz="2600" dirty="0"/>
              <a:t>- Follow pointers stored in memory</a:t>
            </a:r>
            <a:r>
              <a:rPr lang="en-US" altLang="en-US" sz="2600" b="1" dirty="0">
                <a:solidFill>
                  <a:srgbClr val="0070C0"/>
                </a:solidFill>
              </a:rPr>
              <a:t> (LDI)</a:t>
            </a:r>
          </a:p>
        </p:txBody>
      </p:sp>
      <p:sp>
        <p:nvSpPr>
          <p:cNvPr id="6" name="Text Box 5"/>
          <p:cNvSpPr txBox="1"/>
          <p:nvPr/>
        </p:nvSpPr>
        <p:spPr>
          <a:xfrm>
            <a:off x="410845" y="285750"/>
            <a:ext cx="6013450" cy="583565"/>
          </a:xfrm>
          <a:prstGeom prst="rect">
            <a:avLst/>
          </a:prstGeom>
          <a:noFill/>
        </p:spPr>
        <p:txBody>
          <a:bodyPr wrap="square" rtlCol="0">
            <a:spAutoFit/>
          </a:bodyPr>
          <a:lstStyle/>
          <a:p>
            <a:r>
              <a:rPr lang="en-US" sz="3200" b="1" dirty="0">
                <a:solidFill>
                  <a:srgbClr val="FF0000"/>
                </a:solidFill>
                <a:effectLst>
                  <a:outerShdw blurRad="38100" dist="38100" dir="2700000" algn="tl">
                    <a:srgbClr val="000000">
                      <a:alpha val="43137"/>
                    </a:srgbClr>
                  </a:outerShdw>
                </a:effectLst>
              </a:rPr>
              <a:t>Three address modes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176)"/>
          <p:cNvPicPr>
            <a:picLocks noGrp="1" noChangeAspect="1"/>
          </p:cNvPicPr>
          <p:nvPr>
            <p:ph idx="1"/>
          </p:nvPr>
        </p:nvPicPr>
        <p:blipFill>
          <a:blip r:embed="rId3"/>
          <a:srcRect l="1528" t="26436" r="2941" b="9359"/>
          <a:stretch>
            <a:fillRect/>
          </a:stretch>
        </p:blipFill>
        <p:spPr>
          <a:xfrm>
            <a:off x="609600" y="1457325"/>
            <a:ext cx="11132820" cy="42068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39403"/>
            <a:ext cx="10972800" cy="5183746"/>
          </a:xfrm>
        </p:spPr>
        <p:txBody>
          <a:bodyPr/>
          <a:lstStyle/>
          <a:p>
            <a:pPr marL="0" indent="0">
              <a:buNone/>
            </a:pPr>
            <a:r>
              <a:rPr lang="en-US" altLang="en-US" sz="2000" dirty="0"/>
              <a:t>.ORIG x3000 </a:t>
            </a:r>
          </a:p>
          <a:p>
            <a:pPr marL="0" indent="0">
              <a:buNone/>
            </a:pPr>
            <a:r>
              <a:rPr lang="en-US" altLang="en-US" sz="2000" b="1" dirty="0">
                <a:solidFill>
                  <a:srgbClr val="0070C0"/>
                </a:solidFill>
              </a:rPr>
              <a:t>LEA</a:t>
            </a:r>
            <a:r>
              <a:rPr lang="en-US" altLang="en-US" sz="2000" dirty="0"/>
              <a:t> R0, HI ; load the address of the "HI" label</a:t>
            </a:r>
          </a:p>
          <a:p>
            <a:pPr marL="0" indent="0">
              <a:buNone/>
            </a:pPr>
            <a:r>
              <a:rPr lang="en-US" altLang="en-US" sz="2000" b="1" dirty="0"/>
              <a:t>PUTS</a:t>
            </a:r>
            <a:r>
              <a:rPr lang="en-US" altLang="en-US" sz="2000" dirty="0"/>
              <a:t>     ;    Write a string of characters to the console from </a:t>
            </a:r>
          </a:p>
          <a:p>
            <a:pPr marL="0" indent="0">
              <a:buNone/>
            </a:pPr>
            <a:r>
              <a:rPr lang="en-US" altLang="en-US" sz="2000" dirty="0"/>
              <a:t>                         R0 register. Start with the character at the   </a:t>
            </a:r>
          </a:p>
          <a:p>
            <a:pPr marL="0" indent="0">
              <a:buNone/>
            </a:pPr>
            <a:r>
              <a:rPr lang="en-US" altLang="en-US" sz="2000" dirty="0"/>
              <a:t>                         address contained in R0.</a:t>
            </a:r>
          </a:p>
          <a:p>
            <a:pPr marL="0" indent="0">
              <a:buNone/>
            </a:pPr>
            <a:endParaRPr lang="en-US" altLang="en-US" sz="2000" dirty="0"/>
          </a:p>
          <a:p>
            <a:pPr marL="0" indent="0">
              <a:buNone/>
            </a:pPr>
            <a:r>
              <a:rPr lang="en-US" altLang="en-US" sz="2000" dirty="0"/>
              <a:t>HALT</a:t>
            </a:r>
          </a:p>
          <a:p>
            <a:pPr marL="0" indent="0">
              <a:buNone/>
            </a:pPr>
            <a:endParaRPr lang="en-US" altLang="en-US" sz="2000" dirty="0"/>
          </a:p>
          <a:p>
            <a:pPr marL="0" indent="0">
              <a:buNone/>
            </a:pPr>
            <a:r>
              <a:rPr lang="en-US" altLang="en-US" sz="2000" dirty="0"/>
              <a:t>HI </a:t>
            </a:r>
            <a:r>
              <a:rPr lang="en-US" altLang="en-US" sz="2000" b="1" dirty="0">
                <a:solidFill>
                  <a:srgbClr val="0070C0"/>
                </a:solidFill>
              </a:rPr>
              <a:t>.STRINGZ </a:t>
            </a:r>
            <a:r>
              <a:rPr lang="en-US" altLang="en-US" sz="2000" dirty="0"/>
              <a:t>"Hello World!\n" ; your message</a:t>
            </a:r>
          </a:p>
          <a:p>
            <a:pPr marL="0" indent="0">
              <a:buNone/>
            </a:pPr>
            <a:endParaRPr lang="en-US" altLang="en-US" sz="2000" dirty="0"/>
          </a:p>
          <a:p>
            <a:pPr marL="0" indent="0">
              <a:buNone/>
            </a:pPr>
            <a:r>
              <a:rPr lang="en-US" altLang="en-US" sz="2000" dirty="0"/>
              <a:t>.END ; code end</a:t>
            </a:r>
          </a:p>
        </p:txBody>
      </p:sp>
      <p:sp>
        <p:nvSpPr>
          <p:cNvPr id="2" name="Title 1">
            <a:extLst>
              <a:ext uri="{FF2B5EF4-FFF2-40B4-BE49-F238E27FC236}">
                <a16:creationId xmlns:a16="http://schemas.microsoft.com/office/drawing/2014/main" id="{C9EB0BE7-809B-2356-95AF-3DAA3C17EB9C}"/>
              </a:ext>
            </a:extLst>
          </p:cNvPr>
          <p:cNvSpPr>
            <a:spLocks noGrp="1"/>
          </p:cNvSpPr>
          <p:nvPr>
            <p:ph type="title"/>
          </p:nvPr>
        </p:nvSpPr>
        <p:spPr>
          <a:xfrm>
            <a:off x="476518" y="190500"/>
            <a:ext cx="11105882" cy="582613"/>
          </a:xfrm>
        </p:spPr>
        <p:txBody>
          <a:bodyPr/>
          <a:lstStyle/>
          <a:p>
            <a:r>
              <a:rPr lang="en-US" b="1" dirty="0"/>
              <a:t>Printing in LC3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D9E7B2-F841-13CB-5F37-DA4A6620913B}"/>
              </a:ext>
            </a:extLst>
          </p:cNvPr>
          <p:cNvSpPr>
            <a:spLocks noGrp="1"/>
          </p:cNvSpPr>
          <p:nvPr>
            <p:ph idx="1"/>
          </p:nvPr>
        </p:nvSpPr>
        <p:spPr/>
        <p:txBody>
          <a:bodyPr/>
          <a:lstStyle/>
          <a:p>
            <a:endParaRPr lang="en-US" dirty="0"/>
          </a:p>
          <a:p>
            <a:endParaRPr lang="en-US" dirty="0"/>
          </a:p>
          <a:p>
            <a:endParaRPr lang="en-US" dirty="0"/>
          </a:p>
          <a:p>
            <a:r>
              <a:rPr lang="en-US" sz="2800" dirty="0"/>
              <a:t>Load the VALUE from the ADDRESS specified by (R# + OFFSET) into register DR.</a:t>
            </a:r>
          </a:p>
          <a:p>
            <a:r>
              <a:rPr lang="en-US" sz="2800" dirty="0"/>
              <a:t>So, in the example above, get the value of R1, add decimal 4 to produce an address. THAT'S where you will read the value and store it into R2.</a:t>
            </a:r>
          </a:p>
          <a:p>
            <a:endParaRPr lang="en-EG" dirty="0"/>
          </a:p>
        </p:txBody>
      </p:sp>
      <p:sp>
        <p:nvSpPr>
          <p:cNvPr id="4" name="Rectangle 3">
            <a:extLst>
              <a:ext uri="{FF2B5EF4-FFF2-40B4-BE49-F238E27FC236}">
                <a16:creationId xmlns:a16="http://schemas.microsoft.com/office/drawing/2014/main" id="{0036B7C1-800F-592F-3056-2519D557AF80}"/>
              </a:ext>
            </a:extLst>
          </p:cNvPr>
          <p:cNvSpPr/>
          <p:nvPr/>
        </p:nvSpPr>
        <p:spPr bwMode="auto">
          <a:xfrm>
            <a:off x="3855720" y="1174750"/>
            <a:ext cx="4480560" cy="1550162"/>
          </a:xfrm>
          <a:prstGeom prst="rect">
            <a:avLst/>
          </a:prstGeom>
          <a:noFill/>
          <a:ln w="19050" cap="flat" cmpd="sng" algn="ctr">
            <a:solidFill>
              <a:srgbClr val="00B050"/>
            </a:solidFill>
            <a:prstDash val="solid"/>
            <a:round/>
            <a:headEnd type="none" w="med" len="med"/>
            <a:tailEnd type="none" w="med" len="med"/>
          </a:ln>
        </p:spPr>
        <p:txBody>
          <a:bodyPr vert="horz" wrap="none" lIns="91440" tIns="45720" rIns="91440" bIns="45720" numCol="1" rtlCol="0" anchor="ctr" anchorCtr="0" compatLnSpc="1"/>
          <a:lstStyle/>
          <a:p>
            <a:pPr marL="0" indent="0">
              <a:lnSpc>
                <a:spcPct val="150000"/>
              </a:lnSpc>
              <a:buNone/>
            </a:pPr>
            <a:r>
              <a:rPr lang="en-US" altLang="en-US" sz="1800" b="1" dirty="0">
                <a:solidFill>
                  <a:srgbClr val="00B050"/>
                </a:solidFill>
              </a:rPr>
              <a:t>LDR destination, base register, offset.</a:t>
            </a:r>
            <a:endParaRPr lang="en-US" b="1" dirty="0">
              <a:solidFill>
                <a:srgbClr val="00B050"/>
              </a:solidFill>
            </a:endParaRPr>
          </a:p>
          <a:p>
            <a:pPr marL="0" indent="0">
              <a:lnSpc>
                <a:spcPct val="150000"/>
              </a:lnSpc>
              <a:buNone/>
            </a:pPr>
            <a:r>
              <a:rPr lang="en-US" b="1" dirty="0">
                <a:solidFill>
                  <a:srgbClr val="0070C0"/>
                </a:solidFill>
              </a:rPr>
              <a:t>LDR DR, R#, offset</a:t>
            </a:r>
          </a:p>
          <a:p>
            <a:pPr marL="0" indent="0">
              <a:lnSpc>
                <a:spcPct val="150000"/>
              </a:lnSpc>
              <a:buNone/>
            </a:pPr>
            <a:r>
              <a:rPr lang="en-US" b="1" dirty="0">
                <a:solidFill>
                  <a:srgbClr val="0070C0"/>
                </a:solidFill>
              </a:rPr>
              <a:t>LDR R2, R1, #4</a:t>
            </a:r>
            <a:endParaRPr lang="en-US" sz="1800" b="1" dirty="0">
              <a:solidFill>
                <a:srgbClr val="0070C0"/>
              </a:solidFill>
            </a:endParaRPr>
          </a:p>
        </p:txBody>
      </p:sp>
      <p:sp>
        <p:nvSpPr>
          <p:cNvPr id="5" name="Title 1">
            <a:extLst>
              <a:ext uri="{FF2B5EF4-FFF2-40B4-BE49-F238E27FC236}">
                <a16:creationId xmlns:a16="http://schemas.microsoft.com/office/drawing/2014/main" id="{456522C2-AD0C-4E2C-8DD2-DC69D7D3AB10}"/>
              </a:ext>
            </a:extLst>
          </p:cNvPr>
          <p:cNvSpPr>
            <a:spLocks noGrp="1"/>
          </p:cNvSpPr>
          <p:nvPr>
            <p:ph type="title"/>
          </p:nvPr>
        </p:nvSpPr>
        <p:spPr>
          <a:xfrm>
            <a:off x="609600" y="190500"/>
            <a:ext cx="10972800" cy="582613"/>
          </a:xfrm>
        </p:spPr>
        <p:txBody>
          <a:bodyPr/>
          <a:lstStyle/>
          <a:p>
            <a:r>
              <a:rPr lang="en-US" b="1" dirty="0"/>
              <a:t>LDR ("Load relative")</a:t>
            </a:r>
            <a:endParaRPr lang="en-EG" b="1" dirty="0"/>
          </a:p>
        </p:txBody>
      </p:sp>
    </p:spTree>
    <p:extLst>
      <p:ext uri="{BB962C8B-B14F-4D97-AF65-F5344CB8AC3E}">
        <p14:creationId xmlns:p14="http://schemas.microsoft.com/office/powerpoint/2010/main" val="40568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0542-EEEF-D7D9-CE8A-405E721FF527}"/>
              </a:ext>
            </a:extLst>
          </p:cNvPr>
          <p:cNvSpPr>
            <a:spLocks noGrp="1"/>
          </p:cNvSpPr>
          <p:nvPr>
            <p:ph type="title"/>
          </p:nvPr>
        </p:nvSpPr>
        <p:spPr/>
        <p:txBody>
          <a:bodyPr/>
          <a:lstStyle/>
          <a:p>
            <a:r>
              <a:rPr lang="en-US" b="1" dirty="0"/>
              <a:t>STR ("Store relative")</a:t>
            </a:r>
            <a:endParaRPr lang="en-EG" dirty="0"/>
          </a:p>
        </p:txBody>
      </p:sp>
      <p:sp>
        <p:nvSpPr>
          <p:cNvPr id="3" name="Content Placeholder 2">
            <a:extLst>
              <a:ext uri="{FF2B5EF4-FFF2-40B4-BE49-F238E27FC236}">
                <a16:creationId xmlns:a16="http://schemas.microsoft.com/office/drawing/2014/main" id="{C9D6478A-5768-A0EE-3E69-38A737C38B19}"/>
              </a:ext>
            </a:extLst>
          </p:cNvPr>
          <p:cNvSpPr>
            <a:spLocks noGrp="1"/>
          </p:cNvSpPr>
          <p:nvPr>
            <p:ph idx="1"/>
          </p:nvPr>
        </p:nvSpPr>
        <p:spPr>
          <a:xfrm>
            <a:off x="609600" y="1174750"/>
            <a:ext cx="10972800" cy="4953000"/>
          </a:xfrm>
        </p:spPr>
        <p:txBody>
          <a:bodyPr/>
          <a:lstStyle/>
          <a:p>
            <a:pPr marL="0" indent="0">
              <a:buNone/>
            </a:pPr>
            <a:endParaRPr lang="en-US" b="1" dirty="0"/>
          </a:p>
          <a:p>
            <a:pPr marL="0" indent="0">
              <a:buNone/>
            </a:pPr>
            <a:endParaRPr lang="en-US" dirty="0"/>
          </a:p>
          <a:p>
            <a:pPr marL="0" indent="0">
              <a:buNone/>
            </a:pPr>
            <a:endParaRPr lang="en-US" sz="2800" dirty="0"/>
          </a:p>
          <a:p>
            <a:r>
              <a:rPr lang="en-US" sz="2800" dirty="0"/>
              <a:t>Store the VALUE from register SR to the ADDRESS specified by (R# + OFFSET).</a:t>
            </a:r>
          </a:p>
          <a:p>
            <a:r>
              <a:rPr lang="en-US" sz="2800" dirty="0"/>
              <a:t>in the example above, get the value of R1, add decimal 4 to produce an address. THAT'S where you will store the contents of R0.</a:t>
            </a:r>
          </a:p>
          <a:p>
            <a:endParaRPr lang="en-EG" dirty="0"/>
          </a:p>
        </p:txBody>
      </p:sp>
      <p:sp>
        <p:nvSpPr>
          <p:cNvPr id="4" name="Rectangle 3">
            <a:extLst>
              <a:ext uri="{FF2B5EF4-FFF2-40B4-BE49-F238E27FC236}">
                <a16:creationId xmlns:a16="http://schemas.microsoft.com/office/drawing/2014/main" id="{77BBC87F-D29D-C640-CAB7-BDC7FE0FD989}"/>
              </a:ext>
            </a:extLst>
          </p:cNvPr>
          <p:cNvSpPr/>
          <p:nvPr/>
        </p:nvSpPr>
        <p:spPr bwMode="auto">
          <a:xfrm>
            <a:off x="3986784" y="1179068"/>
            <a:ext cx="3822192" cy="1188720"/>
          </a:xfrm>
          <a:prstGeom prst="rect">
            <a:avLst/>
          </a:prstGeom>
          <a:noFill/>
          <a:ln w="19050" cap="flat" cmpd="sng" algn="ctr">
            <a:solidFill>
              <a:srgbClr val="00B050"/>
            </a:solidFill>
            <a:prstDash val="solid"/>
            <a:round/>
            <a:headEnd type="none" w="med" len="med"/>
            <a:tailEnd type="none" w="med" len="med"/>
          </a:ln>
        </p:spPr>
        <p:txBody>
          <a:bodyPr vert="horz" wrap="none" lIns="91440" tIns="45720" rIns="91440" bIns="45720" numCol="1" rtlCol="0" anchor="ctr" anchorCtr="0" compatLnSpc="1"/>
          <a:lstStyle/>
          <a:p>
            <a:pPr marL="0" indent="0">
              <a:buNone/>
            </a:pPr>
            <a:r>
              <a:rPr lang="en-US" b="1" dirty="0">
                <a:solidFill>
                  <a:srgbClr val="00B050"/>
                </a:solidFill>
              </a:rPr>
              <a:t>STR source, base register, offset</a:t>
            </a:r>
            <a:endParaRPr lang="en-US" sz="1800" b="1" dirty="0">
              <a:solidFill>
                <a:srgbClr val="00B050"/>
              </a:solidFill>
            </a:endParaRPr>
          </a:p>
          <a:p>
            <a:pPr marL="0" indent="0">
              <a:buNone/>
            </a:pPr>
            <a:r>
              <a:rPr lang="en-US" sz="1800" b="1" dirty="0">
                <a:solidFill>
                  <a:srgbClr val="0070C0"/>
                </a:solidFill>
              </a:rPr>
              <a:t>STR SR, R#, address</a:t>
            </a:r>
          </a:p>
          <a:p>
            <a:pPr marL="0" indent="0">
              <a:buNone/>
            </a:pPr>
            <a:r>
              <a:rPr lang="en-US" sz="1800" b="1" dirty="0">
                <a:solidFill>
                  <a:srgbClr val="0070C0"/>
                </a:solidFill>
              </a:rPr>
              <a:t>STR R0, R1, #4</a:t>
            </a:r>
          </a:p>
        </p:txBody>
      </p:sp>
    </p:spTree>
    <p:extLst>
      <p:ext uri="{BB962C8B-B14F-4D97-AF65-F5344CB8AC3E}">
        <p14:creationId xmlns:p14="http://schemas.microsoft.com/office/powerpoint/2010/main" val="169190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5E11-2F87-C6E1-32FE-363BAC63BC3B}"/>
              </a:ext>
            </a:extLst>
          </p:cNvPr>
          <p:cNvSpPr>
            <a:spLocks noGrp="1"/>
          </p:cNvSpPr>
          <p:nvPr>
            <p:ph type="title"/>
          </p:nvPr>
        </p:nvSpPr>
        <p:spPr/>
        <p:txBody>
          <a:bodyPr/>
          <a:lstStyle/>
          <a:p>
            <a:r>
              <a:rPr lang="en-EG" sz="4000" b="1" dirty="0"/>
              <a:t>Arrays</a:t>
            </a:r>
          </a:p>
        </p:txBody>
      </p:sp>
      <p:sp>
        <p:nvSpPr>
          <p:cNvPr id="3" name="Content Placeholder 2">
            <a:extLst>
              <a:ext uri="{FF2B5EF4-FFF2-40B4-BE49-F238E27FC236}">
                <a16:creationId xmlns:a16="http://schemas.microsoft.com/office/drawing/2014/main" id="{E8ED303D-DDED-03D8-EC41-450C8DD0DBDB}"/>
              </a:ext>
            </a:extLst>
          </p:cNvPr>
          <p:cNvSpPr>
            <a:spLocks noGrp="1"/>
          </p:cNvSpPr>
          <p:nvPr>
            <p:ph idx="1"/>
          </p:nvPr>
        </p:nvSpPr>
        <p:spPr/>
        <p:txBody>
          <a:bodyPr/>
          <a:lstStyle/>
          <a:p>
            <a:pPr marL="0" indent="0">
              <a:buNone/>
            </a:pPr>
            <a:r>
              <a:rPr lang="en-US" sz="2000" dirty="0"/>
              <a:t>.ORIG x3000</a:t>
            </a:r>
          </a:p>
          <a:p>
            <a:pPr marL="0" indent="0">
              <a:buNone/>
            </a:pPr>
            <a:endParaRPr lang="en-US" sz="2000" dirty="0"/>
          </a:p>
          <a:p>
            <a:pPr marL="0" indent="0">
              <a:buNone/>
            </a:pPr>
            <a:r>
              <a:rPr lang="en-US" sz="2000" b="1" dirty="0">
                <a:solidFill>
                  <a:srgbClr val="0070C0"/>
                </a:solidFill>
              </a:rPr>
              <a:t>LEA</a:t>
            </a:r>
            <a:r>
              <a:rPr lang="en-US" sz="2000" dirty="0"/>
              <a:t> R1, ARR      ; R1 = address of first element</a:t>
            </a:r>
            <a:endParaRPr lang="en-US" sz="2000" b="1" dirty="0">
              <a:solidFill>
                <a:srgbClr val="00B050"/>
              </a:solidFill>
            </a:endParaRPr>
          </a:p>
          <a:p>
            <a:pPr marL="0" indent="0">
              <a:buNone/>
            </a:pPr>
            <a:r>
              <a:rPr lang="en-US" sz="2000" b="1" dirty="0">
                <a:solidFill>
                  <a:srgbClr val="0070C0"/>
                </a:solidFill>
              </a:rPr>
              <a:t>LDR</a:t>
            </a:r>
            <a:r>
              <a:rPr lang="en-US" sz="2000" dirty="0"/>
              <a:t> R2, R1, #0   ; R2 = ARR[0] (first element).</a:t>
            </a:r>
          </a:p>
          <a:p>
            <a:pPr marL="0" indent="0">
              <a:buNone/>
            </a:pPr>
            <a:r>
              <a:rPr lang="en-US" sz="2000" dirty="0"/>
              <a:t>LDR R3, R1, #1   ; R2 = ARR[1] (second element)</a:t>
            </a:r>
          </a:p>
          <a:p>
            <a:pPr marL="0" indent="0">
              <a:buNone/>
            </a:pPr>
            <a:r>
              <a:rPr lang="en-US" sz="2000" dirty="0"/>
              <a:t>LDR R4, R1, #2   ; R2 = ARR[1] (third element)</a:t>
            </a:r>
          </a:p>
          <a:p>
            <a:pPr marL="0" indent="0">
              <a:buNone/>
            </a:pPr>
            <a:endParaRPr lang="en-US" sz="2000" dirty="0"/>
          </a:p>
          <a:p>
            <a:pPr marL="0" indent="0">
              <a:buNone/>
            </a:pPr>
            <a:r>
              <a:rPr lang="en-US" sz="2000" dirty="0"/>
              <a:t>HALT</a:t>
            </a:r>
          </a:p>
          <a:p>
            <a:pPr marL="0" indent="0">
              <a:buNone/>
            </a:pPr>
            <a:endParaRPr lang="en-US" sz="2000" dirty="0"/>
          </a:p>
          <a:p>
            <a:pPr marL="0" indent="0">
              <a:buNone/>
            </a:pPr>
            <a:r>
              <a:rPr lang="en-US" sz="2000" b="1" dirty="0">
                <a:solidFill>
                  <a:srgbClr val="0070C0"/>
                </a:solidFill>
              </a:rPr>
              <a:t>ARR .FILL #5</a:t>
            </a:r>
          </a:p>
          <a:p>
            <a:pPr marL="0" indent="0">
              <a:buNone/>
            </a:pPr>
            <a:r>
              <a:rPr lang="en-US" sz="2000" b="1" dirty="0">
                <a:solidFill>
                  <a:srgbClr val="0070C0"/>
                </a:solidFill>
              </a:rPr>
              <a:t>         .FILL #10</a:t>
            </a:r>
          </a:p>
          <a:p>
            <a:pPr marL="0" indent="0">
              <a:buNone/>
            </a:pPr>
            <a:r>
              <a:rPr lang="en-US" sz="2000" b="1" dirty="0">
                <a:solidFill>
                  <a:srgbClr val="0070C0"/>
                </a:solidFill>
              </a:rPr>
              <a:t>         .FILL #15</a:t>
            </a:r>
          </a:p>
          <a:p>
            <a:pPr marL="0" indent="0">
              <a:buNone/>
            </a:pPr>
            <a:endParaRPr lang="en-US" sz="2000" dirty="0"/>
          </a:p>
          <a:p>
            <a:pPr marL="0" indent="0">
              <a:buNone/>
            </a:pPr>
            <a:r>
              <a:rPr lang="en-US" sz="2000" dirty="0"/>
              <a:t>.END</a:t>
            </a:r>
            <a:endParaRPr lang="en-EG" sz="2000" dirty="0"/>
          </a:p>
        </p:txBody>
      </p:sp>
    </p:spTree>
    <p:extLst>
      <p:ext uri="{BB962C8B-B14F-4D97-AF65-F5344CB8AC3E}">
        <p14:creationId xmlns:p14="http://schemas.microsoft.com/office/powerpoint/2010/main" val="3311200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89A4-1BA5-9C52-D60C-6031D3B95F20}"/>
              </a:ext>
            </a:extLst>
          </p:cNvPr>
          <p:cNvSpPr>
            <a:spLocks noGrp="1"/>
          </p:cNvSpPr>
          <p:nvPr>
            <p:ph type="title"/>
          </p:nvPr>
        </p:nvSpPr>
        <p:spPr/>
        <p:txBody>
          <a:bodyPr/>
          <a:lstStyle/>
          <a:p>
            <a:r>
              <a:rPr lang="en-US" b="1" dirty="0"/>
              <a:t>LDI (Load Indirect Address)</a:t>
            </a:r>
            <a:endParaRPr lang="en-EG" b="1" dirty="0"/>
          </a:p>
        </p:txBody>
      </p:sp>
      <p:sp>
        <p:nvSpPr>
          <p:cNvPr id="3" name="Content Placeholder 2">
            <a:extLst>
              <a:ext uri="{FF2B5EF4-FFF2-40B4-BE49-F238E27FC236}">
                <a16:creationId xmlns:a16="http://schemas.microsoft.com/office/drawing/2014/main" id="{A3B096E8-C405-348C-A142-68AFC78EEB9E}"/>
              </a:ext>
            </a:extLst>
          </p:cNvPr>
          <p:cNvSpPr>
            <a:spLocks noGrp="1"/>
          </p:cNvSpPr>
          <p:nvPr>
            <p:ph idx="1"/>
          </p:nvPr>
        </p:nvSpPr>
        <p:spPr/>
        <p:txBody>
          <a:bodyPr/>
          <a:lstStyle/>
          <a:p>
            <a:endParaRPr lang="en-US" dirty="0"/>
          </a:p>
          <a:p>
            <a:pPr marL="0" indent="0">
              <a:buNone/>
            </a:pPr>
            <a:endParaRPr lang="en-US" dirty="0"/>
          </a:p>
          <a:p>
            <a:r>
              <a:rPr lang="en-US" dirty="0"/>
              <a:t>Get the address that is stored at LABEL (or an offset), and then get the VALUE at THAT address (this is the indirect part).</a:t>
            </a:r>
          </a:p>
          <a:p>
            <a:r>
              <a:rPr lang="en-US" dirty="0"/>
              <a:t>R# = Mem[ Mem[address] ]</a:t>
            </a:r>
            <a:endParaRPr lang="en-EG" dirty="0"/>
          </a:p>
        </p:txBody>
      </p:sp>
      <p:sp>
        <p:nvSpPr>
          <p:cNvPr id="4" name="Rectangle 3">
            <a:extLst>
              <a:ext uri="{FF2B5EF4-FFF2-40B4-BE49-F238E27FC236}">
                <a16:creationId xmlns:a16="http://schemas.microsoft.com/office/drawing/2014/main" id="{67147140-9610-346E-7150-8F5CB57D7A1E}"/>
              </a:ext>
            </a:extLst>
          </p:cNvPr>
          <p:cNvSpPr/>
          <p:nvPr/>
        </p:nvSpPr>
        <p:spPr bwMode="auto">
          <a:xfrm>
            <a:off x="7370064" y="3429000"/>
            <a:ext cx="4212336" cy="3020314"/>
          </a:xfrm>
          <a:prstGeom prst="rect">
            <a:avLst/>
          </a:prstGeom>
          <a:noFill/>
          <a:ln w="19050"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50000"/>
              </a:lnSpc>
              <a:spcBef>
                <a:spcPct val="0"/>
              </a:spcBef>
              <a:spcAft>
                <a:spcPct val="0"/>
              </a:spcAft>
              <a:buClrTx/>
              <a:buSzTx/>
              <a:buFontTx/>
              <a:buNone/>
            </a:pPr>
            <a:r>
              <a:rPr lang="en-US" b="1" dirty="0">
                <a:solidFill>
                  <a:srgbClr val="0070C0"/>
                </a:solidFill>
              </a:rPr>
              <a:t>.ORIG x3000</a:t>
            </a:r>
            <a:br>
              <a:rPr lang="en-US" b="1" dirty="0">
                <a:solidFill>
                  <a:srgbClr val="0070C0"/>
                </a:solidFill>
              </a:rPr>
            </a:br>
            <a:r>
              <a:rPr lang="en-US" b="1" dirty="0">
                <a:solidFill>
                  <a:srgbClr val="0070C0"/>
                </a:solidFill>
              </a:rPr>
              <a:t>LDI R0, PTR</a:t>
            </a:r>
            <a:br>
              <a:rPr lang="en-US" b="1" dirty="0">
                <a:solidFill>
                  <a:srgbClr val="0070C0"/>
                </a:solidFill>
              </a:rPr>
            </a:br>
            <a:r>
              <a:rPr lang="en-US" b="1" dirty="0">
                <a:solidFill>
                  <a:srgbClr val="0070C0"/>
                </a:solidFill>
              </a:rPr>
              <a:t>HALT</a:t>
            </a:r>
            <a:br>
              <a:rPr lang="en-US" b="1" dirty="0">
                <a:solidFill>
                  <a:srgbClr val="0070C0"/>
                </a:solidFill>
              </a:rPr>
            </a:br>
            <a:r>
              <a:rPr lang="en-US" b="1" dirty="0">
                <a:solidFill>
                  <a:srgbClr val="0070C0"/>
                </a:solidFill>
              </a:rPr>
              <a:t>PTR .FILL x4000 ; </a:t>
            </a:r>
            <a:r>
              <a:rPr lang="ar-EG" b="1" dirty="0">
                <a:solidFill>
                  <a:srgbClr val="0070C0"/>
                </a:solidFill>
              </a:rPr>
              <a:t>فيه عنوان</a:t>
            </a:r>
            <a:br>
              <a:rPr lang="ar-EG" b="1" dirty="0">
                <a:solidFill>
                  <a:srgbClr val="0070C0"/>
                </a:solidFill>
              </a:rPr>
            </a:br>
            <a:r>
              <a:rPr lang="ar-EG" b="1" dirty="0">
                <a:solidFill>
                  <a:srgbClr val="0070C0"/>
                </a:solidFill>
              </a:rPr>
              <a:t>.</a:t>
            </a:r>
            <a:r>
              <a:rPr lang="en-US" b="1" dirty="0">
                <a:solidFill>
                  <a:srgbClr val="0070C0"/>
                </a:solidFill>
              </a:rPr>
              <a:t>END</a:t>
            </a:r>
          </a:p>
          <a:p>
            <a:pPr marL="0" marR="0" indent="0" algn="l" defTabSz="914400" rtl="0" eaLnBrk="1" fontAlgn="base" latinLnBrk="0" hangingPunct="1">
              <a:lnSpc>
                <a:spcPct val="100000"/>
              </a:lnSpc>
              <a:spcBef>
                <a:spcPct val="0"/>
              </a:spcBef>
              <a:spcAft>
                <a:spcPct val="0"/>
              </a:spcAft>
              <a:buClrTx/>
              <a:buSzTx/>
              <a:buFontTx/>
              <a:buNone/>
            </a:pPr>
            <a:endParaRPr lang="en-US" b="1" dirty="0">
              <a:solidFill>
                <a:srgbClr val="0070C0"/>
              </a:solidFill>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lang="en-US" b="1" dirty="0">
                <a:solidFill>
                  <a:srgbClr val="0070C0"/>
                </a:solidFill>
              </a:rPr>
              <a:t>&gt;&gt; x4000 .FILL #10 &lt;&lt;&lt;</a:t>
            </a:r>
            <a:endParaRPr kumimoji="0" lang="en-EG" sz="1800" b="1" i="0" u="none" strike="noStrike" cap="none" normalizeH="0" baseline="0" dirty="0">
              <a:ln>
                <a:noFill/>
              </a:ln>
              <a:solidFill>
                <a:srgbClr val="0070C0"/>
              </a:solidFill>
              <a:effectLst/>
              <a:latin typeface="Arial" panose="020B0604020202020204" pitchFamily="34" charset="0"/>
              <a:ea typeface="SimSun" panose="02010600030101010101" pitchFamily="2" charset="-122"/>
            </a:endParaRPr>
          </a:p>
        </p:txBody>
      </p:sp>
      <p:sp>
        <p:nvSpPr>
          <p:cNvPr id="5" name="Rectangle 4">
            <a:extLst>
              <a:ext uri="{FF2B5EF4-FFF2-40B4-BE49-F238E27FC236}">
                <a16:creationId xmlns:a16="http://schemas.microsoft.com/office/drawing/2014/main" id="{11AA65A6-FF40-4725-C898-1AA44D14F626}"/>
              </a:ext>
            </a:extLst>
          </p:cNvPr>
          <p:cNvSpPr/>
          <p:nvPr/>
        </p:nvSpPr>
        <p:spPr bwMode="auto">
          <a:xfrm>
            <a:off x="4242816" y="1391603"/>
            <a:ext cx="3127248" cy="418909"/>
          </a:xfrm>
          <a:prstGeom prst="rect">
            <a:avLst/>
          </a:prstGeom>
          <a:no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400" b="1" dirty="0">
                <a:solidFill>
                  <a:srgbClr val="00B050"/>
                </a:solidFill>
              </a:rPr>
              <a:t>LDI R#, address</a:t>
            </a:r>
            <a:endParaRPr kumimoji="0" lang="en-EG" sz="2400" b="1" i="0" u="none" strike="noStrike" cap="none" normalizeH="0" baseline="0" dirty="0">
              <a:ln>
                <a:noFill/>
              </a:ln>
              <a:solidFill>
                <a:srgbClr val="00B050"/>
              </a:solidFill>
              <a:effectLst/>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906944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A916-0752-BFAC-7895-159C88869A4B}"/>
              </a:ext>
            </a:extLst>
          </p:cNvPr>
          <p:cNvSpPr>
            <a:spLocks noGrp="1"/>
          </p:cNvSpPr>
          <p:nvPr>
            <p:ph type="title"/>
          </p:nvPr>
        </p:nvSpPr>
        <p:spPr/>
        <p:txBody>
          <a:bodyPr/>
          <a:lstStyle/>
          <a:p>
            <a:r>
              <a:rPr lang="en-US" b="1" dirty="0"/>
              <a:t>LDI (example)</a:t>
            </a:r>
            <a:endParaRPr lang="en-EG" dirty="0"/>
          </a:p>
        </p:txBody>
      </p:sp>
      <p:sp>
        <p:nvSpPr>
          <p:cNvPr id="3" name="Content Placeholder 2">
            <a:extLst>
              <a:ext uri="{FF2B5EF4-FFF2-40B4-BE49-F238E27FC236}">
                <a16:creationId xmlns:a16="http://schemas.microsoft.com/office/drawing/2014/main" id="{12E4F9D2-98FC-1B3C-4E96-9443295D96A4}"/>
              </a:ext>
            </a:extLst>
          </p:cNvPr>
          <p:cNvSpPr>
            <a:spLocks noGrp="1"/>
          </p:cNvSpPr>
          <p:nvPr>
            <p:ph idx="1"/>
          </p:nvPr>
        </p:nvSpPr>
        <p:spPr/>
        <p:txBody>
          <a:bodyPr/>
          <a:lstStyle/>
          <a:p>
            <a:pPr marL="0" indent="0">
              <a:buNone/>
            </a:pPr>
            <a:r>
              <a:rPr lang="en-US" dirty="0"/>
              <a:t>.ORIG x3000</a:t>
            </a:r>
          </a:p>
          <a:p>
            <a:pPr marL="400050" lvl="1" indent="0">
              <a:buNone/>
            </a:pPr>
            <a:r>
              <a:rPr lang="en-US" dirty="0">
                <a:solidFill>
                  <a:srgbClr val="0070C0"/>
                </a:solidFill>
              </a:rPr>
              <a:t>LDI</a:t>
            </a:r>
            <a:r>
              <a:rPr lang="en-US" dirty="0"/>
              <a:t> R1, PTR   ; load indirectly</a:t>
            </a:r>
          </a:p>
          <a:p>
            <a:pPr marL="400050" lvl="1" indent="0">
              <a:buNone/>
            </a:pPr>
            <a:r>
              <a:rPr lang="en-US" dirty="0"/>
              <a:t>HALT</a:t>
            </a:r>
          </a:p>
          <a:p>
            <a:pPr marL="0" indent="0">
              <a:buNone/>
            </a:pPr>
            <a:endParaRPr lang="en-US" dirty="0"/>
          </a:p>
          <a:p>
            <a:pPr marL="400050" lvl="1" indent="0">
              <a:buNone/>
            </a:pPr>
            <a:r>
              <a:rPr lang="en-US" dirty="0"/>
              <a:t>PTR   .FILL DATA   ; PTR contains address of DATA</a:t>
            </a:r>
          </a:p>
          <a:p>
            <a:pPr marL="400050" lvl="1" indent="0">
              <a:buNone/>
            </a:pPr>
            <a:r>
              <a:rPr lang="en-US" dirty="0"/>
              <a:t>DATA  .FILL #7    ; actual value</a:t>
            </a:r>
          </a:p>
          <a:p>
            <a:pPr marL="0" indent="0">
              <a:buNone/>
            </a:pPr>
            <a:endParaRPr lang="en-US" dirty="0"/>
          </a:p>
          <a:p>
            <a:pPr marL="0" indent="0">
              <a:buNone/>
            </a:pPr>
            <a:r>
              <a:rPr lang="en-US" dirty="0"/>
              <a:t>.END</a:t>
            </a:r>
            <a:endParaRPr lang="en-EG" dirty="0"/>
          </a:p>
        </p:txBody>
      </p:sp>
    </p:spTree>
    <p:extLst>
      <p:ext uri="{BB962C8B-B14F-4D97-AF65-F5344CB8AC3E}">
        <p14:creationId xmlns:p14="http://schemas.microsoft.com/office/powerpoint/2010/main" val="486452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4250"/>
          </a:xfrm>
        </p:spPr>
        <p:txBody>
          <a:bodyPr/>
          <a:lstStyle/>
          <a:p>
            <a:r>
              <a:rPr lang="en-US" b="1" dirty="0"/>
              <a:t>Super program </a:t>
            </a:r>
            <a:r>
              <a:rPr lang="en-US" b="1" dirty="0">
                <a:sym typeface="Wingdings" pitchFamily="2" charset="2"/>
              </a:rPr>
              <a:t></a:t>
            </a:r>
            <a:endParaRPr lang="en-US" b="1" dirty="0"/>
          </a:p>
        </p:txBody>
      </p:sp>
      <p:sp>
        <p:nvSpPr>
          <p:cNvPr id="3" name="Content Placeholder 2"/>
          <p:cNvSpPr>
            <a:spLocks noGrp="1"/>
          </p:cNvSpPr>
          <p:nvPr>
            <p:ph idx="1"/>
          </p:nvPr>
        </p:nvSpPr>
        <p:spPr>
          <a:xfrm>
            <a:off x="938784" y="1179068"/>
            <a:ext cx="10972800" cy="4953000"/>
          </a:xfrm>
        </p:spPr>
        <p:txBody>
          <a:bodyPr/>
          <a:lstStyle/>
          <a:p>
            <a:pPr marL="0" indent="0">
              <a:buNone/>
            </a:pPr>
            <a:r>
              <a:rPr lang="en-US" altLang="en-US" sz="3600" dirty="0"/>
              <a:t>Suppose we know that the 12 locations x3100 </a:t>
            </a:r>
          </a:p>
          <a:p>
            <a:pPr marL="0" indent="0">
              <a:buNone/>
            </a:pPr>
            <a:r>
              <a:rPr lang="en-US" altLang="en-US" sz="3600" dirty="0"/>
              <a:t>to x310B contain integers, and we wish to </a:t>
            </a:r>
          </a:p>
          <a:p>
            <a:pPr marL="0" indent="0">
              <a:buNone/>
            </a:pPr>
            <a:r>
              <a:rPr lang="en-US" altLang="en-US" sz="3600" dirty="0"/>
              <a:t>compute the sum of these 12 integers</a:t>
            </a:r>
            <a:r>
              <a:rPr lang="en-US" altLang="en-US" sz="3600" b="1"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 (169)"/>
          <p:cNvPicPr>
            <a:picLocks noGrp="1" noChangeAspect="1"/>
          </p:cNvPicPr>
          <p:nvPr>
            <p:ph idx="1"/>
          </p:nvPr>
        </p:nvPicPr>
        <p:blipFill>
          <a:blip r:embed="rId2"/>
          <a:srcRect l="19938" t="28718" r="20825" b="16269"/>
          <a:stretch>
            <a:fillRect/>
          </a:stretch>
        </p:blipFill>
        <p:spPr>
          <a:xfrm>
            <a:off x="460375" y="210378"/>
            <a:ext cx="10588625" cy="5529580"/>
          </a:xfrm>
          <a:prstGeom prst="rect">
            <a:avLst/>
          </a:prstGeom>
        </p:spPr>
      </p:pic>
      <p:sp>
        <p:nvSpPr>
          <p:cNvPr id="3" name="Rectangles 2"/>
          <p:cNvSpPr/>
          <p:nvPr/>
        </p:nvSpPr>
        <p:spPr>
          <a:xfrm>
            <a:off x="1388110" y="5971540"/>
            <a:ext cx="7899400" cy="603885"/>
          </a:xfrm>
          <a:prstGeom prst="rect">
            <a:avLst/>
          </a:prstGeom>
          <a:noFill/>
          <a:ln w="44450" cap="flat" cmpd="sng" algn="ctr">
            <a:solidFill>
              <a:srgbClr val="FF0000"/>
            </a:solidFill>
            <a:prstDash val="sysDot"/>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en-US" sz="2400">
                <a:sym typeface="+mn-ea"/>
              </a:rPr>
              <a:t>ADD R1, R1, x0  ; Increment pointer to next data item</a:t>
            </a:r>
            <a:endParaRPr kumimoji="0" lang="en-US" altLang="en-US" sz="2400" b="0" i="0" u="none" strike="noStrike" cap="none" normalizeH="0" baseline="0">
              <a:ln>
                <a:noFill/>
              </a:ln>
              <a:solidFill>
                <a:schemeClr val="tx1"/>
              </a:solidFill>
              <a:effectLst/>
              <a:latin typeface="Arial" panose="020B0604020202020204" pitchFamily="34" charset="0"/>
              <a:ea typeface="SimSun"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4395</TotalTime>
  <Words>1999</Words>
  <Application>Microsoft Macintosh PowerPoint</Application>
  <PresentationFormat>Widescreen</PresentationFormat>
  <Paragraphs>296</Paragraphs>
  <Slides>37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Arial</vt:lpstr>
      <vt:lpstr>Wingdings</vt:lpstr>
      <vt:lpstr>Gear Drives</vt:lpstr>
      <vt:lpstr>Assembly LC-3 program </vt:lpstr>
      <vt:lpstr>Link to download the program</vt:lpstr>
      <vt:lpstr>ISA</vt:lpstr>
      <vt:lpstr>LC-3 Assembly Language Instruction  </vt:lpstr>
      <vt:lpstr>LC-3 Assembly Language Instruction  </vt:lpstr>
      <vt:lpstr>EXAMPLE</vt:lpstr>
      <vt:lpstr>Data Directives in LC-3</vt:lpstr>
      <vt:lpstr>Data Directives in LC-3</vt:lpstr>
      <vt:lpstr>instruction lc3</vt:lpstr>
      <vt:lpstr>PowerPoint Presentation</vt:lpstr>
      <vt:lpstr>Small Program</vt:lpstr>
      <vt:lpstr>page 7-11 pdf </vt:lpstr>
      <vt:lpstr>Task </vt:lpstr>
      <vt:lpstr>Description of SUB Operation in LC-3</vt:lpstr>
      <vt:lpstr>PowerPoint Presentation</vt:lpstr>
      <vt:lpstr>IF statement in LC-3</vt:lpstr>
      <vt:lpstr>IF example</vt:lpstr>
      <vt:lpstr>PowerPoint Presentation</vt:lpstr>
      <vt:lpstr>PowerPoint Presentation</vt:lpstr>
      <vt:lpstr>PowerPoint Presentation</vt:lpstr>
      <vt:lpstr>PowerPoint Presentation</vt:lpstr>
      <vt:lpstr>PowerPoint Presentation</vt:lpstr>
      <vt:lpstr>Loops:</vt:lpstr>
      <vt:lpstr>LOOP: Compute 4*5</vt:lpstr>
      <vt:lpstr>PowerPoint Presentation</vt:lpstr>
      <vt:lpstr>Convert this program to LC-3 </vt:lpstr>
      <vt:lpstr>PowerPoint Presentation</vt:lpstr>
      <vt:lpstr>LC-3 can access memory in three different ways, using different addressing modes to:   - Load addresses (LEA)   - Store or fetch values using base registers (STR)/ LDR   - Follow pointers stored in memory (LDI)</vt:lpstr>
      <vt:lpstr>PowerPoint Presentation</vt:lpstr>
      <vt:lpstr>Printing in LC3</vt:lpstr>
      <vt:lpstr>LDR ("Load relative")</vt:lpstr>
      <vt:lpstr>STR ("Store relative")</vt:lpstr>
      <vt:lpstr>Arrays</vt:lpstr>
      <vt:lpstr>LDI (Load Indirect Address)</vt:lpstr>
      <vt:lpstr>LDI (example)</vt:lpstr>
      <vt:lpstr>Super program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Assembly</dc:title>
  <dc:creator/>
  <cp:lastModifiedBy>Nagwa Reda</cp:lastModifiedBy>
  <cp:revision>29</cp:revision>
  <dcterms:created xsi:type="dcterms:W3CDTF">2024-04-28T20:22:00Z</dcterms:created>
  <dcterms:modified xsi:type="dcterms:W3CDTF">2026-04-09T14:15:25Z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DCEF578BC5904E34A7C0F3C29AD1435E_11</vt:lpwstr>
  </property>
  <property fmtid="{D5CDD505-2E9C-101B-9397-08002B2CF9AE}" pid="3" name="KSOProductBuildVer">
    <vt:lpwstr>1033-12.2.0.20795</vt:lpwstr>
  </property>
</Properties>
</file>