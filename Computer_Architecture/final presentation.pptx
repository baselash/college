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8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 /><Relationship Id="rId44" Type="http://schemas.openxmlformats.org/officeDocument/2006/relationships/tableStyles" Target="tableStyles.xml" /><Relationship Id="rId4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4815E4-AFF4-F37B-7654-FAB90AFEEF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159DA9-DEE3-EF88-30FD-E46D754EB9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370FB8-4436-D8B5-2364-6C14F6B93C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27AFC-D1AA-55BF-2A3F-D4EFA73AC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FFB34-DC5A-8E0A-92B2-BEEBC948C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18D435-8718-1F73-7F86-EBE8BE2976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BC4F39-BB2E-B965-F4E6-D4AC9563CD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FDC881-86DE-532D-2F1C-8F0E0DD886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AC40E1-AB19-51F0-49F3-5F934479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DCB7D8-B454-D847-4658-11509E313F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1B994A-04CF-E066-534B-4F6C27F32D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37A0AF-CE5C-E6E2-4B74-5399C5BA9E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855F95-4A8C-DE1E-2A1E-352BDC487E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E0D52F-55C2-0380-9AB7-328769EE4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99F320-BE8A-173D-2D0E-64FEB5B051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C53AE1-99FF-C903-68CF-9D4D6036A7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723D52-64AF-7DE4-B54C-12203D03E8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088713-5AAC-F490-0CE3-E955955055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C5161-1247-B0FA-A83D-62FB7E77EA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FE331E-2B1F-EF1C-2248-C02A0C929B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675015-B2CF-3CBC-EA39-8A94D2F35D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9B210F-6BBD-FCC3-78BF-754C183F78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8D1B8-3490-320A-BDD7-961CC3CCC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37EBEC-F59A-4300-2035-FE88EBB9FB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8CC815-EA24-614A-CBF9-10819FC63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F18CCF-EC95-9312-5BD9-F34AEEE7F4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11EEA9-00F3-524F-AA58-C8BC44CC04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F094F6-4C0A-4E9D-ED6E-6E487DC355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9E2C13-BA32-807F-46EC-0EBCA5536C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3896C4-078C-35F4-F075-A798B7F712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CCEE52-503F-307C-378B-6D1561A61C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53A32-C33E-6EB2-6486-FCBAFCDAA6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B3926F-2295-2016-B340-FEBEBAFF3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8B2EA9-4126-21BD-0126-1FE7D77FA7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F4CD94-D2CB-A234-955C-5899BE825B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3B5652-4D44-EBC1-E09C-0A61E1406E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DA5B13-332C-C371-93EE-BD65AE7705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573FAC-52BC-B683-7F99-E08EDC5C65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870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43681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412690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415373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45299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1880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23239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10523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49102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51213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9549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64835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64738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3563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22883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42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070774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42379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85470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958123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24939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269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23289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66786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59504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548420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167959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981981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1810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8105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270923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685747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14236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93589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6710325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43840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60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497575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52381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51712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626829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63029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2297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239324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128992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33629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870644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52059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4295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137496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814069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46351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9641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7147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295919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0765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943189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82512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2982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921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1160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142040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828525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media1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png"/><Relationship Id="rId6" Type="http://schemas.openxmlformats.org/officeDocument/2006/relationships/image" Target="../media/media2.sv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5.png"/><Relationship Id="rId6" Type="http://schemas.openxmlformats.org/officeDocument/2006/relationships/image" Target="../media/media3.sv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image" Target="../media/media4.svg"/><Relationship Id="rId7" Type="http://schemas.openxmlformats.org/officeDocument/2006/relationships/image" Target="../media/image7.png"/><Relationship Id="rId8" Type="http://schemas.openxmlformats.org/officeDocument/2006/relationships/image" Target="../media/media5.sv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0.png"/><Relationship Id="rId6" Type="http://schemas.openxmlformats.org/officeDocument/2006/relationships/image" Target="../media/media6.sv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media7.sv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media8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media9.sv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7.png"/><Relationship Id="rId6" Type="http://schemas.openxmlformats.org/officeDocument/2006/relationships/image" Target="../media/media10.sv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9534429" name="Group 2"/>
          <p:cNvGrpSpPr/>
          <p:nvPr/>
        </p:nvGrpSpPr>
        <p:grpSpPr bwMode="auto">
          <a:xfrm rot="0">
            <a:off x="13167360" y="-1463040"/>
            <a:ext cx="7680960" cy="7680960"/>
            <a:chOff x="0" y="0"/>
            <a:chExt cx="10241280" cy="102412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241280" cy="10241280"/>
            </a:xfrm>
            <a:custGeom>
              <a:avLst/>
              <a:gdLst/>
              <a:ahLst/>
              <a:cxnLst/>
              <a:rect l="l" t="t" r="r" b="b"/>
              <a:pathLst>
                <a:path w="10241280" h="10241280" fill="norm" stroke="1" extrusionOk="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A8C5B0">
                <a:alpha val="23529"/>
              </a:srgbClr>
            </a:solidFill>
          </p:spPr>
        </p:sp>
      </p:grpSp>
      <p:grpSp>
        <p:nvGrpSpPr>
          <p:cNvPr id="1399496202" name="Group 4"/>
          <p:cNvGrpSpPr/>
          <p:nvPr/>
        </p:nvGrpSpPr>
        <p:grpSpPr bwMode="auto">
          <a:xfrm rot="0">
            <a:off x="15544800" y="5120640"/>
            <a:ext cx="4572000" cy="4572000"/>
            <a:chOff x="0" y="0"/>
            <a:chExt cx="6096000" cy="60960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6096000" cy="6096000"/>
            </a:xfrm>
            <a:custGeom>
              <a:avLst/>
              <a:gdLst/>
              <a:ahLst/>
              <a:cxnLst/>
              <a:rect l="l" t="t" r="r" b="b"/>
              <a:pathLst>
                <a:path w="6096000" h="6096000" fill="norm" stroke="1" extrusionOk="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F2CBBF">
                <a:alpha val="40784"/>
              </a:srgbClr>
            </a:solidFill>
          </p:spPr>
        </p:sp>
      </p:grpSp>
      <p:grpSp>
        <p:nvGrpSpPr>
          <p:cNvPr id="1662063672" name="Group 6"/>
          <p:cNvGrpSpPr/>
          <p:nvPr/>
        </p:nvGrpSpPr>
        <p:grpSpPr bwMode="auto">
          <a:xfrm rot="0">
            <a:off x="-1828800" y="6400800"/>
            <a:ext cx="6400800" cy="6400800"/>
            <a:chOff x="0" y="0"/>
            <a:chExt cx="8534400" cy="85344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 fill="norm" stroke="1" extrusionOk="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C2DEE8">
                <a:alpha val="23529"/>
              </a:srgbClr>
            </a:solidFill>
          </p:spPr>
        </p:sp>
      </p:grpSp>
      <p:grpSp>
        <p:nvGrpSpPr>
          <p:cNvPr id="23992335" name="Group 8"/>
          <p:cNvGrpSpPr/>
          <p:nvPr/>
        </p:nvGrpSpPr>
        <p:grpSpPr bwMode="auto">
          <a:xfrm rot="0">
            <a:off x="1005840" y="2377440"/>
            <a:ext cx="12801600" cy="731520"/>
            <a:chOff x="0" y="0"/>
            <a:chExt cx="17068800" cy="975360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7068800" cy="975360"/>
            </a:xfrm>
            <a:custGeom>
              <a:avLst/>
              <a:gdLst/>
              <a:ahLst/>
              <a:cxnLst/>
              <a:rect l="l" t="t" r="r" b="b"/>
              <a:pathLst>
                <a:path w="17068800" h="975360" fill="norm" stroke="1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90751" r="0" b="-290751"/>
              </a:stretch>
            </a:blipFill>
          </p:spPr>
        </p:sp>
      </p:grpSp>
      <p:grpSp>
        <p:nvGrpSpPr>
          <p:cNvPr id="777116498" name="Group 10"/>
          <p:cNvGrpSpPr/>
          <p:nvPr/>
        </p:nvGrpSpPr>
        <p:grpSpPr bwMode="auto">
          <a:xfrm rot="0">
            <a:off x="1005840" y="2327434"/>
            <a:ext cx="12801600" cy="781526"/>
            <a:chOff x="0" y="0"/>
            <a:chExt cx="17068800" cy="1042035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17068800" cy="1042035"/>
            </a:xfrm>
            <a:custGeom>
              <a:avLst/>
              <a:gdLst/>
              <a:ahLst/>
              <a:cxnLst/>
              <a:rect l="l" t="t" r="r" b="b"/>
              <a:pathLst>
                <a:path w="17068800" h="1042035" fill="norm" stroke="1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1042035"/>
                  </a:lnTo>
                  <a:lnTo>
                    <a:pt x="0" y="104203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69169" r="0" b="-269169"/>
              </a:stretch>
            </a:blip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66675"/>
              <a:ext cx="17068800" cy="110871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  <a:defRPr/>
              </a:pPr>
              <a:r>
                <a:rPr lang="en-US" sz="2200" spc="6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COMPUTER SYSTEMS FUNDAMENTALS</a:t>
              </a:r>
              <a:endParaRPr/>
            </a:p>
          </p:txBody>
        </p:sp>
      </p:grpSp>
      <p:sp>
        <p:nvSpPr>
          <p:cNvPr id="132980267" name="TextBox 13"/>
          <p:cNvSpPr txBox="1"/>
          <p:nvPr/>
        </p:nvSpPr>
        <p:spPr bwMode="auto">
          <a:xfrm rot="0">
            <a:off x="1005840" y="2743200"/>
            <a:ext cx="13716000" cy="557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defRPr/>
            </a:pPr>
            <a:r>
              <a:rPr lang="en-US" sz="8400" b="1">
                <a:solidFill>
                  <a:srgbClr val="2D2D2D"/>
                </a:solidFill>
                <a:latin typeface="Cooper Hewitt Bold"/>
                <a:ea typeface="Cooper Hewitt Bold"/>
                <a:cs typeface="Cooper Hewitt Bold"/>
              </a:rPr>
              <a:t>Multi-Core Architecture,</a:t>
            </a:r>
            <a:endParaRPr/>
          </a:p>
          <a:p>
            <a:pPr algn="l">
              <a:lnSpc>
                <a:spcPts val="10080"/>
              </a:lnSpc>
              <a:defRPr/>
            </a:pPr>
            <a:r>
              <a:rPr lang="en-US" sz="8400" b="1">
                <a:solidFill>
                  <a:srgbClr val="2D2D2D"/>
                </a:solidFill>
                <a:latin typeface="Cooper Hewitt Bold"/>
                <a:ea typeface="Cooper Hewitt Bold"/>
                <a:cs typeface="Cooper Hewitt Bold"/>
              </a:rPr>
              <a:t>OS, Threads &amp;</a:t>
            </a:r>
            <a:endParaRPr/>
          </a:p>
          <a:p>
            <a:pPr algn="l">
              <a:lnSpc>
                <a:spcPts val="10080"/>
              </a:lnSpc>
              <a:defRPr/>
            </a:pPr>
            <a:r>
              <a:rPr lang="en-US" sz="8400" b="1">
                <a:solidFill>
                  <a:srgbClr val="2D2D2D"/>
                </a:solidFill>
                <a:latin typeface="Cooper Hewitt Bold"/>
                <a:ea typeface="Cooper Hewitt Bold"/>
                <a:cs typeface="Cooper Hewitt Bold"/>
              </a:rPr>
              <a:t>Synchronization</a:t>
            </a:r>
            <a:endParaRPr/>
          </a:p>
        </p:txBody>
      </p:sp>
      <p:grpSp>
        <p:nvGrpSpPr>
          <p:cNvPr id="285614713" name="Group 14"/>
          <p:cNvGrpSpPr/>
          <p:nvPr/>
        </p:nvGrpSpPr>
        <p:grpSpPr bwMode="auto">
          <a:xfrm rot="0">
            <a:off x="1005840" y="8503920"/>
            <a:ext cx="14630400" cy="914400"/>
            <a:chOff x="0" y="0"/>
            <a:chExt cx="19507200" cy="121920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9507200" cy="1219200"/>
            </a:xfrm>
            <a:custGeom>
              <a:avLst/>
              <a:gdLst/>
              <a:ahLst/>
              <a:cxnLst/>
              <a:rect l="l" t="t" r="r" b="b"/>
              <a:pathLst>
                <a:path w="19507200" h="1219200" fill="norm" stroke="1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61543" r="0" b="-261543"/>
              </a:stretch>
            </a:blipFill>
          </p:spPr>
        </p:sp>
      </p:grpSp>
      <p:grpSp>
        <p:nvGrpSpPr>
          <p:cNvPr id="1253522235" name="Group 16"/>
          <p:cNvGrpSpPr/>
          <p:nvPr/>
        </p:nvGrpSpPr>
        <p:grpSpPr bwMode="auto">
          <a:xfrm rot="0">
            <a:off x="1005840" y="8446770"/>
            <a:ext cx="14630400" cy="971550"/>
            <a:chOff x="0" y="0"/>
            <a:chExt cx="19507200" cy="12954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9507200" cy="1295400"/>
            </a:xfrm>
            <a:custGeom>
              <a:avLst/>
              <a:gdLst/>
              <a:ahLst/>
              <a:cxnLst/>
              <a:rect l="l" t="t" r="r" b="b"/>
              <a:pathLst>
                <a:path w="19507200" h="1295400" fill="norm" stroke="1" extrusionOk="0">
                  <a:moveTo>
                    <a:pt x="0" y="0"/>
                  </a:moveTo>
                  <a:lnTo>
                    <a:pt x="19507200" y="0"/>
                  </a:lnTo>
                  <a:lnTo>
                    <a:pt x="19507200" y="1295400"/>
                  </a:lnTo>
                  <a:lnTo>
                    <a:pt x="0" y="1295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43421" r="0" b="-243421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76200"/>
              <a:ext cx="195072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Hardware  ·  Operating Systems  ·  Threads  ·  Performance</a:t>
              </a:r>
              <a:endParaRPr/>
            </a:p>
          </p:txBody>
        </p:sp>
      </p:grpSp>
      <p:grpSp>
        <p:nvGrpSpPr>
          <p:cNvPr id="354533688" name="Group 19"/>
          <p:cNvGrpSpPr/>
          <p:nvPr/>
        </p:nvGrpSpPr>
        <p:grpSpPr bwMode="auto">
          <a:xfrm rot="0">
            <a:off x="1005840" y="8138160"/>
            <a:ext cx="329184" cy="329184"/>
            <a:chOff x="0" y="0"/>
            <a:chExt cx="438912" cy="438912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253841214" name="Group 21"/>
          <p:cNvGrpSpPr/>
          <p:nvPr/>
        </p:nvGrpSpPr>
        <p:grpSpPr bwMode="auto">
          <a:xfrm rot="0">
            <a:off x="1591056" y="8138160"/>
            <a:ext cx="329184" cy="329184"/>
            <a:chOff x="0" y="0"/>
            <a:chExt cx="438912" cy="438912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363009085" name="Group 23"/>
          <p:cNvGrpSpPr/>
          <p:nvPr/>
        </p:nvGrpSpPr>
        <p:grpSpPr bwMode="auto">
          <a:xfrm rot="0">
            <a:off x="2176272" y="8138160"/>
            <a:ext cx="329184" cy="329184"/>
            <a:chOff x="0" y="0"/>
            <a:chExt cx="438912" cy="438912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971848205" name="Group 25"/>
          <p:cNvGrpSpPr/>
          <p:nvPr/>
        </p:nvGrpSpPr>
        <p:grpSpPr bwMode="auto">
          <a:xfrm rot="0">
            <a:off x="2761488" y="8138160"/>
            <a:ext cx="329184" cy="329184"/>
            <a:chOff x="0" y="0"/>
            <a:chExt cx="438912" cy="438912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258852334" name="Group 27"/>
          <p:cNvGrpSpPr/>
          <p:nvPr/>
        </p:nvGrpSpPr>
        <p:grpSpPr bwMode="auto">
          <a:xfrm rot="0">
            <a:off x="3346704" y="8138160"/>
            <a:ext cx="329184" cy="329184"/>
            <a:chOff x="0" y="0"/>
            <a:chExt cx="438912" cy="438912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9B89B4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668854" name="TextBox 2"/>
          <p:cNvSpPr txBox="1"/>
          <p:nvPr/>
        </p:nvSpPr>
        <p:spPr bwMode="auto">
          <a:xfrm rot="0">
            <a:off x="3068193" y="509349"/>
            <a:ext cx="13576935" cy="1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  <a:defRPr/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Presentation  Members </a:t>
            </a:r>
            <a:endParaRPr/>
          </a:p>
        </p:txBody>
      </p:sp>
      <p:sp>
        <p:nvSpPr>
          <p:cNvPr id="1277655322" name="TextBox 3"/>
          <p:cNvSpPr txBox="1"/>
          <p:nvPr/>
        </p:nvSpPr>
        <p:spPr bwMode="auto">
          <a:xfrm rot="0">
            <a:off x="6210624" y="2893057"/>
            <a:ext cx="5061823" cy="98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  <a:defRPr/>
            </a:pPr>
            <a:r>
              <a:rPr lang="en-US" sz="5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Kerollos Akram </a:t>
            </a:r>
            <a:endParaRPr/>
          </a:p>
        </p:txBody>
      </p:sp>
      <p:sp>
        <p:nvSpPr>
          <p:cNvPr id="301271878" name="TextBox 4"/>
          <p:cNvSpPr txBox="1"/>
          <p:nvPr/>
        </p:nvSpPr>
        <p:spPr bwMode="auto">
          <a:xfrm rot="0" flipH="0" flipV="0">
            <a:off x="6210623" y="5276220"/>
            <a:ext cx="4417714" cy="92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  <a:defRPr/>
            </a:pPr>
            <a:r>
              <a:rPr lang="en-US" sz="5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Basel Ashraf</a:t>
            </a:r>
            <a:endParaRPr/>
          </a:p>
        </p:txBody>
      </p:sp>
      <p:sp>
        <p:nvSpPr>
          <p:cNvPr id="96976556" name="TextBox 5"/>
          <p:cNvSpPr txBox="1"/>
          <p:nvPr/>
        </p:nvSpPr>
        <p:spPr bwMode="auto">
          <a:xfrm rot="0">
            <a:off x="5269811" y="4008758"/>
            <a:ext cx="6324009" cy="98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  <a:defRPr/>
            </a:pPr>
            <a:r>
              <a:rPr lang="en-US" sz="5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Abdelrahman Tarek</a:t>
            </a:r>
            <a:endParaRPr/>
          </a:p>
        </p:txBody>
      </p:sp>
      <p:sp>
        <p:nvSpPr>
          <p:cNvPr id="779692802" name="TextBox 6"/>
          <p:cNvSpPr txBox="1"/>
          <p:nvPr/>
        </p:nvSpPr>
        <p:spPr bwMode="auto">
          <a:xfrm rot="0">
            <a:off x="5841787" y="6391913"/>
            <a:ext cx="5180047" cy="98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  <a:defRPr/>
            </a:pPr>
            <a:r>
              <a:rPr lang="en-US" sz="5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Omar Mohamed</a:t>
            </a:r>
            <a:endParaRPr/>
          </a:p>
        </p:txBody>
      </p:sp>
      <p:sp>
        <p:nvSpPr>
          <p:cNvPr id="1885636365" name="TextBox 7"/>
          <p:cNvSpPr txBox="1"/>
          <p:nvPr/>
        </p:nvSpPr>
        <p:spPr bwMode="auto">
          <a:xfrm rot="0">
            <a:off x="5841787" y="7660015"/>
            <a:ext cx="5180047" cy="98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  <a:defRPr/>
            </a:pPr>
            <a:r>
              <a:rPr lang="en-US" sz="5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rPr>
              <a:t>Omar Mohamed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D2D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17925" name="Group 2"/>
          <p:cNvGrpSpPr/>
          <p:nvPr/>
        </p:nvGrpSpPr>
        <p:grpSpPr bwMode="auto"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4384000" cy="195072"/>
            </a:xfrm>
            <a:custGeom>
              <a:avLst/>
              <a:gdLst/>
              <a:ahLst/>
              <a:cxnLst/>
              <a:rect l="l" t="t" r="r" b="b"/>
              <a:pathLst>
                <a:path w="24384000" h="195072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919728930" name="Group 4"/>
          <p:cNvGrpSpPr/>
          <p:nvPr/>
        </p:nvGrpSpPr>
        <p:grpSpPr bwMode="auto">
          <a:xfrm rot="0">
            <a:off x="11887200" y="914400"/>
            <a:ext cx="9144000" cy="9144000"/>
            <a:chOff x="0" y="0"/>
            <a:chExt cx="12192000" cy="121920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 fill="norm" stroke="1" extrusionOk="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6B9E78">
                <a:alpha val="0"/>
              </a:srgbClr>
            </a:solidFill>
          </p:spPr>
        </p:sp>
      </p:grpSp>
      <p:grpSp>
        <p:nvGrpSpPr>
          <p:cNvPr id="732730020" name="Group 6"/>
          <p:cNvGrpSpPr/>
          <p:nvPr/>
        </p:nvGrpSpPr>
        <p:grpSpPr bwMode="auto">
          <a:xfrm rot="0">
            <a:off x="1005840" y="2926080"/>
            <a:ext cx="10972800" cy="914400"/>
            <a:chOff x="0" y="0"/>
            <a:chExt cx="14630400" cy="12192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4630400" cy="1219200"/>
            </a:xfrm>
            <a:custGeom>
              <a:avLst/>
              <a:gdLst/>
              <a:ahLst/>
              <a:cxnLst/>
              <a:rect l="l" t="t" r="r" b="b"/>
              <a:pathLst>
                <a:path w="14630400" h="1219200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83658" r="0" b="-183657"/>
              </a:stretch>
            </a:blipFill>
          </p:spPr>
        </p:sp>
      </p:grpSp>
      <p:grpSp>
        <p:nvGrpSpPr>
          <p:cNvPr id="1927627807" name="Group 8"/>
          <p:cNvGrpSpPr/>
          <p:nvPr/>
        </p:nvGrpSpPr>
        <p:grpSpPr bwMode="auto">
          <a:xfrm rot="0">
            <a:off x="1005840" y="2876074"/>
            <a:ext cx="10972800" cy="964406"/>
            <a:chOff x="0" y="0"/>
            <a:chExt cx="14630400" cy="1285875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4630400" cy="1285875"/>
            </a:xfrm>
            <a:custGeom>
              <a:avLst/>
              <a:gdLst/>
              <a:ahLst/>
              <a:cxnLst/>
              <a:rect l="l" t="t" r="r" b="b"/>
              <a:pathLst>
                <a:path w="14630400" h="1285875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85875"/>
                  </a:lnTo>
                  <a:lnTo>
                    <a:pt x="0" y="12858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71696" r="0" b="-171696"/>
              </a:stretch>
            </a:blip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85725"/>
              <a:ext cx="146304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  <a:defRPr/>
              </a:pPr>
              <a:r>
                <a:rPr lang="en-US" sz="2800" spc="799">
                  <a:solidFill>
                    <a:srgbClr val="6B9E78"/>
                  </a:solidFill>
                  <a:latin typeface="Cooper Hewitt"/>
                  <a:ea typeface="Cooper Hewitt"/>
                  <a:cs typeface="Cooper Hewitt"/>
                </a:rPr>
                <a:t>PART 1</a:t>
              </a:r>
              <a:endParaRPr/>
            </a:p>
          </p:txBody>
        </p:sp>
      </p:grpSp>
      <p:grpSp>
        <p:nvGrpSpPr>
          <p:cNvPr id="132932853" name="Group 11"/>
          <p:cNvGrpSpPr/>
          <p:nvPr/>
        </p:nvGrpSpPr>
        <p:grpSpPr bwMode="auto">
          <a:xfrm rot="0">
            <a:off x="1005840" y="3840480"/>
            <a:ext cx="13716000" cy="4023360"/>
            <a:chOff x="0" y="0"/>
            <a:chExt cx="18288000" cy="5364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288000" cy="5364480"/>
            </a:xfrm>
            <a:custGeom>
              <a:avLst/>
              <a:gdLst/>
              <a:ahLst/>
              <a:cxnLst/>
              <a:rect l="l" t="t" r="r" b="b"/>
              <a:pathLst>
                <a:path w="18288000" h="5364480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0"/>
                  </a:lnTo>
                  <a:lnTo>
                    <a:pt x="0" y="53644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379" r="0" b="-16379"/>
              </a:stretch>
            </a:blipFill>
          </p:spPr>
        </p:sp>
      </p:grpSp>
      <p:grpSp>
        <p:nvGrpSpPr>
          <p:cNvPr id="1366966592" name="Group 13"/>
          <p:cNvGrpSpPr/>
          <p:nvPr/>
        </p:nvGrpSpPr>
        <p:grpSpPr bwMode="auto">
          <a:xfrm rot="0">
            <a:off x="1005840" y="3661886"/>
            <a:ext cx="13716000" cy="4201954"/>
            <a:chOff x="0" y="0"/>
            <a:chExt cx="18288000" cy="5602605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8288000" cy="5602605"/>
            </a:xfrm>
            <a:custGeom>
              <a:avLst/>
              <a:gdLst/>
              <a:ahLst/>
              <a:cxnLst/>
              <a:rect l="l" t="t" r="r" b="b"/>
              <a:pathLst>
                <a:path w="18288000" h="5602605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602605"/>
                  </a:lnTo>
                  <a:lnTo>
                    <a:pt x="0" y="56026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602" r="0" b="-13602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38125"/>
              <a:ext cx="18288000" cy="58407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Hardware</a:t>
              </a:r>
              <a:endParaRPr/>
            </a:p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Multi-Core Architecture</a:t>
              </a:r>
              <a:endParaRPr/>
            </a:p>
          </p:txBody>
        </p:sp>
      </p:grpSp>
      <p:grpSp>
        <p:nvGrpSpPr>
          <p:cNvPr id="634967523" name="Group 16"/>
          <p:cNvGrpSpPr/>
          <p:nvPr/>
        </p:nvGrpSpPr>
        <p:grpSpPr bwMode="auto">
          <a:xfrm rot="0">
            <a:off x="1005840" y="8961120"/>
            <a:ext cx="329184" cy="329184"/>
            <a:chOff x="0" y="0"/>
            <a:chExt cx="438912" cy="438912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903247076" name="Group 18"/>
          <p:cNvGrpSpPr/>
          <p:nvPr/>
        </p:nvGrpSpPr>
        <p:grpSpPr bwMode="auto">
          <a:xfrm rot="0">
            <a:off x="1645920" y="8961120"/>
            <a:ext cx="329184" cy="329184"/>
            <a:chOff x="0" y="0"/>
            <a:chExt cx="438912" cy="43891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  <p:grpSp>
        <p:nvGrpSpPr>
          <p:cNvPr id="1399803613" name="Group 20"/>
          <p:cNvGrpSpPr/>
          <p:nvPr/>
        </p:nvGrpSpPr>
        <p:grpSpPr bwMode="auto">
          <a:xfrm rot="0">
            <a:off x="2286000" y="8961120"/>
            <a:ext cx="329184" cy="329184"/>
            <a:chOff x="0" y="0"/>
            <a:chExt cx="438912" cy="438912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02665958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620840300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1.1 — Physical Core</a:t>
              </a:r>
              <a:endParaRPr/>
            </a:p>
          </p:txBody>
        </p:sp>
      </p:grpSp>
      <p:grpSp>
        <p:nvGrpSpPr>
          <p:cNvPr id="1087483571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2128834055" name="Group 9"/>
          <p:cNvGrpSpPr/>
          <p:nvPr/>
        </p:nvGrpSpPr>
        <p:grpSpPr bwMode="auto">
          <a:xfrm rot="0">
            <a:off x="914400" y="2011680"/>
            <a:ext cx="16459200" cy="1005840"/>
            <a:chOff x="0" y="0"/>
            <a:chExt cx="21945600" cy="134112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68624" r="0" b="-268625"/>
              </a:stretch>
            </a:blipFill>
          </p:spPr>
        </p:sp>
      </p:grpSp>
      <p:grpSp>
        <p:nvGrpSpPr>
          <p:cNvPr id="467183810" name="Group 11"/>
          <p:cNvGrpSpPr/>
          <p:nvPr/>
        </p:nvGrpSpPr>
        <p:grpSpPr bwMode="auto">
          <a:xfrm rot="0">
            <a:off x="914400" y="1954530"/>
            <a:ext cx="16459200" cy="1062990"/>
            <a:chOff x="0" y="0"/>
            <a:chExt cx="21945600" cy="141732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417320"/>
            </a:xfrm>
            <a:custGeom>
              <a:avLst/>
              <a:gdLst/>
              <a:ahLst/>
              <a:cxnLst/>
              <a:rect l="l" t="t" r="r" b="b"/>
              <a:pathLst>
                <a:path w="21945600" h="141732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51703" r="0" b="-251702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49352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A CPU core is the fundamental execution unit inside a processor, responsible for fetching, decoding, and executing instructions.</a:t>
              </a:r>
              <a:endParaRPr/>
            </a:p>
          </p:txBody>
        </p:sp>
      </p:grpSp>
      <p:grpSp>
        <p:nvGrpSpPr>
          <p:cNvPr id="1440781446" name="Group 14"/>
          <p:cNvGrpSpPr/>
          <p:nvPr/>
        </p:nvGrpSpPr>
        <p:grpSpPr bwMode="auto">
          <a:xfrm rot="0">
            <a:off x="731520" y="3145536"/>
            <a:ext cx="5303520" cy="6583680"/>
            <a:chOff x="0" y="0"/>
            <a:chExt cx="7071360" cy="877824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7071360" cy="8778240"/>
            </a:xfrm>
            <a:custGeom>
              <a:avLst/>
              <a:gdLst/>
              <a:ahLst/>
              <a:cxnLst/>
              <a:rect l="l" t="t" r="r" b="b"/>
              <a:pathLst>
                <a:path w="7071360" h="8778240" fill="norm" stroke="1" extrusionOk="0">
                  <a:moveTo>
                    <a:pt x="0" y="0"/>
                  </a:moveTo>
                  <a:lnTo>
                    <a:pt x="7071360" y="0"/>
                  </a:lnTo>
                  <a:lnTo>
                    <a:pt x="707136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53209112" name="Group 16"/>
          <p:cNvGrpSpPr/>
          <p:nvPr/>
        </p:nvGrpSpPr>
        <p:grpSpPr bwMode="auto">
          <a:xfrm rot="0">
            <a:off x="731520" y="3145536"/>
            <a:ext cx="128016" cy="6583680"/>
            <a:chOff x="0" y="0"/>
            <a:chExt cx="170688" cy="877824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8778240"/>
            </a:xfrm>
            <a:custGeom>
              <a:avLst/>
              <a:gdLst/>
              <a:ahLst/>
              <a:cxnLst/>
              <a:rect l="l" t="t" r="r" b="b"/>
              <a:pathLst>
                <a:path w="170688" h="87782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053724814" name="Group 18"/>
          <p:cNvGrpSpPr/>
          <p:nvPr/>
        </p:nvGrpSpPr>
        <p:grpSpPr bwMode="auto">
          <a:xfrm rot="0">
            <a:off x="1042416" y="3328416"/>
            <a:ext cx="4809744" cy="731520"/>
            <a:chOff x="0" y="0"/>
            <a:chExt cx="641299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6412992" cy="975360"/>
            </a:xfrm>
            <a:custGeom>
              <a:avLst/>
              <a:gdLst/>
              <a:ahLst/>
              <a:cxnLst/>
              <a:rect l="l" t="t" r="r" b="b"/>
              <a:pathLst>
                <a:path w="6412992" h="975360" fill="norm" stroke="1" extrusionOk="0">
                  <a:moveTo>
                    <a:pt x="0" y="0"/>
                  </a:moveTo>
                  <a:lnTo>
                    <a:pt x="6412992" y="0"/>
                  </a:lnTo>
                  <a:lnTo>
                    <a:pt x="641299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78024" r="0" b="-78024"/>
              </a:stretch>
            </a:blipFill>
          </p:spPr>
        </p:sp>
      </p:grpSp>
      <p:grpSp>
        <p:nvGrpSpPr>
          <p:cNvPr id="932469517" name="Group 20"/>
          <p:cNvGrpSpPr/>
          <p:nvPr/>
        </p:nvGrpSpPr>
        <p:grpSpPr bwMode="auto">
          <a:xfrm rot="0">
            <a:off x="1042416" y="3271266"/>
            <a:ext cx="4809744" cy="788670"/>
            <a:chOff x="0" y="0"/>
            <a:chExt cx="641299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6412992" cy="1051560"/>
            </a:xfrm>
            <a:custGeom>
              <a:avLst/>
              <a:gdLst/>
              <a:ahLst/>
              <a:cxnLst/>
              <a:rect l="l" t="t" r="r" b="b"/>
              <a:pathLst>
                <a:path w="6412992" h="1051560" fill="norm" stroke="1" extrusionOk="0">
                  <a:moveTo>
                    <a:pt x="0" y="0"/>
                  </a:moveTo>
                  <a:lnTo>
                    <a:pt x="6412992" y="0"/>
                  </a:lnTo>
                  <a:lnTo>
                    <a:pt x="641299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68830" r="0" b="-68829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641299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ALU – Arithmetic Logic Unit</a:t>
              </a:r>
              <a:endParaRPr/>
            </a:p>
          </p:txBody>
        </p:sp>
      </p:grpSp>
      <p:sp>
        <p:nvSpPr>
          <p:cNvPr id="1768072024" name="TextBox 23"/>
          <p:cNvSpPr txBox="1"/>
          <p:nvPr/>
        </p:nvSpPr>
        <p:spPr bwMode="auto">
          <a:xfrm rot="0">
            <a:off x="1133856" y="4044696"/>
            <a:ext cx="4626864" cy="545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Performs all arithmetic &amp; logical operations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Addition, subtraction, multiplication, division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Logical comparisons: &gt;, &lt;, =</a:t>
            </a:r>
            <a:endParaRPr/>
          </a:p>
        </p:txBody>
      </p:sp>
      <p:grpSp>
        <p:nvGrpSpPr>
          <p:cNvPr id="724541979" name="Group 24"/>
          <p:cNvGrpSpPr/>
          <p:nvPr/>
        </p:nvGrpSpPr>
        <p:grpSpPr bwMode="auto">
          <a:xfrm rot="0">
            <a:off x="6492240" y="3145536"/>
            <a:ext cx="5303520" cy="6583680"/>
            <a:chOff x="0" y="0"/>
            <a:chExt cx="7071360" cy="877824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7071360" cy="8778240"/>
            </a:xfrm>
            <a:custGeom>
              <a:avLst/>
              <a:gdLst/>
              <a:ahLst/>
              <a:cxnLst/>
              <a:rect l="l" t="t" r="r" b="b"/>
              <a:pathLst>
                <a:path w="7071360" h="8778240" fill="norm" stroke="1" extrusionOk="0">
                  <a:moveTo>
                    <a:pt x="0" y="0"/>
                  </a:moveTo>
                  <a:lnTo>
                    <a:pt x="7071360" y="0"/>
                  </a:lnTo>
                  <a:lnTo>
                    <a:pt x="707136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97143814" name="Group 26"/>
          <p:cNvGrpSpPr/>
          <p:nvPr/>
        </p:nvGrpSpPr>
        <p:grpSpPr bwMode="auto">
          <a:xfrm rot="0">
            <a:off x="6492240" y="3145536"/>
            <a:ext cx="128016" cy="6583680"/>
            <a:chOff x="0" y="0"/>
            <a:chExt cx="170688" cy="877824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8778240"/>
            </a:xfrm>
            <a:custGeom>
              <a:avLst/>
              <a:gdLst/>
              <a:ahLst/>
              <a:cxnLst/>
              <a:rect l="l" t="t" r="r" b="b"/>
              <a:pathLst>
                <a:path w="170688" h="87782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012559813" name="Group 28"/>
          <p:cNvGrpSpPr/>
          <p:nvPr/>
        </p:nvGrpSpPr>
        <p:grpSpPr bwMode="auto">
          <a:xfrm rot="0">
            <a:off x="6803136" y="3328416"/>
            <a:ext cx="4809744" cy="731520"/>
            <a:chOff x="0" y="0"/>
            <a:chExt cx="641299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6412992" cy="975360"/>
            </a:xfrm>
            <a:custGeom>
              <a:avLst/>
              <a:gdLst/>
              <a:ahLst/>
              <a:cxnLst/>
              <a:rect l="l" t="t" r="r" b="b"/>
              <a:pathLst>
                <a:path w="6412992" h="975360" fill="norm" stroke="1" extrusionOk="0">
                  <a:moveTo>
                    <a:pt x="0" y="0"/>
                  </a:moveTo>
                  <a:lnTo>
                    <a:pt x="6412992" y="0"/>
                  </a:lnTo>
                  <a:lnTo>
                    <a:pt x="641299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78024" r="0" b="-78024"/>
              </a:stretch>
            </a:blipFill>
          </p:spPr>
        </p:sp>
      </p:grpSp>
      <p:grpSp>
        <p:nvGrpSpPr>
          <p:cNvPr id="135678359" name="Group 30"/>
          <p:cNvGrpSpPr/>
          <p:nvPr/>
        </p:nvGrpSpPr>
        <p:grpSpPr bwMode="auto">
          <a:xfrm rot="0">
            <a:off x="6803136" y="3271266"/>
            <a:ext cx="4809744" cy="788670"/>
            <a:chOff x="0" y="0"/>
            <a:chExt cx="641299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6412992" cy="1051560"/>
            </a:xfrm>
            <a:custGeom>
              <a:avLst/>
              <a:gdLst/>
              <a:ahLst/>
              <a:cxnLst/>
              <a:rect l="l" t="t" r="r" b="b"/>
              <a:pathLst>
                <a:path w="6412992" h="1051560" fill="norm" stroke="1" extrusionOk="0">
                  <a:moveTo>
                    <a:pt x="0" y="0"/>
                  </a:moveTo>
                  <a:lnTo>
                    <a:pt x="6412992" y="0"/>
                  </a:lnTo>
                  <a:lnTo>
                    <a:pt x="641299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68830" r="0" b="-68829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641299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Registers</a:t>
              </a:r>
              <a:endParaRPr/>
            </a:p>
          </p:txBody>
        </p:sp>
      </p:grpSp>
      <p:sp>
        <p:nvSpPr>
          <p:cNvPr id="1717546182" name="TextBox 33"/>
          <p:cNvSpPr txBox="1"/>
          <p:nvPr/>
        </p:nvSpPr>
        <p:spPr bwMode="auto">
          <a:xfrm rot="0">
            <a:off x="6894576" y="4044696"/>
            <a:ext cx="4626864" cy="545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Extremely small, extremely fast memory inside the CPU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Temporarily stores data being actively processed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Directly accessible by the ALU</a:t>
            </a:r>
            <a:endParaRPr/>
          </a:p>
        </p:txBody>
      </p:sp>
      <p:grpSp>
        <p:nvGrpSpPr>
          <p:cNvPr id="1391147937" name="Group 34"/>
          <p:cNvGrpSpPr/>
          <p:nvPr/>
        </p:nvGrpSpPr>
        <p:grpSpPr bwMode="auto">
          <a:xfrm rot="0">
            <a:off x="12252960" y="3145536"/>
            <a:ext cx="5303520" cy="6583680"/>
            <a:chOff x="0" y="0"/>
            <a:chExt cx="7071360" cy="8778240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7071360" cy="8778240"/>
            </a:xfrm>
            <a:custGeom>
              <a:avLst/>
              <a:gdLst/>
              <a:ahLst/>
              <a:cxnLst/>
              <a:rect l="l" t="t" r="r" b="b"/>
              <a:pathLst>
                <a:path w="7071360" h="8778240" fill="norm" stroke="1" extrusionOk="0">
                  <a:moveTo>
                    <a:pt x="0" y="0"/>
                  </a:moveTo>
                  <a:lnTo>
                    <a:pt x="7071360" y="0"/>
                  </a:lnTo>
                  <a:lnTo>
                    <a:pt x="707136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3496994" name="Group 36"/>
          <p:cNvGrpSpPr/>
          <p:nvPr/>
        </p:nvGrpSpPr>
        <p:grpSpPr bwMode="auto">
          <a:xfrm rot="0">
            <a:off x="12252960" y="3145536"/>
            <a:ext cx="128016" cy="6583680"/>
            <a:chOff x="0" y="0"/>
            <a:chExt cx="170688" cy="8778240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170688" cy="8778240"/>
            </a:xfrm>
            <a:custGeom>
              <a:avLst/>
              <a:gdLst/>
              <a:ahLst/>
              <a:cxnLst/>
              <a:rect l="l" t="t" r="r" b="b"/>
              <a:pathLst>
                <a:path w="170688" h="87782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546732877" name="Group 38"/>
          <p:cNvGrpSpPr/>
          <p:nvPr/>
        </p:nvGrpSpPr>
        <p:grpSpPr bwMode="auto">
          <a:xfrm rot="0">
            <a:off x="12563856" y="3328416"/>
            <a:ext cx="4809744" cy="731520"/>
            <a:chOff x="0" y="0"/>
            <a:chExt cx="6412992" cy="975360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6412992" cy="975360"/>
            </a:xfrm>
            <a:custGeom>
              <a:avLst/>
              <a:gdLst/>
              <a:ahLst/>
              <a:cxnLst/>
              <a:rect l="l" t="t" r="r" b="b"/>
              <a:pathLst>
                <a:path w="6412992" h="975360" fill="norm" stroke="1" extrusionOk="0">
                  <a:moveTo>
                    <a:pt x="0" y="0"/>
                  </a:moveTo>
                  <a:lnTo>
                    <a:pt x="6412992" y="0"/>
                  </a:lnTo>
                  <a:lnTo>
                    <a:pt x="641299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78024" r="0" b="-78024"/>
              </a:stretch>
            </a:blipFill>
          </p:spPr>
        </p:sp>
      </p:grpSp>
      <p:grpSp>
        <p:nvGrpSpPr>
          <p:cNvPr id="2145867196" name="Group 40"/>
          <p:cNvGrpSpPr/>
          <p:nvPr/>
        </p:nvGrpSpPr>
        <p:grpSpPr bwMode="auto">
          <a:xfrm rot="0">
            <a:off x="12563856" y="3271266"/>
            <a:ext cx="4809744" cy="788670"/>
            <a:chOff x="0" y="0"/>
            <a:chExt cx="6412992" cy="1051560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6412992" cy="1051560"/>
            </a:xfrm>
            <a:custGeom>
              <a:avLst/>
              <a:gdLst/>
              <a:ahLst/>
              <a:cxnLst/>
              <a:rect l="l" t="t" r="r" b="b"/>
              <a:pathLst>
                <a:path w="6412992" h="1051560" fill="norm" stroke="1" extrusionOk="0">
                  <a:moveTo>
                    <a:pt x="0" y="0"/>
                  </a:moveTo>
                  <a:lnTo>
                    <a:pt x="6412992" y="0"/>
                  </a:lnTo>
                  <a:lnTo>
                    <a:pt x="641299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68830" r="0" b="-68829"/>
              </a:stretch>
            </a:blipFill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0" y="-76200"/>
              <a:ext cx="641299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Core Function</a:t>
              </a:r>
              <a:endParaRPr/>
            </a:p>
          </p:txBody>
        </p:sp>
      </p:grpSp>
      <p:sp>
        <p:nvSpPr>
          <p:cNvPr id="2005929182" name="TextBox 43"/>
          <p:cNvSpPr txBox="1"/>
          <p:nvPr/>
        </p:nvSpPr>
        <p:spPr bwMode="auto">
          <a:xfrm rot="0">
            <a:off x="12655296" y="4044696"/>
            <a:ext cx="4626864" cy="545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Combines control logic, ALU, and registers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Executes instructions sequentially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x = a + b → ALU adds, registers hold a, b, 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6752168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796818733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1.2 — Parallelism vs Concurrency</a:t>
              </a:r>
              <a:endParaRPr/>
            </a:p>
          </p:txBody>
        </p:sp>
      </p:grpSp>
      <p:grpSp>
        <p:nvGrpSpPr>
          <p:cNvPr id="2018168692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24934852" name="Group 9"/>
          <p:cNvGrpSpPr/>
          <p:nvPr/>
        </p:nvGrpSpPr>
        <p:grpSpPr bwMode="auto">
          <a:xfrm rot="0">
            <a:off x="731520" y="2194560"/>
            <a:ext cx="8229600" cy="7498080"/>
            <a:chOff x="0" y="0"/>
            <a:chExt cx="10972800" cy="999744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70541744" name="Group 11"/>
          <p:cNvGrpSpPr/>
          <p:nvPr/>
        </p:nvGrpSpPr>
        <p:grpSpPr bwMode="auto">
          <a:xfrm rot="0">
            <a:off x="731520" y="2194560"/>
            <a:ext cx="128016" cy="7498080"/>
            <a:chOff x="0" y="0"/>
            <a:chExt cx="170688" cy="999744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458852456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247716018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Concurrency</a:t>
              </a:r>
              <a:endParaRPr/>
            </a:p>
          </p:txBody>
        </p:sp>
      </p:grpSp>
      <p:sp>
        <p:nvSpPr>
          <p:cNvPr id="1134340646" name="TextBox 18"/>
          <p:cNvSpPr txBox="1"/>
          <p:nvPr/>
        </p:nvSpPr>
        <p:spPr bwMode="auto">
          <a:xfrm rot="0">
            <a:off x="1133856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Multiple tasks managed by rapidly switching on a SINGLE core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Only ONE task executes at any given instant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Appears simultaneous — but is NOT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Core switches Task A → Task B → Task C rapidly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Think: one chef cooking multiple dishes by multitasking</a:t>
            </a:r>
            <a:endParaRPr/>
          </a:p>
        </p:txBody>
      </p:sp>
      <p:grpSp>
        <p:nvGrpSpPr>
          <p:cNvPr id="1540448639" name="Group 19"/>
          <p:cNvGrpSpPr/>
          <p:nvPr/>
        </p:nvGrpSpPr>
        <p:grpSpPr bwMode="auto">
          <a:xfrm rot="0">
            <a:off x="9326880" y="2194560"/>
            <a:ext cx="8229600" cy="7498080"/>
            <a:chOff x="0" y="0"/>
            <a:chExt cx="10972800" cy="999744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59814943" name="Group 21"/>
          <p:cNvGrpSpPr/>
          <p:nvPr/>
        </p:nvGrpSpPr>
        <p:grpSpPr bwMode="auto">
          <a:xfrm rot="0">
            <a:off x="9326880" y="2194560"/>
            <a:ext cx="128016" cy="7498080"/>
            <a:chOff x="0" y="0"/>
            <a:chExt cx="170688" cy="999744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65896767" name="Group 2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871990834" name="Group 2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Parallelism</a:t>
              </a:r>
              <a:endParaRPr/>
            </a:p>
          </p:txBody>
        </p:sp>
      </p:grpSp>
      <p:sp>
        <p:nvSpPr>
          <p:cNvPr id="924478749" name="TextBox 28"/>
          <p:cNvSpPr txBox="1"/>
          <p:nvPr/>
        </p:nvSpPr>
        <p:spPr bwMode="auto">
          <a:xfrm rot="0">
            <a:off x="9729215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Multiple cores execute tasks SIMULTANEOUSLY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TRUE simultaneous execution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Requires multiple physical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Core 1 → Task A, Core 2 → Task B, Core 3 → Task C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Think: three chefs each cooking a different dish at once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7940324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837903399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1.3 — Cache Architecture: Private vs Shared</a:t>
              </a:r>
              <a:endParaRPr/>
            </a:p>
          </p:txBody>
        </p:sp>
      </p:grpSp>
      <p:grpSp>
        <p:nvGrpSpPr>
          <p:cNvPr id="467293643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956311703" name="Group 9"/>
          <p:cNvGrpSpPr/>
          <p:nvPr/>
        </p:nvGrpSpPr>
        <p:grpSpPr bwMode="auto">
          <a:xfrm rot="0">
            <a:off x="914400" y="2011680"/>
            <a:ext cx="16459200" cy="822960"/>
            <a:chOff x="0" y="0"/>
            <a:chExt cx="21945600" cy="109728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id="1290461532" name="Group 11"/>
          <p:cNvGrpSpPr/>
          <p:nvPr/>
        </p:nvGrpSpPr>
        <p:grpSpPr bwMode="auto">
          <a:xfrm rot="0">
            <a:off x="914400" y="1954530"/>
            <a:ext cx="16459200" cy="880110"/>
            <a:chOff x="0" y="0"/>
            <a:chExt cx="21945600" cy="1173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173480"/>
            </a:xfrm>
            <a:custGeom>
              <a:avLst/>
              <a:gdLst/>
              <a:ahLst/>
              <a:cxnLst/>
              <a:rect l="l" t="t" r="r" b="b"/>
              <a:pathLst>
                <a:path w="21945600" h="11734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173480"/>
                  </a:lnTo>
                  <a:lnTo>
                    <a:pt x="0" y="11734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24968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Modern processors use a hierarchical cache system to reduce memory latency.</a:t>
              </a:r>
              <a:endParaRPr/>
            </a:p>
          </p:txBody>
        </p:sp>
      </p:grpSp>
      <p:grpSp>
        <p:nvGrpSpPr>
          <p:cNvPr id="981289510" name="Group 14"/>
          <p:cNvGrpSpPr/>
          <p:nvPr/>
        </p:nvGrpSpPr>
        <p:grpSpPr bwMode="auto">
          <a:xfrm rot="0">
            <a:off x="731520" y="3017519"/>
            <a:ext cx="8229600" cy="6766560"/>
            <a:chOff x="0" y="0"/>
            <a:chExt cx="10972800" cy="902208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972800" cy="9022080"/>
            </a:xfrm>
            <a:custGeom>
              <a:avLst/>
              <a:gdLst/>
              <a:ahLst/>
              <a:cxnLst/>
              <a:rect l="l" t="t" r="r" b="b"/>
              <a:pathLst>
                <a:path w="10972800" h="902208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54575762" name="Group 16"/>
          <p:cNvGrpSpPr/>
          <p:nvPr/>
        </p:nvGrpSpPr>
        <p:grpSpPr bwMode="auto">
          <a:xfrm rot="0">
            <a:off x="731520" y="3017519"/>
            <a:ext cx="128016" cy="6766560"/>
            <a:chOff x="0" y="0"/>
            <a:chExt cx="170688" cy="902208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9022080"/>
            </a:xfrm>
            <a:custGeom>
              <a:avLst/>
              <a:gdLst/>
              <a:ahLst/>
              <a:cxnLst/>
              <a:rect l="l" t="t" r="r" b="b"/>
              <a:pathLst>
                <a:path w="170688" h="902208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93604581" name="Group 18"/>
          <p:cNvGrpSpPr/>
          <p:nvPr/>
        </p:nvGrpSpPr>
        <p:grpSpPr bwMode="auto">
          <a:xfrm rot="0">
            <a:off x="1042416" y="3200400"/>
            <a:ext cx="7735823" cy="731520"/>
            <a:chOff x="0" y="0"/>
            <a:chExt cx="1031443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297663826" name="Group 20"/>
          <p:cNvGrpSpPr/>
          <p:nvPr/>
        </p:nvGrpSpPr>
        <p:grpSpPr bwMode="auto">
          <a:xfrm rot="0">
            <a:off x="1042416" y="3143250"/>
            <a:ext cx="7735823" cy="788670"/>
            <a:chOff x="0" y="0"/>
            <a:chExt cx="1031443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Private Cache — L1 &amp; L2</a:t>
              </a:r>
              <a:endParaRPr/>
            </a:p>
          </p:txBody>
        </p:sp>
      </p:grpSp>
      <p:sp>
        <p:nvSpPr>
          <p:cNvPr id="2033828612" name="TextBox 23"/>
          <p:cNvSpPr txBox="1"/>
          <p:nvPr/>
        </p:nvSpPr>
        <p:spPr bwMode="auto">
          <a:xfrm rot="0">
            <a:off x="1133856" y="3916680"/>
            <a:ext cx="7552944" cy="563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Each core has its own private L1 and L2 cache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L1: Smallest and fastest, located directly inside the core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L2: Larger than L1, still private to each core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✅ Advantage: Extremely fast, no interference from other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⚠️ Disadvantage: Data duplication across cores may occur</a:t>
            </a:r>
            <a:endParaRPr/>
          </a:p>
        </p:txBody>
      </p:sp>
      <p:grpSp>
        <p:nvGrpSpPr>
          <p:cNvPr id="1170062862" name="Group 24"/>
          <p:cNvGrpSpPr/>
          <p:nvPr/>
        </p:nvGrpSpPr>
        <p:grpSpPr bwMode="auto">
          <a:xfrm rot="0">
            <a:off x="9326880" y="3017519"/>
            <a:ext cx="8229600" cy="6766560"/>
            <a:chOff x="0" y="0"/>
            <a:chExt cx="10972800" cy="902208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972800" cy="9022080"/>
            </a:xfrm>
            <a:custGeom>
              <a:avLst/>
              <a:gdLst/>
              <a:ahLst/>
              <a:cxnLst/>
              <a:rect l="l" t="t" r="r" b="b"/>
              <a:pathLst>
                <a:path w="10972800" h="902208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73847090" name="Group 26"/>
          <p:cNvGrpSpPr/>
          <p:nvPr/>
        </p:nvGrpSpPr>
        <p:grpSpPr bwMode="auto">
          <a:xfrm rot="0">
            <a:off x="9326880" y="3017519"/>
            <a:ext cx="128016" cy="6766560"/>
            <a:chOff x="0" y="0"/>
            <a:chExt cx="170688" cy="902208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9022080"/>
            </a:xfrm>
            <a:custGeom>
              <a:avLst/>
              <a:gdLst/>
              <a:ahLst/>
              <a:cxnLst/>
              <a:rect l="l" t="t" r="r" b="b"/>
              <a:pathLst>
                <a:path w="170688" h="902208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796912863" name="Group 28"/>
          <p:cNvGrpSpPr/>
          <p:nvPr/>
        </p:nvGrpSpPr>
        <p:grpSpPr bwMode="auto">
          <a:xfrm rot="0">
            <a:off x="9637776" y="3200400"/>
            <a:ext cx="7735823" cy="731520"/>
            <a:chOff x="0" y="0"/>
            <a:chExt cx="1031443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2001673034" name="Group 30"/>
          <p:cNvGrpSpPr/>
          <p:nvPr/>
        </p:nvGrpSpPr>
        <p:grpSpPr bwMode="auto">
          <a:xfrm rot="0">
            <a:off x="9637776" y="3143250"/>
            <a:ext cx="7735823" cy="788670"/>
            <a:chOff x="0" y="0"/>
            <a:chExt cx="1031443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Shared Cache — L3</a:t>
              </a:r>
              <a:endParaRPr/>
            </a:p>
          </p:txBody>
        </p:sp>
      </p:grpSp>
      <p:sp>
        <p:nvSpPr>
          <p:cNvPr id="1060223801" name="TextBox 33"/>
          <p:cNvSpPr txBox="1"/>
          <p:nvPr/>
        </p:nvSpPr>
        <p:spPr bwMode="auto">
          <a:xfrm rot="0">
            <a:off x="9729215" y="3916680"/>
            <a:ext cx="7552944" cy="563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L3 cache is shared among ALL cores in the processor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Acts as shared memory space between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Reduces need to access slower main memory (RAM)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Core 1 modifies data → Core 2 retrieves it from L3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✅ Efficient sharing  ⚠️ Higher contention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6838948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741854120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1.4 — Cache Coherency &amp; The MESI Protocol</a:t>
              </a:r>
              <a:endParaRPr/>
            </a:p>
          </p:txBody>
        </p:sp>
      </p:grpSp>
      <p:grpSp>
        <p:nvGrpSpPr>
          <p:cNvPr id="54725916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15264072" name="Group 9"/>
          <p:cNvGrpSpPr/>
          <p:nvPr/>
        </p:nvGrpSpPr>
        <p:grpSpPr bwMode="auto">
          <a:xfrm rot="0">
            <a:off x="914400" y="2011680"/>
            <a:ext cx="16459200" cy="1005840"/>
            <a:chOff x="0" y="0"/>
            <a:chExt cx="21945600" cy="134112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68624" r="0" b="-268625"/>
              </a:stretch>
            </a:blipFill>
          </p:spPr>
        </p:sp>
      </p:grpSp>
      <p:grpSp>
        <p:nvGrpSpPr>
          <p:cNvPr id="1867697334" name="Group 11"/>
          <p:cNvGrpSpPr/>
          <p:nvPr/>
        </p:nvGrpSpPr>
        <p:grpSpPr bwMode="auto">
          <a:xfrm rot="0">
            <a:off x="914400" y="1954530"/>
            <a:ext cx="16459200" cy="1062990"/>
            <a:chOff x="0" y="0"/>
            <a:chExt cx="21945600" cy="141732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417320"/>
            </a:xfrm>
            <a:custGeom>
              <a:avLst/>
              <a:gdLst/>
              <a:ahLst/>
              <a:cxnLst/>
              <a:rect l="l" t="t" r="r" b="b"/>
              <a:pathLst>
                <a:path w="21945600" h="141732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51703" r="0" b="-251702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49352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In multi-core systems, multiple cores may store copies of the same data. Modifications cause inconsistencies — MESI solves this.</a:t>
              </a:r>
              <a:endParaRPr/>
            </a:p>
          </p:txBody>
        </p:sp>
      </p:grpSp>
      <p:sp>
        <p:nvSpPr>
          <p:cNvPr id="174120246" name="Freeform 14"/>
          <p:cNvSpPr/>
          <p:nvPr/>
        </p:nvSpPr>
        <p:spPr bwMode="auto">
          <a:xfrm rot="0" flipH="0" flipV="0">
            <a:off x="716280" y="3093720"/>
            <a:ext cx="16855440" cy="1859280"/>
          </a:xfrm>
          <a:custGeom>
            <a:avLst/>
            <a:gdLst/>
            <a:ahLst/>
            <a:cxnLst/>
            <a:rect l="l" t="t" r="r" b="b"/>
            <a:pathLst>
              <a:path w="16855440" h="1859280" fill="norm" stroke="1" extrusionOk="0">
                <a:moveTo>
                  <a:pt x="0" y="0"/>
                </a:moveTo>
                <a:lnTo>
                  <a:pt x="16855440" y="0"/>
                </a:lnTo>
                <a:lnTo>
                  <a:pt x="16855440" y="1859280"/>
                </a:lnTo>
                <a:lnTo>
                  <a:pt x="0" y="1859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644366012" name="Group 15"/>
          <p:cNvGrpSpPr/>
          <p:nvPr/>
        </p:nvGrpSpPr>
        <p:grpSpPr bwMode="auto">
          <a:xfrm rot="0">
            <a:off x="1097280" y="3255264"/>
            <a:ext cx="16093440" cy="1463040"/>
            <a:chOff x="0" y="0"/>
            <a:chExt cx="21457920" cy="195072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21457920" cy="1950720"/>
            </a:xfrm>
            <a:custGeom>
              <a:avLst/>
              <a:gdLst/>
              <a:ahLst/>
              <a:cxnLst/>
              <a:rect l="l" t="t" r="r" b="b"/>
              <a:pathLst>
                <a:path w="21457920" h="195072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950720"/>
                  </a:lnTo>
                  <a:lnTo>
                    <a:pt x="0" y="1950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4186" r="0" b="-164186"/>
              </a:stretch>
            </a:blipFill>
          </p:spPr>
        </p:sp>
      </p:grpSp>
      <p:grpSp>
        <p:nvGrpSpPr>
          <p:cNvPr id="1245365773" name="Group 17"/>
          <p:cNvGrpSpPr/>
          <p:nvPr/>
        </p:nvGrpSpPr>
        <p:grpSpPr bwMode="auto">
          <a:xfrm rot="0">
            <a:off x="1097280" y="3198114"/>
            <a:ext cx="16093440" cy="1520190"/>
            <a:chOff x="0" y="0"/>
            <a:chExt cx="21457920" cy="2026920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21457920" cy="2026920"/>
            </a:xfrm>
            <a:custGeom>
              <a:avLst/>
              <a:gdLst/>
              <a:ahLst/>
              <a:cxnLst/>
              <a:rect l="l" t="t" r="r" b="b"/>
              <a:pathLst>
                <a:path w="21457920" h="202692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026920"/>
                  </a:lnTo>
                  <a:lnTo>
                    <a:pt x="0" y="20269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56277" r="0" b="-156277"/>
              </a:stretch>
            </a:blip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76200"/>
              <a:ext cx="21457920" cy="210312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⚠️  Problem: Core 1 holds X=10 · Core 2 holds X=10 · Core 1 updates X to 20 · Core 2 still sees X=10 ❌</a:t>
              </a:r>
              <a:endParaRPr/>
            </a:p>
          </p:txBody>
        </p:sp>
      </p:grpSp>
      <p:grpSp>
        <p:nvGrpSpPr>
          <p:cNvPr id="1304950796" name="Group 20"/>
          <p:cNvGrpSpPr/>
          <p:nvPr/>
        </p:nvGrpSpPr>
        <p:grpSpPr bwMode="auto">
          <a:xfrm rot="0">
            <a:off x="731520" y="5212080"/>
            <a:ext cx="4023360" cy="4663440"/>
            <a:chOff x="0" y="0"/>
            <a:chExt cx="5364480" cy="621792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5364480" cy="6217920"/>
            </a:xfrm>
            <a:custGeom>
              <a:avLst/>
              <a:gdLst/>
              <a:ahLst/>
              <a:cxnLst/>
              <a:rect l="l" t="t" r="r" b="b"/>
              <a:pathLst>
                <a:path w="5364480" h="6217920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46490438" name="Group 22"/>
          <p:cNvGrpSpPr/>
          <p:nvPr/>
        </p:nvGrpSpPr>
        <p:grpSpPr bwMode="auto">
          <a:xfrm rot="0">
            <a:off x="2103120" y="5486400"/>
            <a:ext cx="1280160" cy="1280160"/>
            <a:chOff x="0" y="0"/>
            <a:chExt cx="1706880" cy="1706880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 fill="norm" stroke="1" extrusionOk="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2069331786" name="Group 24"/>
          <p:cNvGrpSpPr/>
          <p:nvPr/>
        </p:nvGrpSpPr>
        <p:grpSpPr bwMode="auto">
          <a:xfrm rot="0">
            <a:off x="2103120" y="5522976"/>
            <a:ext cx="1280160" cy="1207008"/>
            <a:chOff x="0" y="0"/>
            <a:chExt cx="1706880" cy="1609344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706880" cy="1609344"/>
            </a:xfrm>
            <a:custGeom>
              <a:avLst/>
              <a:gdLst/>
              <a:ahLst/>
              <a:cxnLst/>
              <a:rect l="l" t="t" r="r" b="b"/>
              <a:pathLst>
                <a:path w="1706880" h="160934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609344"/>
                  </a:lnTo>
                  <a:lnTo>
                    <a:pt x="0" y="16093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1055" t="0" r="-71055" b="0"/>
              </a:stretch>
            </a:blipFill>
          </p:spPr>
        </p:sp>
      </p:grpSp>
      <p:grpSp>
        <p:nvGrpSpPr>
          <p:cNvPr id="1480620051" name="Group 26"/>
          <p:cNvGrpSpPr/>
          <p:nvPr/>
        </p:nvGrpSpPr>
        <p:grpSpPr bwMode="auto">
          <a:xfrm rot="0">
            <a:off x="2103120" y="5451538"/>
            <a:ext cx="1280160" cy="1278446"/>
            <a:chOff x="0" y="0"/>
            <a:chExt cx="1706880" cy="1704594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0" cy="1704594"/>
            </a:xfrm>
            <a:custGeom>
              <a:avLst/>
              <a:gdLst/>
              <a:ahLst/>
              <a:cxnLst/>
              <a:rect l="l" t="t" r="r" b="b"/>
              <a:pathLst>
                <a:path w="1706880" h="170459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704594"/>
                  </a:lnTo>
                  <a:lnTo>
                    <a:pt x="0" y="170459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8131" t="0" r="-78131" b="0"/>
              </a:stretch>
            </a:blipFill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0" y="-95250"/>
              <a:ext cx="1706880" cy="179984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  <a:defRPr/>
              </a:pPr>
              <a:r>
                <a:rPr lang="en-US" sz="36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M</a:t>
              </a:r>
              <a:endParaRPr/>
            </a:p>
          </p:txBody>
        </p:sp>
      </p:grpSp>
      <p:grpSp>
        <p:nvGrpSpPr>
          <p:cNvPr id="1595891465" name="Group 29"/>
          <p:cNvGrpSpPr/>
          <p:nvPr/>
        </p:nvGrpSpPr>
        <p:grpSpPr bwMode="auto">
          <a:xfrm rot="0">
            <a:off x="822960" y="6949440"/>
            <a:ext cx="3840480" cy="731520"/>
            <a:chOff x="0" y="0"/>
            <a:chExt cx="5120640" cy="97536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2225" r="0" b="-52224"/>
              </a:stretch>
            </a:blipFill>
          </p:spPr>
        </p:sp>
      </p:grpSp>
      <p:grpSp>
        <p:nvGrpSpPr>
          <p:cNvPr id="2019950107" name="Group 31"/>
          <p:cNvGrpSpPr/>
          <p:nvPr/>
        </p:nvGrpSpPr>
        <p:grpSpPr bwMode="auto">
          <a:xfrm rot="0">
            <a:off x="822960" y="6892289"/>
            <a:ext cx="3840480" cy="788670"/>
            <a:chOff x="0" y="0"/>
            <a:chExt cx="5120640" cy="105156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5120640" cy="1051560"/>
            </a:xfrm>
            <a:custGeom>
              <a:avLst/>
              <a:gdLst/>
              <a:ahLst/>
              <a:cxnLst/>
              <a:rect l="l" t="t" r="r" b="b"/>
              <a:pathLst>
                <a:path w="5120640" h="10515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4883" r="0" b="-44883"/>
              </a:stretch>
            </a:blipFill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76200"/>
              <a:ext cx="51206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Modified</a:t>
              </a:r>
              <a:endParaRPr/>
            </a:p>
          </p:txBody>
        </p:sp>
      </p:grpSp>
      <p:grpSp>
        <p:nvGrpSpPr>
          <p:cNvPr id="2041474808" name="Group 34"/>
          <p:cNvGrpSpPr/>
          <p:nvPr/>
        </p:nvGrpSpPr>
        <p:grpSpPr bwMode="auto">
          <a:xfrm rot="0">
            <a:off x="877824" y="7735823"/>
            <a:ext cx="3749040" cy="1828800"/>
            <a:chOff x="0" y="0"/>
            <a:chExt cx="4998720" cy="2438400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4998720" cy="2438400"/>
            </a:xfrm>
            <a:custGeom>
              <a:avLst/>
              <a:gdLst/>
              <a:ahLst/>
              <a:cxnLst/>
              <a:rect l="l" t="t" r="r" b="b"/>
              <a:pathLst>
                <a:path w="4998720" h="2438400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12630" t="0" r="-12629" b="0"/>
              </a:stretch>
            </a:blipFill>
          </p:spPr>
        </p:sp>
      </p:grpSp>
      <p:grpSp>
        <p:nvGrpSpPr>
          <p:cNvPr id="1953366125" name="Group 36"/>
          <p:cNvGrpSpPr/>
          <p:nvPr/>
        </p:nvGrpSpPr>
        <p:grpSpPr bwMode="auto">
          <a:xfrm rot="0">
            <a:off x="877824" y="7685818"/>
            <a:ext cx="3749040" cy="1878806"/>
            <a:chOff x="0" y="0"/>
            <a:chExt cx="4998720" cy="2505074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4998720" cy="2505074"/>
            </a:xfrm>
            <a:custGeom>
              <a:avLst/>
              <a:gdLst/>
              <a:ahLst/>
              <a:cxnLst/>
              <a:rect l="l" t="t" r="r" b="b"/>
              <a:pathLst>
                <a:path w="4998720" h="2505075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505075"/>
                  </a:lnTo>
                  <a:lnTo>
                    <a:pt x="0" y="25050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14298" t="0" r="-14298" b="0"/>
              </a:stretch>
            </a:blipFill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0" y="-66675"/>
              <a:ext cx="4998720" cy="257175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21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Data changed in this cache, differs from RAM</a:t>
              </a:r>
              <a:endParaRPr/>
            </a:p>
          </p:txBody>
        </p:sp>
      </p:grpSp>
      <p:grpSp>
        <p:nvGrpSpPr>
          <p:cNvPr id="1478904939" name="Group 39"/>
          <p:cNvGrpSpPr/>
          <p:nvPr/>
        </p:nvGrpSpPr>
        <p:grpSpPr bwMode="auto">
          <a:xfrm rot="0">
            <a:off x="5029200" y="5212080"/>
            <a:ext cx="4023360" cy="4663440"/>
            <a:chOff x="0" y="0"/>
            <a:chExt cx="5364480" cy="6217920"/>
          </a:xfrm>
        </p:grpSpPr>
        <p:sp>
          <p:nvSpPr>
            <p:cNvPr id="40" name="Freeform 40"/>
            <p:cNvSpPr/>
            <p:nvPr/>
          </p:nvSpPr>
          <p:spPr bwMode="auto">
            <a:xfrm rot="0" flipH="0" flipV="0">
              <a:off x="0" y="0"/>
              <a:ext cx="5364480" cy="6217920"/>
            </a:xfrm>
            <a:custGeom>
              <a:avLst/>
              <a:gdLst/>
              <a:ahLst/>
              <a:cxnLst/>
              <a:rect l="l" t="t" r="r" b="b"/>
              <a:pathLst>
                <a:path w="5364480" h="6217920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93709042" name="Group 41"/>
          <p:cNvGrpSpPr/>
          <p:nvPr/>
        </p:nvGrpSpPr>
        <p:grpSpPr bwMode="auto">
          <a:xfrm rot="0">
            <a:off x="6400800" y="5486400"/>
            <a:ext cx="1280160" cy="1280160"/>
            <a:chOff x="0" y="0"/>
            <a:chExt cx="1706880" cy="1706880"/>
          </a:xfrm>
        </p:grpSpPr>
        <p:sp>
          <p:nvSpPr>
            <p:cNvPr id="42" name="Freeform 42"/>
            <p:cNvSpPr/>
            <p:nvPr/>
          </p:nvSpPr>
          <p:spPr bwMode="auto">
            <a:xfrm rot="0" flipH="0" flipV="0"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 fill="norm" stroke="1" extrusionOk="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751821641" name="Group 43"/>
          <p:cNvGrpSpPr/>
          <p:nvPr/>
        </p:nvGrpSpPr>
        <p:grpSpPr bwMode="auto">
          <a:xfrm rot="0">
            <a:off x="6400800" y="5522976"/>
            <a:ext cx="1280160" cy="1207008"/>
            <a:chOff x="0" y="0"/>
            <a:chExt cx="1706880" cy="1609344"/>
          </a:xfrm>
        </p:grpSpPr>
        <p:sp>
          <p:nvSpPr>
            <p:cNvPr id="44" name="Freeform 44"/>
            <p:cNvSpPr/>
            <p:nvPr/>
          </p:nvSpPr>
          <p:spPr bwMode="auto">
            <a:xfrm rot="0" flipH="0" flipV="0">
              <a:off x="0" y="0"/>
              <a:ext cx="1706880" cy="1609344"/>
            </a:xfrm>
            <a:custGeom>
              <a:avLst/>
              <a:gdLst/>
              <a:ahLst/>
              <a:cxnLst/>
              <a:rect l="l" t="t" r="r" b="b"/>
              <a:pathLst>
                <a:path w="1706880" h="160934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609344"/>
                  </a:lnTo>
                  <a:lnTo>
                    <a:pt x="0" y="16093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1055" t="0" r="-71055" b="0"/>
              </a:stretch>
            </a:blipFill>
          </p:spPr>
        </p:sp>
      </p:grpSp>
      <p:grpSp>
        <p:nvGrpSpPr>
          <p:cNvPr id="1291064548" name="Group 45"/>
          <p:cNvGrpSpPr/>
          <p:nvPr/>
        </p:nvGrpSpPr>
        <p:grpSpPr bwMode="auto">
          <a:xfrm rot="0">
            <a:off x="6400800" y="5451538"/>
            <a:ext cx="1280160" cy="1278446"/>
            <a:chOff x="0" y="0"/>
            <a:chExt cx="1706880" cy="1704594"/>
          </a:xfrm>
        </p:grpSpPr>
        <p:sp>
          <p:nvSpPr>
            <p:cNvPr id="46" name="Freeform 46"/>
            <p:cNvSpPr/>
            <p:nvPr/>
          </p:nvSpPr>
          <p:spPr bwMode="auto">
            <a:xfrm rot="0" flipH="0" flipV="0">
              <a:off x="0" y="0"/>
              <a:ext cx="1706880" cy="1704594"/>
            </a:xfrm>
            <a:custGeom>
              <a:avLst/>
              <a:gdLst/>
              <a:ahLst/>
              <a:cxnLst/>
              <a:rect l="l" t="t" r="r" b="b"/>
              <a:pathLst>
                <a:path w="1706880" h="170459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704594"/>
                  </a:lnTo>
                  <a:lnTo>
                    <a:pt x="0" y="170459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8131" t="0" r="-78131" b="0"/>
              </a:stretch>
            </a:blipFill>
          </p:spPr>
        </p:sp>
        <p:sp>
          <p:nvSpPr>
            <p:cNvPr id="47" name="TextBox 47"/>
            <p:cNvSpPr txBox="1"/>
            <p:nvPr/>
          </p:nvSpPr>
          <p:spPr bwMode="auto">
            <a:xfrm>
              <a:off x="0" y="-95250"/>
              <a:ext cx="1706880" cy="179984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  <a:defRPr/>
              </a:pPr>
              <a:r>
                <a:rPr lang="en-US" sz="36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E</a:t>
              </a:r>
              <a:endParaRPr/>
            </a:p>
          </p:txBody>
        </p:sp>
      </p:grpSp>
      <p:grpSp>
        <p:nvGrpSpPr>
          <p:cNvPr id="526218236" name="Group 48"/>
          <p:cNvGrpSpPr/>
          <p:nvPr/>
        </p:nvGrpSpPr>
        <p:grpSpPr bwMode="auto">
          <a:xfrm rot="0">
            <a:off x="5120640" y="6949440"/>
            <a:ext cx="3840480" cy="731520"/>
            <a:chOff x="0" y="0"/>
            <a:chExt cx="5120640" cy="975360"/>
          </a:xfrm>
        </p:grpSpPr>
        <p:sp>
          <p:nvSpPr>
            <p:cNvPr id="49" name="Freeform 49"/>
            <p:cNvSpPr/>
            <p:nvPr/>
          </p:nvSpPr>
          <p:spPr bwMode="auto">
            <a:xfrm rot="0" flipH="0" flipV="0"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2225" r="0" b="-52224"/>
              </a:stretch>
            </a:blipFill>
          </p:spPr>
        </p:sp>
      </p:grpSp>
      <p:grpSp>
        <p:nvGrpSpPr>
          <p:cNvPr id="511436875" name="Group 50"/>
          <p:cNvGrpSpPr/>
          <p:nvPr/>
        </p:nvGrpSpPr>
        <p:grpSpPr bwMode="auto">
          <a:xfrm rot="0">
            <a:off x="5120640" y="6892289"/>
            <a:ext cx="3840480" cy="788670"/>
            <a:chOff x="0" y="0"/>
            <a:chExt cx="5120640" cy="1051560"/>
          </a:xfrm>
        </p:grpSpPr>
        <p:sp>
          <p:nvSpPr>
            <p:cNvPr id="51" name="Freeform 51"/>
            <p:cNvSpPr/>
            <p:nvPr/>
          </p:nvSpPr>
          <p:spPr bwMode="auto">
            <a:xfrm rot="0" flipH="0" flipV="0">
              <a:off x="0" y="0"/>
              <a:ext cx="5120640" cy="1051560"/>
            </a:xfrm>
            <a:custGeom>
              <a:avLst/>
              <a:gdLst/>
              <a:ahLst/>
              <a:cxnLst/>
              <a:rect l="l" t="t" r="r" b="b"/>
              <a:pathLst>
                <a:path w="5120640" h="10515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4883" r="0" b="-44883"/>
              </a:stretch>
            </a:blipFill>
          </p:spPr>
        </p:sp>
        <p:sp>
          <p:nvSpPr>
            <p:cNvPr id="52" name="TextBox 52"/>
            <p:cNvSpPr txBox="1"/>
            <p:nvPr/>
          </p:nvSpPr>
          <p:spPr bwMode="auto">
            <a:xfrm>
              <a:off x="0" y="-76200"/>
              <a:ext cx="51206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Exclusive</a:t>
              </a:r>
              <a:endParaRPr/>
            </a:p>
          </p:txBody>
        </p:sp>
      </p:grpSp>
      <p:grpSp>
        <p:nvGrpSpPr>
          <p:cNvPr id="1064966522" name="Group 53"/>
          <p:cNvGrpSpPr/>
          <p:nvPr/>
        </p:nvGrpSpPr>
        <p:grpSpPr bwMode="auto">
          <a:xfrm rot="0">
            <a:off x="5175504" y="7735823"/>
            <a:ext cx="3749040" cy="1828800"/>
            <a:chOff x="0" y="0"/>
            <a:chExt cx="4998720" cy="2438400"/>
          </a:xfrm>
        </p:grpSpPr>
        <p:sp>
          <p:nvSpPr>
            <p:cNvPr id="54" name="Freeform 54"/>
            <p:cNvSpPr/>
            <p:nvPr/>
          </p:nvSpPr>
          <p:spPr bwMode="auto">
            <a:xfrm rot="0" flipH="0" flipV="0">
              <a:off x="0" y="0"/>
              <a:ext cx="4998720" cy="2438400"/>
            </a:xfrm>
            <a:custGeom>
              <a:avLst/>
              <a:gdLst/>
              <a:ahLst/>
              <a:cxnLst/>
              <a:rect l="l" t="t" r="r" b="b"/>
              <a:pathLst>
                <a:path w="4998720" h="2438400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12630" t="0" r="-12629" b="0"/>
              </a:stretch>
            </a:blipFill>
          </p:spPr>
        </p:sp>
      </p:grpSp>
      <p:grpSp>
        <p:nvGrpSpPr>
          <p:cNvPr id="599118627" name="Group 55"/>
          <p:cNvGrpSpPr/>
          <p:nvPr/>
        </p:nvGrpSpPr>
        <p:grpSpPr bwMode="auto">
          <a:xfrm rot="0">
            <a:off x="5175504" y="7685818"/>
            <a:ext cx="3749040" cy="1878806"/>
            <a:chOff x="0" y="0"/>
            <a:chExt cx="4998720" cy="2505074"/>
          </a:xfrm>
        </p:grpSpPr>
        <p:sp>
          <p:nvSpPr>
            <p:cNvPr id="56" name="Freeform 56"/>
            <p:cNvSpPr/>
            <p:nvPr/>
          </p:nvSpPr>
          <p:spPr bwMode="auto">
            <a:xfrm rot="0" flipH="0" flipV="0">
              <a:off x="0" y="0"/>
              <a:ext cx="4998720" cy="2505074"/>
            </a:xfrm>
            <a:custGeom>
              <a:avLst/>
              <a:gdLst/>
              <a:ahLst/>
              <a:cxnLst/>
              <a:rect l="l" t="t" r="r" b="b"/>
              <a:pathLst>
                <a:path w="4998720" h="2505075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505075"/>
                  </a:lnTo>
                  <a:lnTo>
                    <a:pt x="0" y="25050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14298" t="0" r="-14298" b="0"/>
              </a:stretch>
            </a:blipFill>
          </p:spPr>
        </p:sp>
        <p:sp>
          <p:nvSpPr>
            <p:cNvPr id="57" name="TextBox 57"/>
            <p:cNvSpPr txBox="1"/>
            <p:nvPr/>
          </p:nvSpPr>
          <p:spPr bwMode="auto">
            <a:xfrm>
              <a:off x="0" y="-66675"/>
              <a:ext cx="4998720" cy="257175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21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Only in one cache, matches RAM</a:t>
              </a:r>
              <a:endParaRPr/>
            </a:p>
          </p:txBody>
        </p:sp>
      </p:grpSp>
      <p:grpSp>
        <p:nvGrpSpPr>
          <p:cNvPr id="603021513" name="Group 58"/>
          <p:cNvGrpSpPr/>
          <p:nvPr/>
        </p:nvGrpSpPr>
        <p:grpSpPr bwMode="auto">
          <a:xfrm rot="0">
            <a:off x="9326880" y="5212080"/>
            <a:ext cx="4023360" cy="4663440"/>
            <a:chOff x="0" y="0"/>
            <a:chExt cx="5364480" cy="6217920"/>
          </a:xfrm>
        </p:grpSpPr>
        <p:sp>
          <p:nvSpPr>
            <p:cNvPr id="59" name="Freeform 59"/>
            <p:cNvSpPr/>
            <p:nvPr/>
          </p:nvSpPr>
          <p:spPr bwMode="auto">
            <a:xfrm rot="0" flipH="0" flipV="0">
              <a:off x="0" y="0"/>
              <a:ext cx="5364480" cy="6217920"/>
            </a:xfrm>
            <a:custGeom>
              <a:avLst/>
              <a:gdLst/>
              <a:ahLst/>
              <a:cxnLst/>
              <a:rect l="l" t="t" r="r" b="b"/>
              <a:pathLst>
                <a:path w="5364480" h="6217920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63534678" name="Group 60"/>
          <p:cNvGrpSpPr/>
          <p:nvPr/>
        </p:nvGrpSpPr>
        <p:grpSpPr bwMode="auto">
          <a:xfrm rot="0">
            <a:off x="10698480" y="5486400"/>
            <a:ext cx="1280160" cy="1280160"/>
            <a:chOff x="0" y="0"/>
            <a:chExt cx="1706880" cy="1706880"/>
          </a:xfrm>
        </p:grpSpPr>
        <p:sp>
          <p:nvSpPr>
            <p:cNvPr id="61" name="Freeform 61"/>
            <p:cNvSpPr/>
            <p:nvPr/>
          </p:nvSpPr>
          <p:spPr bwMode="auto">
            <a:xfrm rot="0" flipH="0" flipV="0"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 fill="norm" stroke="1" extrusionOk="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2087150743" name="Group 62"/>
          <p:cNvGrpSpPr/>
          <p:nvPr/>
        </p:nvGrpSpPr>
        <p:grpSpPr bwMode="auto">
          <a:xfrm rot="0">
            <a:off x="10698480" y="5522976"/>
            <a:ext cx="1280160" cy="1207008"/>
            <a:chOff x="0" y="0"/>
            <a:chExt cx="1706880" cy="160934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1706880" cy="1609344"/>
            </a:xfrm>
            <a:custGeom>
              <a:avLst/>
              <a:gdLst/>
              <a:ahLst/>
              <a:cxnLst/>
              <a:rect l="l" t="t" r="r" b="b"/>
              <a:pathLst>
                <a:path w="1706880" h="160934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609344"/>
                  </a:lnTo>
                  <a:lnTo>
                    <a:pt x="0" y="16093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1055" t="0" r="-71055" b="0"/>
              </a:stretch>
            </a:blipFill>
          </p:spPr>
        </p:sp>
      </p:grpSp>
      <p:grpSp>
        <p:nvGrpSpPr>
          <p:cNvPr id="126833646" name="Group 64"/>
          <p:cNvGrpSpPr/>
          <p:nvPr/>
        </p:nvGrpSpPr>
        <p:grpSpPr bwMode="auto">
          <a:xfrm rot="0">
            <a:off x="10698480" y="5451538"/>
            <a:ext cx="1280160" cy="1278446"/>
            <a:chOff x="0" y="0"/>
            <a:chExt cx="1706880" cy="1704594"/>
          </a:xfrm>
        </p:grpSpPr>
        <p:sp>
          <p:nvSpPr>
            <p:cNvPr id="65" name="Freeform 65"/>
            <p:cNvSpPr/>
            <p:nvPr/>
          </p:nvSpPr>
          <p:spPr bwMode="auto">
            <a:xfrm rot="0" flipH="0" flipV="0">
              <a:off x="0" y="0"/>
              <a:ext cx="1706880" cy="1704594"/>
            </a:xfrm>
            <a:custGeom>
              <a:avLst/>
              <a:gdLst/>
              <a:ahLst/>
              <a:cxnLst/>
              <a:rect l="l" t="t" r="r" b="b"/>
              <a:pathLst>
                <a:path w="1706880" h="170459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704594"/>
                  </a:lnTo>
                  <a:lnTo>
                    <a:pt x="0" y="170459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8131" t="0" r="-78131" b="0"/>
              </a:stretch>
            </a:blipFill>
          </p:spPr>
        </p:sp>
        <p:sp>
          <p:nvSpPr>
            <p:cNvPr id="66" name="TextBox 66"/>
            <p:cNvSpPr txBox="1"/>
            <p:nvPr/>
          </p:nvSpPr>
          <p:spPr bwMode="auto">
            <a:xfrm>
              <a:off x="0" y="-95250"/>
              <a:ext cx="1706880" cy="179984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  <a:defRPr/>
              </a:pPr>
              <a:r>
                <a:rPr lang="en-US" sz="36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S</a:t>
              </a:r>
              <a:endParaRPr/>
            </a:p>
          </p:txBody>
        </p:sp>
      </p:grpSp>
      <p:grpSp>
        <p:nvGrpSpPr>
          <p:cNvPr id="122679849" name="Group 67"/>
          <p:cNvGrpSpPr/>
          <p:nvPr/>
        </p:nvGrpSpPr>
        <p:grpSpPr bwMode="auto">
          <a:xfrm rot="0">
            <a:off x="9418320" y="6949440"/>
            <a:ext cx="3840480" cy="731520"/>
            <a:chOff x="0" y="0"/>
            <a:chExt cx="5120640" cy="975360"/>
          </a:xfrm>
        </p:grpSpPr>
        <p:sp>
          <p:nvSpPr>
            <p:cNvPr id="68" name="Freeform 68"/>
            <p:cNvSpPr/>
            <p:nvPr/>
          </p:nvSpPr>
          <p:spPr bwMode="auto">
            <a:xfrm rot="0" flipH="0" flipV="0"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2225" r="0" b="-52224"/>
              </a:stretch>
            </a:blipFill>
          </p:spPr>
        </p:sp>
      </p:grpSp>
      <p:grpSp>
        <p:nvGrpSpPr>
          <p:cNvPr id="1169553691" name="Group 69"/>
          <p:cNvGrpSpPr/>
          <p:nvPr/>
        </p:nvGrpSpPr>
        <p:grpSpPr bwMode="auto">
          <a:xfrm rot="0">
            <a:off x="9418320" y="6892289"/>
            <a:ext cx="3840480" cy="788670"/>
            <a:chOff x="0" y="0"/>
            <a:chExt cx="5120640" cy="1051560"/>
          </a:xfrm>
        </p:grpSpPr>
        <p:sp>
          <p:nvSpPr>
            <p:cNvPr id="70" name="Freeform 70"/>
            <p:cNvSpPr/>
            <p:nvPr/>
          </p:nvSpPr>
          <p:spPr bwMode="auto">
            <a:xfrm rot="0" flipH="0" flipV="0">
              <a:off x="0" y="0"/>
              <a:ext cx="5120640" cy="1051560"/>
            </a:xfrm>
            <a:custGeom>
              <a:avLst/>
              <a:gdLst/>
              <a:ahLst/>
              <a:cxnLst/>
              <a:rect l="l" t="t" r="r" b="b"/>
              <a:pathLst>
                <a:path w="5120640" h="10515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4883" r="0" b="-44883"/>
              </a:stretch>
            </a:blipFill>
          </p:spPr>
        </p:sp>
        <p:sp>
          <p:nvSpPr>
            <p:cNvPr id="71" name="TextBox 71"/>
            <p:cNvSpPr txBox="1"/>
            <p:nvPr/>
          </p:nvSpPr>
          <p:spPr bwMode="auto">
            <a:xfrm>
              <a:off x="0" y="-76200"/>
              <a:ext cx="51206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Shared</a:t>
              </a:r>
              <a:endParaRPr/>
            </a:p>
          </p:txBody>
        </p:sp>
      </p:grpSp>
      <p:grpSp>
        <p:nvGrpSpPr>
          <p:cNvPr id="361750678" name="Group 72"/>
          <p:cNvGrpSpPr/>
          <p:nvPr/>
        </p:nvGrpSpPr>
        <p:grpSpPr bwMode="auto">
          <a:xfrm rot="0">
            <a:off x="9473184" y="7735823"/>
            <a:ext cx="3749040" cy="1828800"/>
            <a:chOff x="0" y="0"/>
            <a:chExt cx="4998720" cy="2438400"/>
          </a:xfrm>
        </p:grpSpPr>
        <p:sp>
          <p:nvSpPr>
            <p:cNvPr id="73" name="Freeform 73"/>
            <p:cNvSpPr/>
            <p:nvPr/>
          </p:nvSpPr>
          <p:spPr bwMode="auto">
            <a:xfrm rot="0" flipH="0" flipV="0">
              <a:off x="0" y="0"/>
              <a:ext cx="4998720" cy="2438400"/>
            </a:xfrm>
            <a:custGeom>
              <a:avLst/>
              <a:gdLst/>
              <a:ahLst/>
              <a:cxnLst/>
              <a:rect l="l" t="t" r="r" b="b"/>
              <a:pathLst>
                <a:path w="4998720" h="2438400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12630" t="0" r="-12629" b="0"/>
              </a:stretch>
            </a:blipFill>
          </p:spPr>
        </p:sp>
      </p:grpSp>
      <p:grpSp>
        <p:nvGrpSpPr>
          <p:cNvPr id="2084215756" name="Group 74"/>
          <p:cNvGrpSpPr/>
          <p:nvPr/>
        </p:nvGrpSpPr>
        <p:grpSpPr bwMode="auto">
          <a:xfrm rot="0">
            <a:off x="9473184" y="7685818"/>
            <a:ext cx="3749040" cy="1878806"/>
            <a:chOff x="0" y="0"/>
            <a:chExt cx="4998720" cy="2505074"/>
          </a:xfrm>
        </p:grpSpPr>
        <p:sp>
          <p:nvSpPr>
            <p:cNvPr id="75" name="Freeform 75"/>
            <p:cNvSpPr/>
            <p:nvPr/>
          </p:nvSpPr>
          <p:spPr bwMode="auto">
            <a:xfrm rot="0" flipH="0" flipV="0">
              <a:off x="0" y="0"/>
              <a:ext cx="4998720" cy="2505074"/>
            </a:xfrm>
            <a:custGeom>
              <a:avLst/>
              <a:gdLst/>
              <a:ahLst/>
              <a:cxnLst/>
              <a:rect l="l" t="t" r="r" b="b"/>
              <a:pathLst>
                <a:path w="4998720" h="2505075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505075"/>
                  </a:lnTo>
                  <a:lnTo>
                    <a:pt x="0" y="25050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14298" t="0" r="-14298" b="0"/>
              </a:stretch>
            </a:blipFill>
          </p:spPr>
        </p:sp>
        <p:sp>
          <p:nvSpPr>
            <p:cNvPr id="76" name="TextBox 76"/>
            <p:cNvSpPr txBox="1"/>
            <p:nvPr/>
          </p:nvSpPr>
          <p:spPr bwMode="auto">
            <a:xfrm>
              <a:off x="0" y="-66675"/>
              <a:ext cx="4998720" cy="257175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21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In multiple caches, identical across all</a:t>
              </a:r>
              <a:endParaRPr/>
            </a:p>
          </p:txBody>
        </p:sp>
      </p:grpSp>
      <p:grpSp>
        <p:nvGrpSpPr>
          <p:cNvPr id="301030997" name="Group 77"/>
          <p:cNvGrpSpPr/>
          <p:nvPr/>
        </p:nvGrpSpPr>
        <p:grpSpPr bwMode="auto">
          <a:xfrm rot="0">
            <a:off x="13624560" y="5212080"/>
            <a:ext cx="4023360" cy="4663440"/>
            <a:chOff x="0" y="0"/>
            <a:chExt cx="5364480" cy="6217920"/>
          </a:xfrm>
        </p:grpSpPr>
        <p:sp>
          <p:nvSpPr>
            <p:cNvPr id="78" name="Freeform 78"/>
            <p:cNvSpPr/>
            <p:nvPr/>
          </p:nvSpPr>
          <p:spPr bwMode="auto">
            <a:xfrm rot="0" flipH="0" flipV="0">
              <a:off x="0" y="0"/>
              <a:ext cx="5364480" cy="6217920"/>
            </a:xfrm>
            <a:custGeom>
              <a:avLst/>
              <a:gdLst/>
              <a:ahLst/>
              <a:cxnLst/>
              <a:rect l="l" t="t" r="r" b="b"/>
              <a:pathLst>
                <a:path w="5364480" h="6217920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25007427" name="Group 79"/>
          <p:cNvGrpSpPr/>
          <p:nvPr/>
        </p:nvGrpSpPr>
        <p:grpSpPr bwMode="auto">
          <a:xfrm rot="0">
            <a:off x="14996160" y="5486400"/>
            <a:ext cx="1280160" cy="1280160"/>
            <a:chOff x="0" y="0"/>
            <a:chExt cx="1706880" cy="1706880"/>
          </a:xfrm>
        </p:grpSpPr>
        <p:sp>
          <p:nvSpPr>
            <p:cNvPr id="80" name="Freeform 80"/>
            <p:cNvSpPr/>
            <p:nvPr/>
          </p:nvSpPr>
          <p:spPr bwMode="auto">
            <a:xfrm rot="0" flipH="0" flipV="0"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 fill="norm" stroke="1" extrusionOk="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  <p:grpSp>
        <p:nvGrpSpPr>
          <p:cNvPr id="356976545" name="Group 81"/>
          <p:cNvGrpSpPr/>
          <p:nvPr/>
        </p:nvGrpSpPr>
        <p:grpSpPr bwMode="auto">
          <a:xfrm rot="0">
            <a:off x="14996160" y="5522976"/>
            <a:ext cx="1280160" cy="1207008"/>
            <a:chOff x="0" y="0"/>
            <a:chExt cx="1706880" cy="1609344"/>
          </a:xfrm>
        </p:grpSpPr>
        <p:sp>
          <p:nvSpPr>
            <p:cNvPr id="82" name="Freeform 82"/>
            <p:cNvSpPr/>
            <p:nvPr/>
          </p:nvSpPr>
          <p:spPr bwMode="auto">
            <a:xfrm rot="0" flipH="0" flipV="0">
              <a:off x="0" y="0"/>
              <a:ext cx="1706880" cy="1609344"/>
            </a:xfrm>
            <a:custGeom>
              <a:avLst/>
              <a:gdLst/>
              <a:ahLst/>
              <a:cxnLst/>
              <a:rect l="l" t="t" r="r" b="b"/>
              <a:pathLst>
                <a:path w="1706880" h="160934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609344"/>
                  </a:lnTo>
                  <a:lnTo>
                    <a:pt x="0" y="160934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1055" t="0" r="-71055" b="0"/>
              </a:stretch>
            </a:blipFill>
          </p:spPr>
        </p:sp>
      </p:grpSp>
      <p:grpSp>
        <p:nvGrpSpPr>
          <p:cNvPr id="1053690739" name="Group 83"/>
          <p:cNvGrpSpPr/>
          <p:nvPr/>
        </p:nvGrpSpPr>
        <p:grpSpPr bwMode="auto">
          <a:xfrm rot="0">
            <a:off x="14996160" y="5451538"/>
            <a:ext cx="1280160" cy="1278446"/>
            <a:chOff x="0" y="0"/>
            <a:chExt cx="1706880" cy="1704594"/>
          </a:xfrm>
        </p:grpSpPr>
        <p:sp>
          <p:nvSpPr>
            <p:cNvPr id="84" name="Freeform 84"/>
            <p:cNvSpPr/>
            <p:nvPr/>
          </p:nvSpPr>
          <p:spPr bwMode="auto">
            <a:xfrm rot="0" flipH="0" flipV="0">
              <a:off x="0" y="0"/>
              <a:ext cx="1706880" cy="1704594"/>
            </a:xfrm>
            <a:custGeom>
              <a:avLst/>
              <a:gdLst/>
              <a:ahLst/>
              <a:cxnLst/>
              <a:rect l="l" t="t" r="r" b="b"/>
              <a:pathLst>
                <a:path w="1706880" h="1704594" fill="norm" stroke="1" extrusionOk="0">
                  <a:moveTo>
                    <a:pt x="0" y="0"/>
                  </a:moveTo>
                  <a:lnTo>
                    <a:pt x="1706880" y="0"/>
                  </a:lnTo>
                  <a:lnTo>
                    <a:pt x="1706880" y="1704594"/>
                  </a:lnTo>
                  <a:lnTo>
                    <a:pt x="0" y="170459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8131" t="0" r="-78131" b="0"/>
              </a:stretch>
            </a:blipFill>
          </p:spPr>
        </p:sp>
        <p:sp>
          <p:nvSpPr>
            <p:cNvPr id="85" name="TextBox 85"/>
            <p:cNvSpPr txBox="1"/>
            <p:nvPr/>
          </p:nvSpPr>
          <p:spPr bwMode="auto">
            <a:xfrm>
              <a:off x="0" y="-95250"/>
              <a:ext cx="1706880" cy="179984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  <a:defRPr/>
              </a:pPr>
              <a:r>
                <a:rPr lang="en-US" sz="36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I</a:t>
              </a:r>
              <a:endParaRPr/>
            </a:p>
          </p:txBody>
        </p:sp>
      </p:grpSp>
      <p:grpSp>
        <p:nvGrpSpPr>
          <p:cNvPr id="1959508635" name="Group 86"/>
          <p:cNvGrpSpPr/>
          <p:nvPr/>
        </p:nvGrpSpPr>
        <p:grpSpPr bwMode="auto">
          <a:xfrm rot="0">
            <a:off x="13716000" y="6949440"/>
            <a:ext cx="3840480" cy="731520"/>
            <a:chOff x="0" y="0"/>
            <a:chExt cx="5120640" cy="975360"/>
          </a:xfrm>
        </p:grpSpPr>
        <p:sp>
          <p:nvSpPr>
            <p:cNvPr id="87" name="Freeform 87"/>
            <p:cNvSpPr/>
            <p:nvPr/>
          </p:nvSpPr>
          <p:spPr bwMode="auto">
            <a:xfrm rot="0" flipH="0" flipV="0"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2225" r="0" b="-52224"/>
              </a:stretch>
            </a:blipFill>
          </p:spPr>
        </p:sp>
      </p:grpSp>
      <p:grpSp>
        <p:nvGrpSpPr>
          <p:cNvPr id="1596604095" name="Group 88"/>
          <p:cNvGrpSpPr/>
          <p:nvPr/>
        </p:nvGrpSpPr>
        <p:grpSpPr bwMode="auto">
          <a:xfrm rot="0">
            <a:off x="13716000" y="6892289"/>
            <a:ext cx="3840480" cy="788670"/>
            <a:chOff x="0" y="0"/>
            <a:chExt cx="5120640" cy="1051560"/>
          </a:xfrm>
        </p:grpSpPr>
        <p:sp>
          <p:nvSpPr>
            <p:cNvPr id="89" name="Freeform 89"/>
            <p:cNvSpPr/>
            <p:nvPr/>
          </p:nvSpPr>
          <p:spPr bwMode="auto">
            <a:xfrm rot="0" flipH="0" flipV="0">
              <a:off x="0" y="0"/>
              <a:ext cx="5120640" cy="1051560"/>
            </a:xfrm>
            <a:custGeom>
              <a:avLst/>
              <a:gdLst/>
              <a:ahLst/>
              <a:cxnLst/>
              <a:rect l="l" t="t" r="r" b="b"/>
              <a:pathLst>
                <a:path w="5120640" h="1051560" fill="norm" stroke="1" extrusionOk="0">
                  <a:moveTo>
                    <a:pt x="0" y="0"/>
                  </a:moveTo>
                  <a:lnTo>
                    <a:pt x="5120640" y="0"/>
                  </a:lnTo>
                  <a:lnTo>
                    <a:pt x="51206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4883" r="0" b="-44883"/>
              </a:stretch>
            </a:blipFill>
          </p:spPr>
        </p:sp>
        <p:sp>
          <p:nvSpPr>
            <p:cNvPr id="90" name="TextBox 90"/>
            <p:cNvSpPr txBox="1"/>
            <p:nvPr/>
          </p:nvSpPr>
          <p:spPr bwMode="auto">
            <a:xfrm>
              <a:off x="0" y="-76200"/>
              <a:ext cx="51206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888580"/>
                  </a:solidFill>
                  <a:latin typeface="Cooper Hewitt Bold"/>
                  <a:ea typeface="Cooper Hewitt Bold"/>
                  <a:cs typeface="Cooper Hewitt Bold"/>
                </a:rPr>
                <a:t>Invalid</a:t>
              </a:r>
              <a:endParaRPr/>
            </a:p>
          </p:txBody>
        </p:sp>
      </p:grpSp>
      <p:grpSp>
        <p:nvGrpSpPr>
          <p:cNvPr id="1224598893" name="Group 91"/>
          <p:cNvGrpSpPr/>
          <p:nvPr/>
        </p:nvGrpSpPr>
        <p:grpSpPr bwMode="auto">
          <a:xfrm rot="0">
            <a:off x="13770864" y="7735823"/>
            <a:ext cx="3749040" cy="1828800"/>
            <a:chOff x="0" y="0"/>
            <a:chExt cx="4998720" cy="2438400"/>
          </a:xfrm>
        </p:grpSpPr>
        <p:sp>
          <p:nvSpPr>
            <p:cNvPr id="92" name="Freeform 92"/>
            <p:cNvSpPr/>
            <p:nvPr/>
          </p:nvSpPr>
          <p:spPr bwMode="auto">
            <a:xfrm rot="0" flipH="0" flipV="0">
              <a:off x="0" y="0"/>
              <a:ext cx="4998720" cy="2438400"/>
            </a:xfrm>
            <a:custGeom>
              <a:avLst/>
              <a:gdLst/>
              <a:ahLst/>
              <a:cxnLst/>
              <a:rect l="l" t="t" r="r" b="b"/>
              <a:pathLst>
                <a:path w="4998720" h="2438400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438400"/>
                  </a:lnTo>
                  <a:lnTo>
                    <a:pt x="0" y="2438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12630" t="0" r="-12629" b="0"/>
              </a:stretch>
            </a:blipFill>
          </p:spPr>
        </p:sp>
      </p:grpSp>
      <p:grpSp>
        <p:nvGrpSpPr>
          <p:cNvPr id="1212645978" name="Group 93"/>
          <p:cNvGrpSpPr/>
          <p:nvPr/>
        </p:nvGrpSpPr>
        <p:grpSpPr bwMode="auto">
          <a:xfrm rot="0">
            <a:off x="13770864" y="7685818"/>
            <a:ext cx="3749040" cy="1878806"/>
            <a:chOff x="0" y="0"/>
            <a:chExt cx="4998720" cy="2505074"/>
          </a:xfrm>
        </p:grpSpPr>
        <p:sp>
          <p:nvSpPr>
            <p:cNvPr id="94" name="Freeform 94"/>
            <p:cNvSpPr/>
            <p:nvPr/>
          </p:nvSpPr>
          <p:spPr bwMode="auto">
            <a:xfrm rot="0" flipH="0" flipV="0">
              <a:off x="0" y="0"/>
              <a:ext cx="4998720" cy="2505074"/>
            </a:xfrm>
            <a:custGeom>
              <a:avLst/>
              <a:gdLst/>
              <a:ahLst/>
              <a:cxnLst/>
              <a:rect l="l" t="t" r="r" b="b"/>
              <a:pathLst>
                <a:path w="4998720" h="2505075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2505075"/>
                  </a:lnTo>
                  <a:lnTo>
                    <a:pt x="0" y="25050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14298" t="0" r="-14298" b="0"/>
              </a:stretch>
            </a:blipFill>
          </p:spPr>
        </p:sp>
        <p:sp>
          <p:nvSpPr>
            <p:cNvPr id="95" name="TextBox 95"/>
            <p:cNvSpPr txBox="1"/>
            <p:nvPr/>
          </p:nvSpPr>
          <p:spPr bwMode="auto">
            <a:xfrm>
              <a:off x="0" y="-66675"/>
              <a:ext cx="4998720" cy="257175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21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Stale — must not be used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3023643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028062087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1.4 — MESI Protocol: Step-by-Step</a:t>
              </a:r>
              <a:endParaRPr/>
            </a:p>
          </p:txBody>
        </p:sp>
      </p:grpSp>
      <p:grpSp>
        <p:nvGrpSpPr>
          <p:cNvPr id="913983779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576065277" name="Group 9"/>
          <p:cNvGrpSpPr/>
          <p:nvPr/>
        </p:nvGrpSpPr>
        <p:grpSpPr bwMode="auto">
          <a:xfrm rot="0">
            <a:off x="731520" y="2194560"/>
            <a:ext cx="5486400" cy="7498080"/>
            <a:chOff x="0" y="0"/>
            <a:chExt cx="7315200" cy="999744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7315200" cy="9997440"/>
            </a:xfrm>
            <a:custGeom>
              <a:avLst/>
              <a:gdLst/>
              <a:ahLst/>
              <a:cxnLst/>
              <a:rect l="l" t="t" r="r" b="b"/>
              <a:pathLst>
                <a:path w="7315200" h="9997440" fill="norm" stroke="1" extrusionOk="0">
                  <a:moveTo>
                    <a:pt x="0" y="0"/>
                  </a:moveTo>
                  <a:lnTo>
                    <a:pt x="7315200" y="0"/>
                  </a:lnTo>
                  <a:lnTo>
                    <a:pt x="73152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58529373" name="Group 11"/>
          <p:cNvGrpSpPr/>
          <p:nvPr/>
        </p:nvGrpSpPr>
        <p:grpSpPr bwMode="auto">
          <a:xfrm rot="0">
            <a:off x="731520" y="2194560"/>
            <a:ext cx="128016" cy="7498080"/>
            <a:chOff x="0" y="0"/>
            <a:chExt cx="170688" cy="999744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209801813" name="Group 13"/>
          <p:cNvGrpSpPr/>
          <p:nvPr/>
        </p:nvGrpSpPr>
        <p:grpSpPr bwMode="auto">
          <a:xfrm rot="0">
            <a:off x="1042416" y="2377440"/>
            <a:ext cx="4992624" cy="731520"/>
            <a:chOff x="0" y="0"/>
            <a:chExt cx="66568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6656832" cy="975360"/>
            </a:xfrm>
            <a:custGeom>
              <a:avLst/>
              <a:gdLst/>
              <a:ahLst/>
              <a:cxnLst/>
              <a:rect l="l" t="t" r="r" b="b"/>
              <a:pathLst>
                <a:path w="6656832" h="975360" fill="norm" stroke="1" extrusionOk="0">
                  <a:moveTo>
                    <a:pt x="0" y="0"/>
                  </a:moveTo>
                  <a:lnTo>
                    <a:pt x="6656832" y="0"/>
                  </a:lnTo>
                  <a:lnTo>
                    <a:pt x="66568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82893" r="0" b="-82893"/>
              </a:stretch>
            </a:blipFill>
          </p:spPr>
        </p:sp>
      </p:grpSp>
      <p:grpSp>
        <p:nvGrpSpPr>
          <p:cNvPr id="1179483935" name="Group 15"/>
          <p:cNvGrpSpPr/>
          <p:nvPr/>
        </p:nvGrpSpPr>
        <p:grpSpPr bwMode="auto">
          <a:xfrm rot="0">
            <a:off x="1042416" y="2320290"/>
            <a:ext cx="4992624" cy="788670"/>
            <a:chOff x="0" y="0"/>
            <a:chExt cx="66568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6656832" cy="1051560"/>
            </a:xfrm>
            <a:custGeom>
              <a:avLst/>
              <a:gdLst/>
              <a:ahLst/>
              <a:cxnLst/>
              <a:rect l="l" t="t" r="r" b="b"/>
              <a:pathLst>
                <a:path w="6656832" h="1051560" fill="norm" stroke="1" extrusionOk="0">
                  <a:moveTo>
                    <a:pt x="0" y="0"/>
                  </a:moveTo>
                  <a:lnTo>
                    <a:pt x="6656832" y="0"/>
                  </a:lnTo>
                  <a:lnTo>
                    <a:pt x="66568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73348" r="0" b="-73348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66568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Step 1 — Initial State</a:t>
              </a:r>
              <a:endParaRPr/>
            </a:p>
          </p:txBody>
        </p:sp>
      </p:grpSp>
      <p:sp>
        <p:nvSpPr>
          <p:cNvPr id="2049814855" name="TextBox 18"/>
          <p:cNvSpPr txBox="1"/>
          <p:nvPr/>
        </p:nvSpPr>
        <p:spPr bwMode="auto">
          <a:xfrm rot="0">
            <a:off x="1133856" y="3093720"/>
            <a:ext cx="48097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1: X = 10 → State: Shared (S)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2: X = 10 → State: Shared (S)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Both cores hold identical, valid copies</a:t>
            </a:r>
            <a:endParaRPr/>
          </a:p>
        </p:txBody>
      </p:sp>
      <p:grpSp>
        <p:nvGrpSpPr>
          <p:cNvPr id="1299154121" name="Group 19"/>
          <p:cNvGrpSpPr/>
          <p:nvPr/>
        </p:nvGrpSpPr>
        <p:grpSpPr bwMode="auto">
          <a:xfrm rot="0">
            <a:off x="6583680" y="2194560"/>
            <a:ext cx="5486400" cy="7498080"/>
            <a:chOff x="0" y="0"/>
            <a:chExt cx="7315200" cy="999744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7315200" cy="9997440"/>
            </a:xfrm>
            <a:custGeom>
              <a:avLst/>
              <a:gdLst/>
              <a:ahLst/>
              <a:cxnLst/>
              <a:rect l="l" t="t" r="r" b="b"/>
              <a:pathLst>
                <a:path w="7315200" h="9997440" fill="norm" stroke="1" extrusionOk="0">
                  <a:moveTo>
                    <a:pt x="0" y="0"/>
                  </a:moveTo>
                  <a:lnTo>
                    <a:pt x="7315200" y="0"/>
                  </a:lnTo>
                  <a:lnTo>
                    <a:pt x="73152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17365093" name="Group 21"/>
          <p:cNvGrpSpPr/>
          <p:nvPr/>
        </p:nvGrpSpPr>
        <p:grpSpPr bwMode="auto">
          <a:xfrm rot="0">
            <a:off x="6583680" y="2194560"/>
            <a:ext cx="128016" cy="7498080"/>
            <a:chOff x="0" y="0"/>
            <a:chExt cx="170688" cy="999744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247745212" name="Group 23"/>
          <p:cNvGrpSpPr/>
          <p:nvPr/>
        </p:nvGrpSpPr>
        <p:grpSpPr bwMode="auto">
          <a:xfrm rot="0">
            <a:off x="6894576" y="2377440"/>
            <a:ext cx="4992624" cy="731520"/>
            <a:chOff x="0" y="0"/>
            <a:chExt cx="66568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6656832" cy="975360"/>
            </a:xfrm>
            <a:custGeom>
              <a:avLst/>
              <a:gdLst/>
              <a:ahLst/>
              <a:cxnLst/>
              <a:rect l="l" t="t" r="r" b="b"/>
              <a:pathLst>
                <a:path w="6656832" h="975360" fill="norm" stroke="1" extrusionOk="0">
                  <a:moveTo>
                    <a:pt x="0" y="0"/>
                  </a:moveTo>
                  <a:lnTo>
                    <a:pt x="6656832" y="0"/>
                  </a:lnTo>
                  <a:lnTo>
                    <a:pt x="66568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82893" r="0" b="-82893"/>
              </a:stretch>
            </a:blipFill>
          </p:spPr>
        </p:sp>
      </p:grpSp>
      <p:grpSp>
        <p:nvGrpSpPr>
          <p:cNvPr id="2052316866" name="Group 25"/>
          <p:cNvGrpSpPr/>
          <p:nvPr/>
        </p:nvGrpSpPr>
        <p:grpSpPr bwMode="auto">
          <a:xfrm rot="0">
            <a:off x="6894576" y="2320290"/>
            <a:ext cx="4992624" cy="788670"/>
            <a:chOff x="0" y="0"/>
            <a:chExt cx="66568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6656832" cy="1051560"/>
            </a:xfrm>
            <a:custGeom>
              <a:avLst/>
              <a:gdLst/>
              <a:ahLst/>
              <a:cxnLst/>
              <a:rect l="l" t="t" r="r" b="b"/>
              <a:pathLst>
                <a:path w="6656832" h="1051560" fill="norm" stroke="1" extrusionOk="0">
                  <a:moveTo>
                    <a:pt x="0" y="0"/>
                  </a:moveTo>
                  <a:lnTo>
                    <a:pt x="6656832" y="0"/>
                  </a:lnTo>
                  <a:lnTo>
                    <a:pt x="66568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73348" r="0" b="-73348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66568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Step 2 — Core 1 Updates X</a:t>
              </a:r>
              <a:endParaRPr/>
            </a:p>
          </p:txBody>
        </p:sp>
      </p:grpSp>
      <p:sp>
        <p:nvSpPr>
          <p:cNvPr id="744388488" name="TextBox 28"/>
          <p:cNvSpPr txBox="1"/>
          <p:nvPr/>
        </p:nvSpPr>
        <p:spPr bwMode="auto">
          <a:xfrm rot="0">
            <a:off x="6986016" y="3093720"/>
            <a:ext cx="48097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1 changes X from 10 → 20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1 state → Modified (M)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2 state → Invalid (I) immediately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2's copy is now outdated/stale</a:t>
            </a:r>
            <a:endParaRPr/>
          </a:p>
        </p:txBody>
      </p:sp>
      <p:grpSp>
        <p:nvGrpSpPr>
          <p:cNvPr id="1606792116" name="Group 29"/>
          <p:cNvGrpSpPr/>
          <p:nvPr/>
        </p:nvGrpSpPr>
        <p:grpSpPr bwMode="auto">
          <a:xfrm rot="0">
            <a:off x="12435840" y="2194560"/>
            <a:ext cx="5486400" cy="7498080"/>
            <a:chOff x="0" y="0"/>
            <a:chExt cx="7315200" cy="999744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7315200" cy="9997440"/>
            </a:xfrm>
            <a:custGeom>
              <a:avLst/>
              <a:gdLst/>
              <a:ahLst/>
              <a:cxnLst/>
              <a:rect l="l" t="t" r="r" b="b"/>
              <a:pathLst>
                <a:path w="7315200" h="9997440" fill="norm" stroke="1" extrusionOk="0">
                  <a:moveTo>
                    <a:pt x="0" y="0"/>
                  </a:moveTo>
                  <a:lnTo>
                    <a:pt x="7315200" y="0"/>
                  </a:lnTo>
                  <a:lnTo>
                    <a:pt x="73152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813339" name="Group 31"/>
          <p:cNvGrpSpPr/>
          <p:nvPr/>
        </p:nvGrpSpPr>
        <p:grpSpPr bwMode="auto">
          <a:xfrm rot="0">
            <a:off x="12435840" y="2194560"/>
            <a:ext cx="128016" cy="7498080"/>
            <a:chOff x="0" y="0"/>
            <a:chExt cx="170688" cy="999744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205430191" name="Group 33"/>
          <p:cNvGrpSpPr/>
          <p:nvPr/>
        </p:nvGrpSpPr>
        <p:grpSpPr bwMode="auto">
          <a:xfrm rot="0">
            <a:off x="12746736" y="2377440"/>
            <a:ext cx="4992624" cy="731520"/>
            <a:chOff x="0" y="0"/>
            <a:chExt cx="6656832" cy="975360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6656832" cy="975360"/>
            </a:xfrm>
            <a:custGeom>
              <a:avLst/>
              <a:gdLst/>
              <a:ahLst/>
              <a:cxnLst/>
              <a:rect l="l" t="t" r="r" b="b"/>
              <a:pathLst>
                <a:path w="6656832" h="975360" fill="norm" stroke="1" extrusionOk="0">
                  <a:moveTo>
                    <a:pt x="0" y="0"/>
                  </a:moveTo>
                  <a:lnTo>
                    <a:pt x="6656832" y="0"/>
                  </a:lnTo>
                  <a:lnTo>
                    <a:pt x="66568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82893" r="0" b="-82893"/>
              </a:stretch>
            </a:blipFill>
          </p:spPr>
        </p:sp>
      </p:grpSp>
      <p:grpSp>
        <p:nvGrpSpPr>
          <p:cNvPr id="118794347" name="Group 35"/>
          <p:cNvGrpSpPr/>
          <p:nvPr/>
        </p:nvGrpSpPr>
        <p:grpSpPr bwMode="auto">
          <a:xfrm rot="0">
            <a:off x="12746736" y="2320290"/>
            <a:ext cx="4992624" cy="788670"/>
            <a:chOff x="0" y="0"/>
            <a:chExt cx="6656832" cy="1051560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6656832" cy="1051560"/>
            </a:xfrm>
            <a:custGeom>
              <a:avLst/>
              <a:gdLst/>
              <a:ahLst/>
              <a:cxnLst/>
              <a:rect l="l" t="t" r="r" b="b"/>
              <a:pathLst>
                <a:path w="6656832" h="1051560" fill="norm" stroke="1" extrusionOk="0">
                  <a:moveTo>
                    <a:pt x="0" y="0"/>
                  </a:moveTo>
                  <a:lnTo>
                    <a:pt x="6656832" y="0"/>
                  </a:lnTo>
                  <a:lnTo>
                    <a:pt x="66568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73348" r="0" b="-73348"/>
              </a:stretch>
            </a:blip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0" y="-76200"/>
              <a:ext cx="66568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Step 3 — Core 2 Requests X</a:t>
              </a:r>
              <a:endParaRPr/>
            </a:p>
          </p:txBody>
        </p:sp>
      </p:grpSp>
      <p:sp>
        <p:nvSpPr>
          <p:cNvPr id="1549625444" name="TextBox 38"/>
          <p:cNvSpPr txBox="1"/>
          <p:nvPr/>
        </p:nvSpPr>
        <p:spPr bwMode="auto">
          <a:xfrm rot="0">
            <a:off x="12838176" y="3093720"/>
            <a:ext cx="48097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 2 detects its copy is Invalid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Retrieves updated value from Core 1 or RAM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Synchronization completes successfully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Both cores now have consistent data 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1544276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82506422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1.5 — Thermal Limits &amp; Multi-Core Design</a:t>
              </a:r>
              <a:endParaRPr/>
            </a:p>
          </p:txBody>
        </p:sp>
      </p:grpSp>
      <p:grpSp>
        <p:nvGrpSpPr>
          <p:cNvPr id="996200967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343599818" name="Group 9"/>
          <p:cNvGrpSpPr/>
          <p:nvPr/>
        </p:nvGrpSpPr>
        <p:grpSpPr bwMode="auto">
          <a:xfrm rot="0">
            <a:off x="731520" y="2194560"/>
            <a:ext cx="8229600" cy="3566160"/>
            <a:chOff x="0" y="0"/>
            <a:chExt cx="10972800" cy="475488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4754880"/>
            </a:xfrm>
            <a:custGeom>
              <a:avLst/>
              <a:gdLst/>
              <a:ahLst/>
              <a:cxnLst/>
              <a:rect l="l" t="t" r="r" b="b"/>
              <a:pathLst>
                <a:path w="10972800" h="475488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84267737" name="Group 11"/>
          <p:cNvGrpSpPr/>
          <p:nvPr/>
        </p:nvGrpSpPr>
        <p:grpSpPr bwMode="auto">
          <a:xfrm rot="0">
            <a:off x="731520" y="2194560"/>
            <a:ext cx="128016" cy="3566160"/>
            <a:chOff x="0" y="0"/>
            <a:chExt cx="170688" cy="47548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4754880"/>
            </a:xfrm>
            <a:custGeom>
              <a:avLst/>
              <a:gdLst/>
              <a:ahLst/>
              <a:cxnLst/>
              <a:rect l="l" t="t" r="r" b="b"/>
              <a:pathLst>
                <a:path w="170688" h="475488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483835491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597890167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Why Clock Speed Can't Scale Forever</a:t>
              </a:r>
              <a:endParaRPr/>
            </a:p>
          </p:txBody>
        </p:sp>
      </p:grpSp>
      <p:sp>
        <p:nvSpPr>
          <p:cNvPr id="1898887183" name="TextBox 18"/>
          <p:cNvSpPr txBox="1"/>
          <p:nvPr/>
        </p:nvSpPr>
        <p:spPr bwMode="auto">
          <a:xfrm rot="0">
            <a:off x="1133856" y="3093720"/>
            <a:ext cx="7552944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Higher frequency → more transistor switching activity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Power consumption rises significantly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Heat generation rises exponentially</a:t>
            </a:r>
            <a:endParaRPr/>
          </a:p>
        </p:txBody>
      </p:sp>
      <p:grpSp>
        <p:nvGrpSpPr>
          <p:cNvPr id="1342263052" name="Group 19"/>
          <p:cNvGrpSpPr/>
          <p:nvPr/>
        </p:nvGrpSpPr>
        <p:grpSpPr bwMode="auto">
          <a:xfrm rot="0">
            <a:off x="731520" y="6035039"/>
            <a:ext cx="8229600" cy="3657600"/>
            <a:chOff x="0" y="0"/>
            <a:chExt cx="10972800" cy="487680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4876800"/>
            </a:xfrm>
            <a:custGeom>
              <a:avLst/>
              <a:gdLst/>
              <a:ahLst/>
              <a:cxnLst/>
              <a:rect l="l" t="t" r="r" b="b"/>
              <a:pathLst>
                <a:path w="10972800" h="487680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21618191" name="Group 21"/>
          <p:cNvGrpSpPr/>
          <p:nvPr/>
        </p:nvGrpSpPr>
        <p:grpSpPr bwMode="auto">
          <a:xfrm rot="0">
            <a:off x="731520" y="6035039"/>
            <a:ext cx="128016" cy="3657600"/>
            <a:chOff x="0" y="0"/>
            <a:chExt cx="170688" cy="4876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4876800"/>
            </a:xfrm>
            <a:custGeom>
              <a:avLst/>
              <a:gdLst/>
              <a:ahLst/>
              <a:cxnLst/>
              <a:rect l="l" t="t" r="r" b="b"/>
              <a:pathLst>
                <a:path w="170688" h="48768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392164234" name="Group 23"/>
          <p:cNvGrpSpPr/>
          <p:nvPr/>
        </p:nvGrpSpPr>
        <p:grpSpPr bwMode="auto">
          <a:xfrm rot="0">
            <a:off x="1042416" y="621792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31648635" name="Group 25"/>
          <p:cNvGrpSpPr/>
          <p:nvPr/>
        </p:nvGrpSpPr>
        <p:grpSpPr bwMode="auto">
          <a:xfrm rot="0">
            <a:off x="1042416" y="616077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Thermal Throttling</a:t>
              </a:r>
              <a:endParaRPr/>
            </a:p>
          </p:txBody>
        </p:sp>
      </p:grpSp>
      <p:sp>
        <p:nvSpPr>
          <p:cNvPr id="1608309175" name="TextBox 28"/>
          <p:cNvSpPr txBox="1"/>
          <p:nvPr/>
        </p:nvSpPr>
        <p:spPr bwMode="auto">
          <a:xfrm rot="0">
            <a:off x="1133856" y="6934200"/>
            <a:ext cx="7552944" cy="252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CPU auto-reduces speed at critical temperature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3.5 GHz → reduced to 2.5 GHz under heavy load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Physical 'thermal wall' prevents unlimited frequency scaling</a:t>
            </a:r>
            <a:endParaRPr/>
          </a:p>
        </p:txBody>
      </p:sp>
      <p:grpSp>
        <p:nvGrpSpPr>
          <p:cNvPr id="281673247" name="Group 29"/>
          <p:cNvGrpSpPr/>
          <p:nvPr/>
        </p:nvGrpSpPr>
        <p:grpSpPr bwMode="auto">
          <a:xfrm rot="0">
            <a:off x="9326880" y="2194560"/>
            <a:ext cx="8229600" cy="7498080"/>
            <a:chOff x="0" y="0"/>
            <a:chExt cx="10972800" cy="999744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55107955" name="Group 31"/>
          <p:cNvGrpSpPr/>
          <p:nvPr/>
        </p:nvGrpSpPr>
        <p:grpSpPr bwMode="auto">
          <a:xfrm rot="0">
            <a:off x="9326880" y="2194560"/>
            <a:ext cx="128016" cy="7498080"/>
            <a:chOff x="0" y="0"/>
            <a:chExt cx="170688" cy="999744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2134675330" name="Group 3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860628632" name="Group 3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✅ Multi-Core Solution</a:t>
              </a:r>
              <a:endParaRPr/>
            </a:p>
          </p:txBody>
        </p:sp>
      </p:grpSp>
      <p:sp>
        <p:nvSpPr>
          <p:cNvPr id="185691202" name="TextBox 38"/>
          <p:cNvSpPr txBox="1"/>
          <p:nvPr/>
        </p:nvSpPr>
        <p:spPr bwMode="auto">
          <a:xfrm rot="0">
            <a:off x="9729215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Use many cores at moderate frequency instead of one fast core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❌ Wrong approach: 1 core at extreme frequency → heat + instability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✅ Correct approach: Multiple cores at moderate frequency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Parallel execution with controlled thermal output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Modern CPUs: 8, 16, 32+ cores built on this principle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D2D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7430246" name="Group 2"/>
          <p:cNvGrpSpPr/>
          <p:nvPr/>
        </p:nvGrpSpPr>
        <p:grpSpPr bwMode="auto"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4384000" cy="195072"/>
            </a:xfrm>
            <a:custGeom>
              <a:avLst/>
              <a:gdLst/>
              <a:ahLst/>
              <a:cxnLst/>
              <a:rect l="l" t="t" r="r" b="b"/>
              <a:pathLst>
                <a:path w="24384000" h="195072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315774564" name="Group 4"/>
          <p:cNvGrpSpPr/>
          <p:nvPr/>
        </p:nvGrpSpPr>
        <p:grpSpPr bwMode="auto">
          <a:xfrm rot="0">
            <a:off x="11887200" y="914400"/>
            <a:ext cx="9144000" cy="9144000"/>
            <a:chOff x="0" y="0"/>
            <a:chExt cx="12192000" cy="121920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 fill="norm" stroke="1" extrusionOk="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7BB8D4">
                <a:alpha val="0"/>
              </a:srgbClr>
            </a:solidFill>
          </p:spPr>
        </p:sp>
      </p:grpSp>
      <p:grpSp>
        <p:nvGrpSpPr>
          <p:cNvPr id="823887957" name="Group 6"/>
          <p:cNvGrpSpPr/>
          <p:nvPr/>
        </p:nvGrpSpPr>
        <p:grpSpPr bwMode="auto">
          <a:xfrm rot="0">
            <a:off x="1005840" y="2926080"/>
            <a:ext cx="10972800" cy="914400"/>
            <a:chOff x="0" y="0"/>
            <a:chExt cx="14630400" cy="12192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4630400" cy="1219200"/>
            </a:xfrm>
            <a:custGeom>
              <a:avLst/>
              <a:gdLst/>
              <a:ahLst/>
              <a:cxnLst/>
              <a:rect l="l" t="t" r="r" b="b"/>
              <a:pathLst>
                <a:path w="14630400" h="1219200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83658" r="0" b="-183657"/>
              </a:stretch>
            </a:blipFill>
          </p:spPr>
        </p:sp>
      </p:grpSp>
      <p:grpSp>
        <p:nvGrpSpPr>
          <p:cNvPr id="1099595658" name="Group 8"/>
          <p:cNvGrpSpPr/>
          <p:nvPr/>
        </p:nvGrpSpPr>
        <p:grpSpPr bwMode="auto">
          <a:xfrm rot="0">
            <a:off x="1005840" y="2876074"/>
            <a:ext cx="10972800" cy="964406"/>
            <a:chOff x="0" y="0"/>
            <a:chExt cx="14630400" cy="1285875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4630400" cy="1285875"/>
            </a:xfrm>
            <a:custGeom>
              <a:avLst/>
              <a:gdLst/>
              <a:ahLst/>
              <a:cxnLst/>
              <a:rect l="l" t="t" r="r" b="b"/>
              <a:pathLst>
                <a:path w="14630400" h="1285875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85875"/>
                  </a:lnTo>
                  <a:lnTo>
                    <a:pt x="0" y="12858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71696" r="0" b="-171696"/>
              </a:stretch>
            </a:blip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85725"/>
              <a:ext cx="146304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  <a:defRPr/>
              </a:pPr>
              <a:r>
                <a:rPr lang="en-US" sz="2800" spc="799">
                  <a:solidFill>
                    <a:srgbClr val="7BB8D4"/>
                  </a:solidFill>
                  <a:latin typeface="Cooper Hewitt"/>
                  <a:ea typeface="Cooper Hewitt"/>
                  <a:cs typeface="Cooper Hewitt"/>
                </a:rPr>
                <a:t>PART 2</a:t>
              </a:r>
              <a:endParaRPr/>
            </a:p>
          </p:txBody>
        </p:sp>
      </p:grpSp>
      <p:grpSp>
        <p:nvGrpSpPr>
          <p:cNvPr id="812782298" name="Group 11"/>
          <p:cNvGrpSpPr/>
          <p:nvPr/>
        </p:nvGrpSpPr>
        <p:grpSpPr bwMode="auto">
          <a:xfrm rot="0">
            <a:off x="1005840" y="3840480"/>
            <a:ext cx="13716000" cy="4023360"/>
            <a:chOff x="0" y="0"/>
            <a:chExt cx="18288000" cy="5364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288000" cy="5364480"/>
            </a:xfrm>
            <a:custGeom>
              <a:avLst/>
              <a:gdLst/>
              <a:ahLst/>
              <a:cxnLst/>
              <a:rect l="l" t="t" r="r" b="b"/>
              <a:pathLst>
                <a:path w="18288000" h="5364480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0"/>
                  </a:lnTo>
                  <a:lnTo>
                    <a:pt x="0" y="53644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379" r="0" b="-16379"/>
              </a:stretch>
            </a:blipFill>
          </p:spPr>
        </p:sp>
      </p:grpSp>
      <p:grpSp>
        <p:nvGrpSpPr>
          <p:cNvPr id="810477824" name="Group 13"/>
          <p:cNvGrpSpPr/>
          <p:nvPr/>
        </p:nvGrpSpPr>
        <p:grpSpPr bwMode="auto">
          <a:xfrm rot="0">
            <a:off x="1005840" y="3661886"/>
            <a:ext cx="13716000" cy="4201954"/>
            <a:chOff x="0" y="0"/>
            <a:chExt cx="18288000" cy="5602605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8288000" cy="5602605"/>
            </a:xfrm>
            <a:custGeom>
              <a:avLst/>
              <a:gdLst/>
              <a:ahLst/>
              <a:cxnLst/>
              <a:rect l="l" t="t" r="r" b="b"/>
              <a:pathLst>
                <a:path w="18288000" h="5602605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602605"/>
                  </a:lnTo>
                  <a:lnTo>
                    <a:pt x="0" y="56026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602" r="0" b="-13602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38125"/>
              <a:ext cx="18288000" cy="58407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Operating Systems</a:t>
              </a:r>
              <a:endParaRPr/>
            </a:p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Processes &amp; Multiprocessing</a:t>
              </a:r>
              <a:endParaRPr/>
            </a:p>
          </p:txBody>
        </p:sp>
      </p:grpSp>
      <p:grpSp>
        <p:nvGrpSpPr>
          <p:cNvPr id="1112564376" name="Group 16"/>
          <p:cNvGrpSpPr/>
          <p:nvPr/>
        </p:nvGrpSpPr>
        <p:grpSpPr bwMode="auto">
          <a:xfrm rot="0">
            <a:off x="1005840" y="8961120"/>
            <a:ext cx="329184" cy="329184"/>
            <a:chOff x="0" y="0"/>
            <a:chExt cx="438912" cy="438912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236861771" name="Group 18"/>
          <p:cNvGrpSpPr/>
          <p:nvPr/>
        </p:nvGrpSpPr>
        <p:grpSpPr bwMode="auto">
          <a:xfrm rot="0">
            <a:off x="1645920" y="8961120"/>
            <a:ext cx="329184" cy="329184"/>
            <a:chOff x="0" y="0"/>
            <a:chExt cx="438912" cy="43891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  <p:grpSp>
        <p:nvGrpSpPr>
          <p:cNvPr id="1462790844" name="Group 20"/>
          <p:cNvGrpSpPr/>
          <p:nvPr/>
        </p:nvGrpSpPr>
        <p:grpSpPr bwMode="auto">
          <a:xfrm rot="0">
            <a:off x="2286000" y="8961120"/>
            <a:ext cx="329184" cy="329184"/>
            <a:chOff x="0" y="0"/>
            <a:chExt cx="438912" cy="438912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2458245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456560940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2.1 — Process Anatomy</a:t>
              </a:r>
              <a:endParaRPr/>
            </a:p>
          </p:txBody>
        </p:sp>
      </p:grpSp>
      <p:grpSp>
        <p:nvGrpSpPr>
          <p:cNvPr id="964837874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205945703" name="Group 9"/>
          <p:cNvGrpSpPr/>
          <p:nvPr/>
        </p:nvGrpSpPr>
        <p:grpSpPr bwMode="auto">
          <a:xfrm rot="0">
            <a:off x="914400" y="2011680"/>
            <a:ext cx="16459200" cy="822960"/>
            <a:chOff x="0" y="0"/>
            <a:chExt cx="21945600" cy="109728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id="1932128638" name="Group 11"/>
          <p:cNvGrpSpPr/>
          <p:nvPr/>
        </p:nvGrpSpPr>
        <p:grpSpPr bwMode="auto">
          <a:xfrm rot="0">
            <a:off x="914400" y="1954530"/>
            <a:ext cx="16459200" cy="880110"/>
            <a:chOff x="0" y="0"/>
            <a:chExt cx="21945600" cy="1173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173480"/>
            </a:xfrm>
            <a:custGeom>
              <a:avLst/>
              <a:gdLst/>
              <a:ahLst/>
              <a:cxnLst/>
              <a:rect l="l" t="t" r="r" b="b"/>
              <a:pathLst>
                <a:path w="21945600" h="11734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173480"/>
                  </a:lnTo>
                  <a:lnTo>
                    <a:pt x="0" y="11734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24968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A process is a program in execution. Its memory layout is divided into four distinct segments:</a:t>
              </a:r>
              <a:endParaRPr/>
            </a:p>
          </p:txBody>
        </p:sp>
      </p:grpSp>
      <p:grpSp>
        <p:nvGrpSpPr>
          <p:cNvPr id="1798189538" name="Group 14"/>
          <p:cNvGrpSpPr/>
          <p:nvPr/>
        </p:nvGrpSpPr>
        <p:grpSpPr bwMode="auto">
          <a:xfrm rot="0">
            <a:off x="731520" y="3017519"/>
            <a:ext cx="8046720" cy="3200400"/>
            <a:chOff x="0" y="0"/>
            <a:chExt cx="10728960" cy="426720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728960" cy="4267200"/>
            </a:xfrm>
            <a:custGeom>
              <a:avLst/>
              <a:gdLst/>
              <a:ahLst/>
              <a:cxnLst/>
              <a:rect l="l" t="t" r="r" b="b"/>
              <a:pathLst>
                <a:path w="10728960" h="426720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8980613" name="Group 16"/>
          <p:cNvGrpSpPr/>
          <p:nvPr/>
        </p:nvGrpSpPr>
        <p:grpSpPr bwMode="auto">
          <a:xfrm rot="0">
            <a:off x="731520" y="3017519"/>
            <a:ext cx="128016" cy="3200400"/>
            <a:chOff x="0" y="0"/>
            <a:chExt cx="170688" cy="42672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691327383" name="Group 18"/>
          <p:cNvGrpSpPr/>
          <p:nvPr/>
        </p:nvGrpSpPr>
        <p:grpSpPr bwMode="auto">
          <a:xfrm rot="0">
            <a:off x="1042416" y="3200400"/>
            <a:ext cx="7498080" cy="731520"/>
            <a:chOff x="0" y="0"/>
            <a:chExt cx="9997440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49583" r="0" b="-149582"/>
              </a:stretch>
            </a:blipFill>
          </p:spPr>
        </p:sp>
      </p:grpSp>
      <p:grpSp>
        <p:nvGrpSpPr>
          <p:cNvPr id="871053960" name="Group 20"/>
          <p:cNvGrpSpPr/>
          <p:nvPr/>
        </p:nvGrpSpPr>
        <p:grpSpPr bwMode="auto">
          <a:xfrm rot="0">
            <a:off x="1042416" y="3143250"/>
            <a:ext cx="7498080" cy="788670"/>
            <a:chOff x="0" y="0"/>
            <a:chExt cx="9997440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9997440" cy="1051560"/>
            </a:xfrm>
            <a:custGeom>
              <a:avLst/>
              <a:gdLst/>
              <a:ahLst/>
              <a:cxnLst/>
              <a:rect l="l" t="t" r="r" b="b"/>
              <a:pathLst>
                <a:path w="9997440" h="10515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5249" r="0" b="-135249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99974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Code (Text) Segment</a:t>
              </a:r>
              <a:endParaRPr/>
            </a:p>
          </p:txBody>
        </p:sp>
      </p:grpSp>
      <p:sp>
        <p:nvSpPr>
          <p:cNvPr id="1361775114" name="TextBox 23"/>
          <p:cNvSpPr txBox="1"/>
          <p:nvPr/>
        </p:nvSpPr>
        <p:spPr bwMode="auto">
          <a:xfrm rot="0">
            <a:off x="1042416" y="3870960"/>
            <a:ext cx="7498080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Contains executable instructions. Usually read-only. Shared across threads.</a:t>
            </a:r>
            <a:endParaRPr/>
          </a:p>
        </p:txBody>
      </p:sp>
      <p:grpSp>
        <p:nvGrpSpPr>
          <p:cNvPr id="1416936689" name="Group 24"/>
          <p:cNvGrpSpPr/>
          <p:nvPr/>
        </p:nvGrpSpPr>
        <p:grpSpPr bwMode="auto">
          <a:xfrm rot="0">
            <a:off x="9326880" y="3017519"/>
            <a:ext cx="8046720" cy="3200400"/>
            <a:chOff x="0" y="0"/>
            <a:chExt cx="10728960" cy="426720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728960" cy="4267200"/>
            </a:xfrm>
            <a:custGeom>
              <a:avLst/>
              <a:gdLst/>
              <a:ahLst/>
              <a:cxnLst/>
              <a:rect l="l" t="t" r="r" b="b"/>
              <a:pathLst>
                <a:path w="10728960" h="426720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40798412" name="Group 26"/>
          <p:cNvGrpSpPr/>
          <p:nvPr/>
        </p:nvGrpSpPr>
        <p:grpSpPr bwMode="auto">
          <a:xfrm rot="0">
            <a:off x="9326880" y="3017519"/>
            <a:ext cx="128016" cy="3200400"/>
            <a:chOff x="0" y="0"/>
            <a:chExt cx="170688" cy="426720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764134440" name="Group 28"/>
          <p:cNvGrpSpPr/>
          <p:nvPr/>
        </p:nvGrpSpPr>
        <p:grpSpPr bwMode="auto">
          <a:xfrm rot="0">
            <a:off x="9637776" y="3200400"/>
            <a:ext cx="7498080" cy="731520"/>
            <a:chOff x="0" y="0"/>
            <a:chExt cx="9997440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49583" r="0" b="-149582"/>
              </a:stretch>
            </a:blipFill>
          </p:spPr>
        </p:sp>
      </p:grpSp>
      <p:grpSp>
        <p:nvGrpSpPr>
          <p:cNvPr id="961110221" name="Group 30"/>
          <p:cNvGrpSpPr/>
          <p:nvPr/>
        </p:nvGrpSpPr>
        <p:grpSpPr bwMode="auto">
          <a:xfrm rot="0">
            <a:off x="9637776" y="3143250"/>
            <a:ext cx="7498080" cy="788670"/>
            <a:chOff x="0" y="0"/>
            <a:chExt cx="9997440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9997440" cy="1051560"/>
            </a:xfrm>
            <a:custGeom>
              <a:avLst/>
              <a:gdLst/>
              <a:ahLst/>
              <a:cxnLst/>
              <a:rect l="l" t="t" r="r" b="b"/>
              <a:pathLst>
                <a:path w="9997440" h="10515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5249" r="0" b="-135249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99974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Data Segment</a:t>
              </a:r>
              <a:endParaRPr/>
            </a:p>
          </p:txBody>
        </p:sp>
      </p:grpSp>
      <p:sp>
        <p:nvSpPr>
          <p:cNvPr id="314974359" name="TextBox 33"/>
          <p:cNvSpPr txBox="1"/>
          <p:nvPr/>
        </p:nvSpPr>
        <p:spPr bwMode="auto">
          <a:xfrm rot="0">
            <a:off x="9637776" y="3870960"/>
            <a:ext cx="7498080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Stores global and static variables. Exists for the entire lifetime of the process.</a:t>
            </a:r>
            <a:endParaRPr/>
          </a:p>
        </p:txBody>
      </p:sp>
      <p:grpSp>
        <p:nvGrpSpPr>
          <p:cNvPr id="936162748" name="Group 34"/>
          <p:cNvGrpSpPr/>
          <p:nvPr/>
        </p:nvGrpSpPr>
        <p:grpSpPr bwMode="auto">
          <a:xfrm rot="0">
            <a:off x="731520" y="6583680"/>
            <a:ext cx="8046720" cy="3200400"/>
            <a:chOff x="0" y="0"/>
            <a:chExt cx="10728960" cy="4267200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10728960" cy="4267200"/>
            </a:xfrm>
            <a:custGeom>
              <a:avLst/>
              <a:gdLst/>
              <a:ahLst/>
              <a:cxnLst/>
              <a:rect l="l" t="t" r="r" b="b"/>
              <a:pathLst>
                <a:path w="10728960" h="426720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3408685" name="Group 36"/>
          <p:cNvGrpSpPr/>
          <p:nvPr/>
        </p:nvGrpSpPr>
        <p:grpSpPr bwMode="auto">
          <a:xfrm rot="0">
            <a:off x="731520" y="6583680"/>
            <a:ext cx="128016" cy="3200400"/>
            <a:chOff x="0" y="0"/>
            <a:chExt cx="170688" cy="4267200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675963919" name="Group 38"/>
          <p:cNvGrpSpPr/>
          <p:nvPr/>
        </p:nvGrpSpPr>
        <p:grpSpPr bwMode="auto">
          <a:xfrm rot="0">
            <a:off x="1042416" y="6766560"/>
            <a:ext cx="7498080" cy="731520"/>
            <a:chOff x="0" y="0"/>
            <a:chExt cx="9997440" cy="975360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49583" r="0" b="-149582"/>
              </a:stretch>
            </a:blipFill>
          </p:spPr>
        </p:sp>
      </p:grpSp>
      <p:grpSp>
        <p:nvGrpSpPr>
          <p:cNvPr id="1882102356" name="Group 40"/>
          <p:cNvGrpSpPr/>
          <p:nvPr/>
        </p:nvGrpSpPr>
        <p:grpSpPr bwMode="auto">
          <a:xfrm rot="0">
            <a:off x="1042416" y="6709410"/>
            <a:ext cx="7498080" cy="788670"/>
            <a:chOff x="0" y="0"/>
            <a:chExt cx="9997440" cy="1051560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9997440" cy="1051560"/>
            </a:xfrm>
            <a:custGeom>
              <a:avLst/>
              <a:gdLst/>
              <a:ahLst/>
              <a:cxnLst/>
              <a:rect l="l" t="t" r="r" b="b"/>
              <a:pathLst>
                <a:path w="9997440" h="10515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5249" r="0" b="-135249"/>
              </a:stretch>
            </a:blipFill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0" y="-76200"/>
              <a:ext cx="99974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Heap</a:t>
              </a:r>
              <a:endParaRPr/>
            </a:p>
          </p:txBody>
        </p:sp>
      </p:grpSp>
      <p:sp>
        <p:nvSpPr>
          <p:cNvPr id="1145519204" name="TextBox 43"/>
          <p:cNvSpPr txBox="1"/>
          <p:nvPr/>
        </p:nvSpPr>
        <p:spPr bwMode="auto">
          <a:xfrm rot="0">
            <a:off x="1042416" y="7437120"/>
            <a:ext cx="7498080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Dynamic memory allocation. Grows upward as objects are created at runtime.</a:t>
            </a:r>
            <a:endParaRPr/>
          </a:p>
        </p:txBody>
      </p:sp>
      <p:grpSp>
        <p:nvGrpSpPr>
          <p:cNvPr id="1717934428" name="Group 44"/>
          <p:cNvGrpSpPr/>
          <p:nvPr/>
        </p:nvGrpSpPr>
        <p:grpSpPr bwMode="auto">
          <a:xfrm rot="0">
            <a:off x="9326880" y="6583680"/>
            <a:ext cx="8046720" cy="3200400"/>
            <a:chOff x="0" y="0"/>
            <a:chExt cx="10728960" cy="4267200"/>
          </a:xfrm>
        </p:grpSpPr>
        <p:sp>
          <p:nvSpPr>
            <p:cNvPr id="45" name="Freeform 45"/>
            <p:cNvSpPr/>
            <p:nvPr/>
          </p:nvSpPr>
          <p:spPr bwMode="auto">
            <a:xfrm rot="0" flipH="0" flipV="0">
              <a:off x="0" y="0"/>
              <a:ext cx="10728960" cy="4267200"/>
            </a:xfrm>
            <a:custGeom>
              <a:avLst/>
              <a:gdLst/>
              <a:ahLst/>
              <a:cxnLst/>
              <a:rect l="l" t="t" r="r" b="b"/>
              <a:pathLst>
                <a:path w="10728960" h="426720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0190893" name="Group 46"/>
          <p:cNvGrpSpPr/>
          <p:nvPr/>
        </p:nvGrpSpPr>
        <p:grpSpPr bwMode="auto">
          <a:xfrm rot="0">
            <a:off x="9326880" y="6583680"/>
            <a:ext cx="128016" cy="3200400"/>
            <a:chOff x="0" y="0"/>
            <a:chExt cx="170688" cy="4267200"/>
          </a:xfrm>
        </p:grpSpPr>
        <p:sp>
          <p:nvSpPr>
            <p:cNvPr id="47" name="Freeform 47"/>
            <p:cNvSpPr/>
            <p:nvPr/>
          </p:nvSpPr>
          <p:spPr bwMode="auto">
            <a:xfrm rot="0" flipH="0" flipV="0">
              <a:off x="0" y="0"/>
              <a:ext cx="170688" cy="4267200"/>
            </a:xfrm>
            <a:custGeom>
              <a:avLst/>
              <a:gdLst/>
              <a:ahLst/>
              <a:cxnLst/>
              <a:rect l="l" t="t" r="r" b="b"/>
              <a:pathLst>
                <a:path w="170688" h="4267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32219747" name="Group 48"/>
          <p:cNvGrpSpPr/>
          <p:nvPr/>
        </p:nvGrpSpPr>
        <p:grpSpPr bwMode="auto">
          <a:xfrm rot="0">
            <a:off x="9637776" y="6766560"/>
            <a:ext cx="7498080" cy="731520"/>
            <a:chOff x="0" y="0"/>
            <a:chExt cx="9997440" cy="975360"/>
          </a:xfrm>
        </p:grpSpPr>
        <p:sp>
          <p:nvSpPr>
            <p:cNvPr id="49" name="Freeform 49"/>
            <p:cNvSpPr/>
            <p:nvPr/>
          </p:nvSpPr>
          <p:spPr bwMode="auto">
            <a:xfrm rot="0" flipH="0" flipV="0"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49583" r="0" b="-149582"/>
              </a:stretch>
            </a:blipFill>
          </p:spPr>
        </p:sp>
      </p:grpSp>
      <p:grpSp>
        <p:nvGrpSpPr>
          <p:cNvPr id="365115938" name="Group 50"/>
          <p:cNvGrpSpPr/>
          <p:nvPr/>
        </p:nvGrpSpPr>
        <p:grpSpPr bwMode="auto">
          <a:xfrm rot="0">
            <a:off x="9637776" y="6709410"/>
            <a:ext cx="7498080" cy="788670"/>
            <a:chOff x="0" y="0"/>
            <a:chExt cx="9997440" cy="1051560"/>
          </a:xfrm>
        </p:grpSpPr>
        <p:sp>
          <p:nvSpPr>
            <p:cNvPr id="51" name="Freeform 51"/>
            <p:cNvSpPr/>
            <p:nvPr/>
          </p:nvSpPr>
          <p:spPr bwMode="auto">
            <a:xfrm rot="0" flipH="0" flipV="0">
              <a:off x="0" y="0"/>
              <a:ext cx="9997440" cy="1051560"/>
            </a:xfrm>
            <a:custGeom>
              <a:avLst/>
              <a:gdLst/>
              <a:ahLst/>
              <a:cxnLst/>
              <a:rect l="l" t="t" r="r" b="b"/>
              <a:pathLst>
                <a:path w="9997440" h="1051560" fill="norm" stroke="1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5249" r="0" b="-135249"/>
              </a:stretch>
            </a:blipFill>
          </p:spPr>
        </p:sp>
        <p:sp>
          <p:nvSpPr>
            <p:cNvPr id="52" name="TextBox 52"/>
            <p:cNvSpPr txBox="1"/>
            <p:nvPr/>
          </p:nvSpPr>
          <p:spPr bwMode="auto">
            <a:xfrm>
              <a:off x="0" y="-76200"/>
              <a:ext cx="9997440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Stack</a:t>
              </a:r>
              <a:endParaRPr/>
            </a:p>
          </p:txBody>
        </p:sp>
      </p:grpSp>
      <p:sp>
        <p:nvSpPr>
          <p:cNvPr id="853442635" name="TextBox 53"/>
          <p:cNvSpPr txBox="1"/>
          <p:nvPr/>
        </p:nvSpPr>
        <p:spPr bwMode="auto">
          <a:xfrm rot="0">
            <a:off x="9637776" y="7437120"/>
            <a:ext cx="7498080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Stores function calls, local variables, and return addresses. Grows downward.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2560038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614320589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2.2 — Isolation, Security &amp; Virtual Memory</a:t>
              </a:r>
              <a:endParaRPr/>
            </a:p>
          </p:txBody>
        </p:sp>
      </p:grpSp>
      <p:grpSp>
        <p:nvGrpSpPr>
          <p:cNvPr id="625012085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867685053" name="Group 9"/>
          <p:cNvGrpSpPr/>
          <p:nvPr/>
        </p:nvGrpSpPr>
        <p:grpSpPr bwMode="auto">
          <a:xfrm rot="0">
            <a:off x="731520" y="2194560"/>
            <a:ext cx="8229600" cy="3840480"/>
            <a:chOff x="0" y="0"/>
            <a:chExt cx="10972800" cy="512064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5120640"/>
            </a:xfrm>
            <a:custGeom>
              <a:avLst/>
              <a:gdLst/>
              <a:ahLst/>
              <a:cxnLst/>
              <a:rect l="l" t="t" r="r" b="b"/>
              <a:pathLst>
                <a:path w="10972800" h="51206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97770927" name="Group 11"/>
          <p:cNvGrpSpPr/>
          <p:nvPr/>
        </p:nvGrpSpPr>
        <p:grpSpPr bwMode="auto">
          <a:xfrm rot="0">
            <a:off x="731520" y="2194560"/>
            <a:ext cx="128016" cy="3840480"/>
            <a:chOff x="0" y="0"/>
            <a:chExt cx="170688" cy="512064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5120640"/>
            </a:xfrm>
            <a:custGeom>
              <a:avLst/>
              <a:gdLst/>
              <a:ahLst/>
              <a:cxnLst/>
              <a:rect l="l" t="t" r="r" b="b"/>
              <a:pathLst>
                <a:path w="170688" h="51206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624376919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766262128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Process Isolation &amp; Security</a:t>
              </a:r>
              <a:endParaRPr/>
            </a:p>
          </p:txBody>
        </p:sp>
      </p:grpSp>
      <p:sp>
        <p:nvSpPr>
          <p:cNvPr id="97474737" name="TextBox 18"/>
          <p:cNvSpPr txBox="1"/>
          <p:nvPr/>
        </p:nvSpPr>
        <p:spPr bwMode="auto">
          <a:xfrm rot="0">
            <a:off x="1133856" y="3093720"/>
            <a:ext cx="7552944" cy="271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Each process has its own Virtual Address Space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 process CANNOT access memory of another process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Enforced by hardware: Memory Management Unit (MMU)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Unauthorized access → Segmentation Fault (crash)</a:t>
            </a:r>
            <a:endParaRPr/>
          </a:p>
        </p:txBody>
      </p:sp>
      <p:grpSp>
        <p:nvGrpSpPr>
          <p:cNvPr id="515925147" name="Group 19"/>
          <p:cNvGrpSpPr/>
          <p:nvPr/>
        </p:nvGrpSpPr>
        <p:grpSpPr bwMode="auto">
          <a:xfrm rot="0">
            <a:off x="731520" y="6217920"/>
            <a:ext cx="8229600" cy="3474720"/>
            <a:chOff x="0" y="0"/>
            <a:chExt cx="10972800" cy="463296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4632960"/>
            </a:xfrm>
            <a:custGeom>
              <a:avLst/>
              <a:gdLst/>
              <a:ahLst/>
              <a:cxnLst/>
              <a:rect l="l" t="t" r="r" b="b"/>
              <a:pathLst>
                <a:path w="10972800" h="463296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55393526" name="Group 21"/>
          <p:cNvGrpSpPr/>
          <p:nvPr/>
        </p:nvGrpSpPr>
        <p:grpSpPr bwMode="auto">
          <a:xfrm rot="0">
            <a:off x="731520" y="6217920"/>
            <a:ext cx="128016" cy="3474720"/>
            <a:chOff x="0" y="0"/>
            <a:chExt cx="170688" cy="463296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83732105" name="Group 23"/>
          <p:cNvGrpSpPr/>
          <p:nvPr/>
        </p:nvGrpSpPr>
        <p:grpSpPr bwMode="auto">
          <a:xfrm rot="0">
            <a:off x="1042416" y="640080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715278555" name="Group 25"/>
          <p:cNvGrpSpPr/>
          <p:nvPr/>
        </p:nvGrpSpPr>
        <p:grpSpPr bwMode="auto">
          <a:xfrm rot="0">
            <a:off x="1042416" y="634365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Why Isolation Matters</a:t>
              </a:r>
              <a:endParaRPr/>
            </a:p>
          </p:txBody>
        </p:sp>
      </p:grpSp>
      <p:sp>
        <p:nvSpPr>
          <p:cNvPr id="671644516" name="TextBox 28"/>
          <p:cNvSpPr txBox="1"/>
          <p:nvPr/>
        </p:nvSpPr>
        <p:spPr bwMode="auto">
          <a:xfrm rot="0">
            <a:off x="1133856" y="7117080"/>
            <a:ext cx="7552944" cy="234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Ensures system security — malicious process can't read other data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Ensures system stability — one crash doesn't bring down others</a:t>
            </a:r>
            <a:endParaRPr/>
          </a:p>
        </p:txBody>
      </p:sp>
      <p:grpSp>
        <p:nvGrpSpPr>
          <p:cNvPr id="718651641" name="Group 29"/>
          <p:cNvGrpSpPr/>
          <p:nvPr/>
        </p:nvGrpSpPr>
        <p:grpSpPr bwMode="auto">
          <a:xfrm rot="0">
            <a:off x="9326880" y="2194560"/>
            <a:ext cx="8229600" cy="7498080"/>
            <a:chOff x="0" y="0"/>
            <a:chExt cx="10972800" cy="999744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89738507" name="Group 31"/>
          <p:cNvGrpSpPr/>
          <p:nvPr/>
        </p:nvGrpSpPr>
        <p:grpSpPr bwMode="auto">
          <a:xfrm rot="0">
            <a:off x="9326880" y="2194560"/>
            <a:ext cx="128016" cy="7498080"/>
            <a:chOff x="0" y="0"/>
            <a:chExt cx="170688" cy="999744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534934529" name="Group 3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398818154" name="Group 3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Virtual Memory &amp; Page Table</a:t>
              </a:r>
              <a:endParaRPr/>
            </a:p>
          </p:txBody>
        </p:sp>
      </p:grpSp>
      <p:sp>
        <p:nvSpPr>
          <p:cNvPr id="29229275" name="TextBox 38"/>
          <p:cNvSpPr txBox="1"/>
          <p:nvPr/>
        </p:nvSpPr>
        <p:spPr bwMode="auto">
          <a:xfrm rot="0">
            <a:off x="9729215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Virtual memory gives each process the illusion of its own memory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Memory divided into: Pages (virtual) and Frames (physical)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Page Table maps Page Number → Frame Number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Virtual Address = (Page Number, Offset)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Physical Address = (Frame Number, Offset)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Enables safe and efficient memory management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991499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654742628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2.3 — Context Switching</a:t>
              </a:r>
              <a:endParaRPr/>
            </a:p>
          </p:txBody>
        </p:sp>
      </p:grpSp>
      <p:grpSp>
        <p:nvGrpSpPr>
          <p:cNvPr id="149559610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2115412310" name="Group 9"/>
          <p:cNvGrpSpPr/>
          <p:nvPr/>
        </p:nvGrpSpPr>
        <p:grpSpPr bwMode="auto">
          <a:xfrm rot="0">
            <a:off x="914400" y="2011680"/>
            <a:ext cx="16459200" cy="822960"/>
            <a:chOff x="0" y="0"/>
            <a:chExt cx="21945600" cy="109728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id="942770416" name="Group 11"/>
          <p:cNvGrpSpPr/>
          <p:nvPr/>
        </p:nvGrpSpPr>
        <p:grpSpPr bwMode="auto">
          <a:xfrm rot="0">
            <a:off x="914400" y="1954530"/>
            <a:ext cx="16459200" cy="880110"/>
            <a:chOff x="0" y="0"/>
            <a:chExt cx="21945600" cy="1173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173480"/>
            </a:xfrm>
            <a:custGeom>
              <a:avLst/>
              <a:gdLst/>
              <a:ahLst/>
              <a:cxnLst/>
              <a:rect l="l" t="t" r="r" b="b"/>
              <a:pathLst>
                <a:path w="21945600" h="11734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173480"/>
                  </a:lnTo>
                  <a:lnTo>
                    <a:pt x="0" y="11734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24968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A context switch occurs when the CPU transitions from executing one process to another.</a:t>
              </a:r>
              <a:endParaRPr/>
            </a:p>
          </p:txBody>
        </p:sp>
      </p:grpSp>
      <p:grpSp>
        <p:nvGrpSpPr>
          <p:cNvPr id="1406659302" name="Group 14"/>
          <p:cNvGrpSpPr/>
          <p:nvPr/>
        </p:nvGrpSpPr>
        <p:grpSpPr bwMode="auto">
          <a:xfrm rot="0">
            <a:off x="731520" y="3017519"/>
            <a:ext cx="8229600" cy="4023360"/>
            <a:chOff x="0" y="0"/>
            <a:chExt cx="10972800" cy="536448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972800" cy="5364480"/>
            </a:xfrm>
            <a:custGeom>
              <a:avLst/>
              <a:gdLst/>
              <a:ahLst/>
              <a:cxnLst/>
              <a:rect l="l" t="t" r="r" b="b"/>
              <a:pathLst>
                <a:path w="10972800" h="536448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00688414" name="Group 16"/>
          <p:cNvGrpSpPr/>
          <p:nvPr/>
        </p:nvGrpSpPr>
        <p:grpSpPr bwMode="auto">
          <a:xfrm rot="0">
            <a:off x="731520" y="3017519"/>
            <a:ext cx="128016" cy="4023360"/>
            <a:chOff x="0" y="0"/>
            <a:chExt cx="170688" cy="536448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5364480"/>
            </a:xfrm>
            <a:custGeom>
              <a:avLst/>
              <a:gdLst/>
              <a:ahLst/>
              <a:cxnLst/>
              <a:rect l="l" t="t" r="r" b="b"/>
              <a:pathLst>
                <a:path w="170688" h="536448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684030442" name="Group 18"/>
          <p:cNvGrpSpPr/>
          <p:nvPr/>
        </p:nvGrpSpPr>
        <p:grpSpPr bwMode="auto">
          <a:xfrm rot="0">
            <a:off x="1042416" y="3200400"/>
            <a:ext cx="7735823" cy="731520"/>
            <a:chOff x="0" y="0"/>
            <a:chExt cx="1031443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809993065" name="Group 20"/>
          <p:cNvGrpSpPr/>
          <p:nvPr/>
        </p:nvGrpSpPr>
        <p:grpSpPr bwMode="auto">
          <a:xfrm rot="0">
            <a:off x="1042416" y="3143250"/>
            <a:ext cx="7735823" cy="788670"/>
            <a:chOff x="0" y="0"/>
            <a:chExt cx="1031443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Steps of a Context Switch</a:t>
              </a:r>
              <a:endParaRPr/>
            </a:p>
          </p:txBody>
        </p:sp>
      </p:grpSp>
      <p:sp>
        <p:nvSpPr>
          <p:cNvPr id="1294156447" name="TextBox 23"/>
          <p:cNvSpPr txBox="1"/>
          <p:nvPr/>
        </p:nvSpPr>
        <p:spPr bwMode="auto">
          <a:xfrm rot="0">
            <a:off x="1133856" y="3916680"/>
            <a:ext cx="7552944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1. Save the current process state (registers, program counter, etc.)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2. Load the next process state from memory/PCB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3. Resume execution of the newly loaded process</a:t>
            </a:r>
            <a:endParaRPr/>
          </a:p>
        </p:txBody>
      </p:sp>
      <p:grpSp>
        <p:nvGrpSpPr>
          <p:cNvPr id="933799440" name="Group 24"/>
          <p:cNvGrpSpPr/>
          <p:nvPr/>
        </p:nvGrpSpPr>
        <p:grpSpPr bwMode="auto">
          <a:xfrm rot="0">
            <a:off x="9326880" y="3017519"/>
            <a:ext cx="8229600" cy="4023360"/>
            <a:chOff x="0" y="0"/>
            <a:chExt cx="10972800" cy="536448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972800" cy="5364480"/>
            </a:xfrm>
            <a:custGeom>
              <a:avLst/>
              <a:gdLst/>
              <a:ahLst/>
              <a:cxnLst/>
              <a:rect l="l" t="t" r="r" b="b"/>
              <a:pathLst>
                <a:path w="10972800" h="536448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16686927" name="Group 26"/>
          <p:cNvGrpSpPr/>
          <p:nvPr/>
        </p:nvGrpSpPr>
        <p:grpSpPr bwMode="auto">
          <a:xfrm rot="0">
            <a:off x="9326880" y="3017519"/>
            <a:ext cx="128016" cy="4023360"/>
            <a:chOff x="0" y="0"/>
            <a:chExt cx="170688" cy="536448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5364480"/>
            </a:xfrm>
            <a:custGeom>
              <a:avLst/>
              <a:gdLst/>
              <a:ahLst/>
              <a:cxnLst/>
              <a:rect l="l" t="t" r="r" b="b"/>
              <a:pathLst>
                <a:path w="170688" h="536448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759638698" name="Group 28"/>
          <p:cNvGrpSpPr/>
          <p:nvPr/>
        </p:nvGrpSpPr>
        <p:grpSpPr bwMode="auto">
          <a:xfrm rot="0">
            <a:off x="9637776" y="3200400"/>
            <a:ext cx="7735823" cy="731520"/>
            <a:chOff x="0" y="0"/>
            <a:chExt cx="1031443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2039313322" name="Group 30"/>
          <p:cNvGrpSpPr/>
          <p:nvPr/>
        </p:nvGrpSpPr>
        <p:grpSpPr bwMode="auto">
          <a:xfrm rot="0">
            <a:off x="9637776" y="3143250"/>
            <a:ext cx="7735823" cy="788670"/>
            <a:chOff x="0" y="0"/>
            <a:chExt cx="1031443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Cost — Overhead</a:t>
              </a:r>
              <a:endParaRPr/>
            </a:p>
          </p:txBody>
        </p:sp>
      </p:grpSp>
      <p:sp>
        <p:nvSpPr>
          <p:cNvPr id="1051857675" name="TextBox 33"/>
          <p:cNvSpPr txBox="1"/>
          <p:nvPr/>
        </p:nvSpPr>
        <p:spPr bwMode="auto">
          <a:xfrm rot="0">
            <a:off x="9729215" y="3916680"/>
            <a:ext cx="7552944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Time spent saving and restoring CPU state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Cache invalidation — cached data becomes stale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CPU pipeline disruption — must refill instruction pipeline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Frequent switching significantly reduces performance</a:t>
            </a:r>
            <a:endParaRPr/>
          </a:p>
        </p:txBody>
      </p:sp>
      <p:sp>
        <p:nvSpPr>
          <p:cNvPr id="1991984270" name="Freeform 34"/>
          <p:cNvSpPr/>
          <p:nvPr/>
        </p:nvSpPr>
        <p:spPr bwMode="auto">
          <a:xfrm rot="0" flipH="0" flipV="0">
            <a:off x="716280" y="7299960"/>
            <a:ext cx="16855440" cy="2407920"/>
          </a:xfrm>
          <a:custGeom>
            <a:avLst/>
            <a:gdLst/>
            <a:ahLst/>
            <a:cxnLst/>
            <a:rect l="l" t="t" r="r" b="b"/>
            <a:pathLst>
              <a:path w="16855440" h="2407920" fill="norm" stroke="1" extrusionOk="0">
                <a:moveTo>
                  <a:pt x="0" y="0"/>
                </a:moveTo>
                <a:lnTo>
                  <a:pt x="16855440" y="0"/>
                </a:lnTo>
                <a:lnTo>
                  <a:pt x="16855440" y="2407920"/>
                </a:lnTo>
                <a:lnTo>
                  <a:pt x="0" y="240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872639863" name="Group 35"/>
          <p:cNvGrpSpPr/>
          <p:nvPr/>
        </p:nvGrpSpPr>
        <p:grpSpPr bwMode="auto">
          <a:xfrm rot="0">
            <a:off x="1097280" y="7498080"/>
            <a:ext cx="16093440" cy="2011680"/>
            <a:chOff x="0" y="0"/>
            <a:chExt cx="21457920" cy="2682240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21457920" cy="2682240"/>
            </a:xfrm>
            <a:custGeom>
              <a:avLst/>
              <a:gdLst/>
              <a:ahLst/>
              <a:cxnLst/>
              <a:rect l="l" t="t" r="r" b="b"/>
              <a:pathLst>
                <a:path w="21457920" h="268224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682240"/>
                  </a:lnTo>
                  <a:lnTo>
                    <a:pt x="0" y="26822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05771" r="0" b="-105771"/>
              </a:stretch>
            </a:blipFill>
          </p:spPr>
        </p:sp>
      </p:grpSp>
      <p:grpSp>
        <p:nvGrpSpPr>
          <p:cNvPr id="609855947" name="Group 37"/>
          <p:cNvGrpSpPr/>
          <p:nvPr/>
        </p:nvGrpSpPr>
        <p:grpSpPr bwMode="auto">
          <a:xfrm rot="0">
            <a:off x="1097280" y="7440930"/>
            <a:ext cx="16093440" cy="2068830"/>
            <a:chOff x="0" y="0"/>
            <a:chExt cx="21457920" cy="2758440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21457920" cy="2758440"/>
            </a:xfrm>
            <a:custGeom>
              <a:avLst/>
              <a:gdLst/>
              <a:ahLst/>
              <a:cxnLst/>
              <a:rect l="l" t="t" r="r" b="b"/>
              <a:pathLst>
                <a:path w="21457920" h="275844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758440"/>
                  </a:lnTo>
                  <a:lnTo>
                    <a:pt x="0" y="27584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1574" r="0" b="-101574"/>
              </a:stretch>
            </a:blipFill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76200"/>
              <a:ext cx="21457920" cy="283464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💡  Key Insight: More cores = less need for context switching = more true parallel execution = better performance.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7329265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477451729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2.4 — Multi-Core vs Multi-CPU</a:t>
              </a:r>
              <a:endParaRPr/>
            </a:p>
          </p:txBody>
        </p:sp>
      </p:grpSp>
      <p:grpSp>
        <p:nvGrpSpPr>
          <p:cNvPr id="847559251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864086869" name="Group 9"/>
          <p:cNvGrpSpPr/>
          <p:nvPr/>
        </p:nvGrpSpPr>
        <p:grpSpPr bwMode="auto">
          <a:xfrm rot="0">
            <a:off x="731520" y="2194560"/>
            <a:ext cx="8229600" cy="7498080"/>
            <a:chOff x="0" y="0"/>
            <a:chExt cx="10972800" cy="999744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52757593" name="Group 11"/>
          <p:cNvGrpSpPr/>
          <p:nvPr/>
        </p:nvGrpSpPr>
        <p:grpSpPr bwMode="auto">
          <a:xfrm rot="0">
            <a:off x="731520" y="2194560"/>
            <a:ext cx="128016" cy="7498080"/>
            <a:chOff x="0" y="0"/>
            <a:chExt cx="170688" cy="999744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886582028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07440411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Multi-Core</a:t>
              </a:r>
              <a:endParaRPr/>
            </a:p>
          </p:txBody>
        </p:sp>
      </p:grpSp>
      <p:sp>
        <p:nvSpPr>
          <p:cNvPr id="1394879837" name="TextBox 18"/>
          <p:cNvSpPr txBox="1"/>
          <p:nvPr/>
        </p:nvSpPr>
        <p:spPr bwMode="auto">
          <a:xfrm rot="0">
            <a:off x="1133856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 single CPU chip containing multiple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Faster internal communication between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Lower cost and lower power consumption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Cores share L3 cache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Common in consumer desktops, laptops, and phones</a:t>
            </a:r>
            <a:endParaRPr/>
          </a:p>
        </p:txBody>
      </p:sp>
      <p:grpSp>
        <p:nvGrpSpPr>
          <p:cNvPr id="1396619480" name="Group 19"/>
          <p:cNvGrpSpPr/>
          <p:nvPr/>
        </p:nvGrpSpPr>
        <p:grpSpPr bwMode="auto">
          <a:xfrm rot="0">
            <a:off x="9326880" y="2194560"/>
            <a:ext cx="8229600" cy="7498080"/>
            <a:chOff x="0" y="0"/>
            <a:chExt cx="10972800" cy="999744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57353013" name="Group 21"/>
          <p:cNvGrpSpPr/>
          <p:nvPr/>
        </p:nvGrpSpPr>
        <p:grpSpPr bwMode="auto">
          <a:xfrm rot="0">
            <a:off x="9326880" y="2194560"/>
            <a:ext cx="128016" cy="7498080"/>
            <a:chOff x="0" y="0"/>
            <a:chExt cx="170688" cy="999744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2088351597" name="Group 2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748238199" name="Group 2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Multi-CPU</a:t>
              </a:r>
              <a:endParaRPr/>
            </a:p>
          </p:txBody>
        </p:sp>
      </p:grpSp>
      <p:sp>
        <p:nvSpPr>
          <p:cNvPr id="1202088306" name="TextBox 28"/>
          <p:cNvSpPr txBox="1"/>
          <p:nvPr/>
        </p:nvSpPr>
        <p:spPr bwMode="auto">
          <a:xfrm rot="0">
            <a:off x="9729215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Multiple separate physical CPU chips on one motherboard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Higher scalability for massive enterprise workloads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Communication goes through external bus — slower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Higher cost and much higher power consumption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Used in high-end servers and workstations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7832061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460327719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2.5 — OS System Overview</a:t>
              </a:r>
              <a:endParaRPr/>
            </a:p>
          </p:txBody>
        </p:sp>
      </p:grpSp>
      <p:grpSp>
        <p:nvGrpSpPr>
          <p:cNvPr id="472793191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161657577" name="Group 9"/>
          <p:cNvGrpSpPr/>
          <p:nvPr/>
        </p:nvGrpSpPr>
        <p:grpSpPr bwMode="auto">
          <a:xfrm rot="0">
            <a:off x="731520" y="2194560"/>
            <a:ext cx="8046720" cy="3291840"/>
            <a:chOff x="0" y="0"/>
            <a:chExt cx="10728960" cy="438912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728960" cy="4389120"/>
            </a:xfrm>
            <a:custGeom>
              <a:avLst/>
              <a:gdLst/>
              <a:ahLst/>
              <a:cxnLst/>
              <a:rect l="l" t="t" r="r" b="b"/>
              <a:pathLst>
                <a:path w="10728960" h="438912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76415240" name="Group 11"/>
          <p:cNvGrpSpPr/>
          <p:nvPr/>
        </p:nvGrpSpPr>
        <p:grpSpPr bwMode="auto">
          <a:xfrm rot="0">
            <a:off x="950976" y="2468880"/>
            <a:ext cx="1005840" cy="1005840"/>
            <a:chOff x="0" y="0"/>
            <a:chExt cx="1341120" cy="134112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809433150" name="Group 13"/>
          <p:cNvGrpSpPr/>
          <p:nvPr/>
        </p:nvGrpSpPr>
        <p:grpSpPr bwMode="auto">
          <a:xfrm rot="0">
            <a:off x="950976" y="2505456"/>
            <a:ext cx="1005840" cy="932688"/>
            <a:chOff x="0" y="0"/>
            <a:chExt cx="1341120" cy="1243584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1886541854" name="Group 15"/>
          <p:cNvGrpSpPr/>
          <p:nvPr/>
        </p:nvGrpSpPr>
        <p:grpSpPr bwMode="auto">
          <a:xfrm rot="0">
            <a:off x="950976" y="2441162"/>
            <a:ext cx="1005840" cy="996982"/>
            <a:chOff x="0" y="0"/>
            <a:chExt cx="1341120" cy="1329309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1</a:t>
              </a:r>
              <a:endParaRPr/>
            </a:p>
          </p:txBody>
        </p:sp>
      </p:grpSp>
      <p:grpSp>
        <p:nvGrpSpPr>
          <p:cNvPr id="1064971955" name="Group 18"/>
          <p:cNvGrpSpPr/>
          <p:nvPr/>
        </p:nvGrpSpPr>
        <p:grpSpPr bwMode="auto">
          <a:xfrm rot="0">
            <a:off x="2157984" y="2377440"/>
            <a:ext cx="6400800" cy="768096"/>
            <a:chOff x="0" y="0"/>
            <a:chExt cx="8534400" cy="1024128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563131381" name="Group 20"/>
          <p:cNvGrpSpPr/>
          <p:nvPr/>
        </p:nvGrpSpPr>
        <p:grpSpPr bwMode="auto">
          <a:xfrm rot="0">
            <a:off x="2157984" y="2320290"/>
            <a:ext cx="6400800" cy="825246"/>
            <a:chOff x="0" y="0"/>
            <a:chExt cx="8534400" cy="1100328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8534400" cy="1100328"/>
            </a:xfrm>
            <a:custGeom>
              <a:avLst/>
              <a:gdLst/>
              <a:ahLst/>
              <a:cxnLst/>
              <a:rect l="l" t="t" r="r" b="b"/>
              <a:pathLst>
                <a:path w="8534400" h="11003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100328"/>
                  </a:lnTo>
                  <a:lnTo>
                    <a:pt x="0" y="110032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1130" r="0" b="-101130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8534400" cy="117652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Virtual Address Space</a:t>
              </a:r>
              <a:endParaRPr/>
            </a:p>
          </p:txBody>
        </p:sp>
      </p:grpSp>
      <p:sp>
        <p:nvSpPr>
          <p:cNvPr id="767553692" name="TextBox 23"/>
          <p:cNvSpPr txBox="1"/>
          <p:nvPr/>
        </p:nvSpPr>
        <p:spPr bwMode="auto">
          <a:xfrm rot="0">
            <a:off x="2157984" y="3048000"/>
            <a:ext cx="6400800" cy="216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Each process runs in complete isolation with its own virtual address space</a:t>
            </a:r>
            <a:endParaRPr/>
          </a:p>
        </p:txBody>
      </p:sp>
      <p:grpSp>
        <p:nvGrpSpPr>
          <p:cNvPr id="2071773695" name="Group 24"/>
          <p:cNvGrpSpPr/>
          <p:nvPr/>
        </p:nvGrpSpPr>
        <p:grpSpPr bwMode="auto">
          <a:xfrm rot="0">
            <a:off x="9326880" y="2194560"/>
            <a:ext cx="8046720" cy="3291840"/>
            <a:chOff x="0" y="0"/>
            <a:chExt cx="10728960" cy="438912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728960" cy="4389120"/>
            </a:xfrm>
            <a:custGeom>
              <a:avLst/>
              <a:gdLst/>
              <a:ahLst/>
              <a:cxnLst/>
              <a:rect l="l" t="t" r="r" b="b"/>
              <a:pathLst>
                <a:path w="10728960" h="438912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82014959" name="Group 26"/>
          <p:cNvGrpSpPr/>
          <p:nvPr/>
        </p:nvGrpSpPr>
        <p:grpSpPr bwMode="auto">
          <a:xfrm rot="0">
            <a:off x="9546336" y="2468880"/>
            <a:ext cx="1005840" cy="1005840"/>
            <a:chOff x="0" y="0"/>
            <a:chExt cx="1341120" cy="134112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250635490" name="Group 28"/>
          <p:cNvGrpSpPr/>
          <p:nvPr/>
        </p:nvGrpSpPr>
        <p:grpSpPr bwMode="auto">
          <a:xfrm rot="0">
            <a:off x="9546336" y="2505456"/>
            <a:ext cx="1005840" cy="932688"/>
            <a:chOff x="0" y="0"/>
            <a:chExt cx="1341120" cy="1243584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1445811900" name="Group 30"/>
          <p:cNvGrpSpPr/>
          <p:nvPr/>
        </p:nvGrpSpPr>
        <p:grpSpPr bwMode="auto">
          <a:xfrm rot="0">
            <a:off x="9546336" y="2441162"/>
            <a:ext cx="1005840" cy="996982"/>
            <a:chOff x="0" y="0"/>
            <a:chExt cx="1341120" cy="1329309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2</a:t>
              </a:r>
              <a:endParaRPr/>
            </a:p>
          </p:txBody>
        </p:sp>
      </p:grpSp>
      <p:grpSp>
        <p:nvGrpSpPr>
          <p:cNvPr id="484431418" name="Group 33"/>
          <p:cNvGrpSpPr/>
          <p:nvPr/>
        </p:nvGrpSpPr>
        <p:grpSpPr bwMode="auto">
          <a:xfrm rot="0">
            <a:off x="10753344" y="2377440"/>
            <a:ext cx="6400800" cy="768096"/>
            <a:chOff x="0" y="0"/>
            <a:chExt cx="8534400" cy="1024128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1384350120" name="Group 35"/>
          <p:cNvGrpSpPr/>
          <p:nvPr/>
        </p:nvGrpSpPr>
        <p:grpSpPr bwMode="auto">
          <a:xfrm rot="0">
            <a:off x="10753344" y="2320290"/>
            <a:ext cx="6400800" cy="825246"/>
            <a:chOff x="0" y="0"/>
            <a:chExt cx="8534400" cy="1100328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8534400" cy="1100328"/>
            </a:xfrm>
            <a:custGeom>
              <a:avLst/>
              <a:gdLst/>
              <a:ahLst/>
              <a:cxnLst/>
              <a:rect l="l" t="t" r="r" b="b"/>
              <a:pathLst>
                <a:path w="8534400" h="11003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100328"/>
                  </a:lnTo>
                  <a:lnTo>
                    <a:pt x="0" y="110032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1130" r="0" b="-101130"/>
              </a:stretch>
            </a:blip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0" y="-76200"/>
              <a:ext cx="8534400" cy="117652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MMU &amp; Page Table</a:t>
              </a:r>
              <a:endParaRPr/>
            </a:p>
          </p:txBody>
        </p:sp>
      </p:grpSp>
      <p:sp>
        <p:nvSpPr>
          <p:cNvPr id="1991548675" name="TextBox 38"/>
          <p:cNvSpPr txBox="1"/>
          <p:nvPr/>
        </p:nvSpPr>
        <p:spPr bwMode="auto">
          <a:xfrm rot="0">
            <a:off x="10753344" y="3048000"/>
            <a:ext cx="6400800" cy="216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Hardware MMU and OS Page Table handle memory translation and protection</a:t>
            </a:r>
            <a:endParaRPr/>
          </a:p>
        </p:txBody>
      </p:sp>
      <p:grpSp>
        <p:nvGrpSpPr>
          <p:cNvPr id="22032318" name="Group 39"/>
          <p:cNvGrpSpPr/>
          <p:nvPr/>
        </p:nvGrpSpPr>
        <p:grpSpPr bwMode="auto">
          <a:xfrm rot="0">
            <a:off x="731520" y="5852160"/>
            <a:ext cx="8046720" cy="3291840"/>
            <a:chOff x="0" y="0"/>
            <a:chExt cx="10728960" cy="4389120"/>
          </a:xfrm>
        </p:grpSpPr>
        <p:sp>
          <p:nvSpPr>
            <p:cNvPr id="40" name="Freeform 40"/>
            <p:cNvSpPr/>
            <p:nvPr/>
          </p:nvSpPr>
          <p:spPr bwMode="auto">
            <a:xfrm rot="0" flipH="0" flipV="0">
              <a:off x="0" y="0"/>
              <a:ext cx="10728960" cy="4389120"/>
            </a:xfrm>
            <a:custGeom>
              <a:avLst/>
              <a:gdLst/>
              <a:ahLst/>
              <a:cxnLst/>
              <a:rect l="l" t="t" r="r" b="b"/>
              <a:pathLst>
                <a:path w="10728960" h="438912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28817255" name="Group 41"/>
          <p:cNvGrpSpPr/>
          <p:nvPr/>
        </p:nvGrpSpPr>
        <p:grpSpPr bwMode="auto">
          <a:xfrm rot="0">
            <a:off x="950976" y="6126480"/>
            <a:ext cx="1005840" cy="1005840"/>
            <a:chOff x="0" y="0"/>
            <a:chExt cx="1341120" cy="1341120"/>
          </a:xfrm>
        </p:grpSpPr>
        <p:sp>
          <p:nvSpPr>
            <p:cNvPr id="42" name="Freeform 42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369123889" name="Group 43"/>
          <p:cNvGrpSpPr/>
          <p:nvPr/>
        </p:nvGrpSpPr>
        <p:grpSpPr bwMode="auto">
          <a:xfrm rot="0">
            <a:off x="950976" y="6163056"/>
            <a:ext cx="1005840" cy="932688"/>
            <a:chOff x="0" y="0"/>
            <a:chExt cx="1341120" cy="1243584"/>
          </a:xfrm>
        </p:grpSpPr>
        <p:sp>
          <p:nvSpPr>
            <p:cNvPr id="44" name="Freeform 44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1797017609" name="Group 45"/>
          <p:cNvGrpSpPr/>
          <p:nvPr/>
        </p:nvGrpSpPr>
        <p:grpSpPr bwMode="auto">
          <a:xfrm rot="0">
            <a:off x="950976" y="6098762"/>
            <a:ext cx="1005840" cy="996982"/>
            <a:chOff x="0" y="0"/>
            <a:chExt cx="1341120" cy="1329309"/>
          </a:xfrm>
        </p:grpSpPr>
        <p:sp>
          <p:nvSpPr>
            <p:cNvPr id="46" name="Freeform 46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47" name="TextBox 47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3</a:t>
              </a:r>
              <a:endParaRPr/>
            </a:p>
          </p:txBody>
        </p:sp>
      </p:grpSp>
      <p:grpSp>
        <p:nvGrpSpPr>
          <p:cNvPr id="1165493419" name="Group 48"/>
          <p:cNvGrpSpPr/>
          <p:nvPr/>
        </p:nvGrpSpPr>
        <p:grpSpPr bwMode="auto">
          <a:xfrm rot="0">
            <a:off x="2157984" y="6035039"/>
            <a:ext cx="6400800" cy="768096"/>
            <a:chOff x="0" y="0"/>
            <a:chExt cx="8534400" cy="1024128"/>
          </a:xfrm>
        </p:grpSpPr>
        <p:sp>
          <p:nvSpPr>
            <p:cNvPr id="49" name="Freeform 49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1813215923" name="Group 50"/>
          <p:cNvGrpSpPr/>
          <p:nvPr/>
        </p:nvGrpSpPr>
        <p:grpSpPr bwMode="auto">
          <a:xfrm rot="0">
            <a:off x="2157984" y="5977890"/>
            <a:ext cx="6400800" cy="825246"/>
            <a:chOff x="0" y="0"/>
            <a:chExt cx="8534400" cy="1100328"/>
          </a:xfrm>
        </p:grpSpPr>
        <p:sp>
          <p:nvSpPr>
            <p:cNvPr id="51" name="Freeform 51"/>
            <p:cNvSpPr/>
            <p:nvPr/>
          </p:nvSpPr>
          <p:spPr bwMode="auto">
            <a:xfrm rot="0" flipH="0" flipV="0">
              <a:off x="0" y="0"/>
              <a:ext cx="8534400" cy="1100328"/>
            </a:xfrm>
            <a:custGeom>
              <a:avLst/>
              <a:gdLst/>
              <a:ahLst/>
              <a:cxnLst/>
              <a:rect l="l" t="t" r="r" b="b"/>
              <a:pathLst>
                <a:path w="8534400" h="11003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100328"/>
                  </a:lnTo>
                  <a:lnTo>
                    <a:pt x="0" y="110032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1130" r="0" b="-101130"/>
              </a:stretch>
            </a:blipFill>
          </p:spPr>
        </p:sp>
        <p:sp>
          <p:nvSpPr>
            <p:cNvPr id="52" name="TextBox 52"/>
            <p:cNvSpPr txBox="1"/>
            <p:nvPr/>
          </p:nvSpPr>
          <p:spPr bwMode="auto">
            <a:xfrm>
              <a:off x="0" y="-76200"/>
              <a:ext cx="8534400" cy="117652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OS Scheduler</a:t>
              </a:r>
              <a:endParaRPr/>
            </a:p>
          </p:txBody>
        </p:sp>
      </p:grpSp>
      <p:sp>
        <p:nvSpPr>
          <p:cNvPr id="1374868973" name="TextBox 53"/>
          <p:cNvSpPr txBox="1"/>
          <p:nvPr/>
        </p:nvSpPr>
        <p:spPr bwMode="auto">
          <a:xfrm rot="0">
            <a:off x="2157984" y="6705600"/>
            <a:ext cx="6400800" cy="216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Distributes processes and threads across available CPU cores dynamically</a:t>
            </a:r>
            <a:endParaRPr/>
          </a:p>
        </p:txBody>
      </p:sp>
      <p:grpSp>
        <p:nvGrpSpPr>
          <p:cNvPr id="302037184" name="Group 54"/>
          <p:cNvGrpSpPr/>
          <p:nvPr/>
        </p:nvGrpSpPr>
        <p:grpSpPr bwMode="auto">
          <a:xfrm rot="0">
            <a:off x="9326880" y="5852160"/>
            <a:ext cx="8046720" cy="3291840"/>
            <a:chOff x="0" y="0"/>
            <a:chExt cx="10728960" cy="4389120"/>
          </a:xfrm>
        </p:grpSpPr>
        <p:sp>
          <p:nvSpPr>
            <p:cNvPr id="55" name="Freeform 55"/>
            <p:cNvSpPr/>
            <p:nvPr/>
          </p:nvSpPr>
          <p:spPr bwMode="auto">
            <a:xfrm rot="0" flipH="0" flipV="0">
              <a:off x="0" y="0"/>
              <a:ext cx="10728960" cy="4389120"/>
            </a:xfrm>
            <a:custGeom>
              <a:avLst/>
              <a:gdLst/>
              <a:ahLst/>
              <a:cxnLst/>
              <a:rect l="l" t="t" r="r" b="b"/>
              <a:pathLst>
                <a:path w="10728960" h="4389120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19914336" name="Group 56"/>
          <p:cNvGrpSpPr/>
          <p:nvPr/>
        </p:nvGrpSpPr>
        <p:grpSpPr bwMode="auto">
          <a:xfrm rot="0">
            <a:off x="9546336" y="6126480"/>
            <a:ext cx="1005840" cy="1005840"/>
            <a:chOff x="0" y="0"/>
            <a:chExt cx="1341120" cy="1341120"/>
          </a:xfrm>
        </p:grpSpPr>
        <p:sp>
          <p:nvSpPr>
            <p:cNvPr id="57" name="Freeform 57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2142047275" name="Group 58"/>
          <p:cNvGrpSpPr/>
          <p:nvPr/>
        </p:nvGrpSpPr>
        <p:grpSpPr bwMode="auto">
          <a:xfrm rot="0">
            <a:off x="9546336" y="6163056"/>
            <a:ext cx="1005840" cy="932688"/>
            <a:chOff x="0" y="0"/>
            <a:chExt cx="1341120" cy="1243584"/>
          </a:xfrm>
        </p:grpSpPr>
        <p:sp>
          <p:nvSpPr>
            <p:cNvPr id="59" name="Freeform 59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426304894" name="Group 60"/>
          <p:cNvGrpSpPr/>
          <p:nvPr/>
        </p:nvGrpSpPr>
        <p:grpSpPr bwMode="auto">
          <a:xfrm rot="0">
            <a:off x="9546336" y="6098762"/>
            <a:ext cx="1005840" cy="996982"/>
            <a:chOff x="0" y="0"/>
            <a:chExt cx="1341120" cy="1329309"/>
          </a:xfrm>
        </p:grpSpPr>
        <p:sp>
          <p:nvSpPr>
            <p:cNvPr id="61" name="Freeform 61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62" name="TextBox 62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4</a:t>
              </a:r>
              <a:endParaRPr/>
            </a:p>
          </p:txBody>
        </p:sp>
      </p:grpSp>
      <p:grpSp>
        <p:nvGrpSpPr>
          <p:cNvPr id="1143530783" name="Group 63"/>
          <p:cNvGrpSpPr/>
          <p:nvPr/>
        </p:nvGrpSpPr>
        <p:grpSpPr bwMode="auto">
          <a:xfrm rot="0">
            <a:off x="10753344" y="6035039"/>
            <a:ext cx="6400800" cy="768096"/>
            <a:chOff x="0" y="0"/>
            <a:chExt cx="8534400" cy="1024128"/>
          </a:xfrm>
        </p:grpSpPr>
        <p:sp>
          <p:nvSpPr>
            <p:cNvPr id="64" name="Freeform 64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194658624" name="Group 65"/>
          <p:cNvGrpSpPr/>
          <p:nvPr/>
        </p:nvGrpSpPr>
        <p:grpSpPr bwMode="auto">
          <a:xfrm rot="0">
            <a:off x="10753344" y="5977890"/>
            <a:ext cx="6400800" cy="825246"/>
            <a:chOff x="0" y="0"/>
            <a:chExt cx="8534400" cy="1100328"/>
          </a:xfrm>
        </p:grpSpPr>
        <p:sp>
          <p:nvSpPr>
            <p:cNvPr id="66" name="Freeform 66"/>
            <p:cNvSpPr/>
            <p:nvPr/>
          </p:nvSpPr>
          <p:spPr bwMode="auto">
            <a:xfrm rot="0" flipH="0" flipV="0">
              <a:off x="0" y="0"/>
              <a:ext cx="8534400" cy="1100328"/>
            </a:xfrm>
            <a:custGeom>
              <a:avLst/>
              <a:gdLst/>
              <a:ahLst/>
              <a:cxnLst/>
              <a:rect l="l" t="t" r="r" b="b"/>
              <a:pathLst>
                <a:path w="8534400" h="11003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100328"/>
                  </a:lnTo>
                  <a:lnTo>
                    <a:pt x="0" y="110032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1130" r="0" b="-101130"/>
              </a:stretch>
            </a:blipFill>
          </p:spPr>
        </p:sp>
        <p:sp>
          <p:nvSpPr>
            <p:cNvPr id="67" name="TextBox 67"/>
            <p:cNvSpPr txBox="1"/>
            <p:nvPr/>
          </p:nvSpPr>
          <p:spPr bwMode="auto">
            <a:xfrm>
              <a:off x="0" y="-76200"/>
              <a:ext cx="8534400" cy="117652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Context Switching</a:t>
              </a:r>
              <a:endParaRPr/>
            </a:p>
          </p:txBody>
        </p:sp>
      </p:grpSp>
      <p:sp>
        <p:nvSpPr>
          <p:cNvPr id="1166023223" name="TextBox 68"/>
          <p:cNvSpPr txBox="1"/>
          <p:nvPr/>
        </p:nvSpPr>
        <p:spPr bwMode="auto">
          <a:xfrm rot="0">
            <a:off x="10753344" y="6705600"/>
            <a:ext cx="6400800" cy="216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OS enables multitasking by saving/restoring process state on core switches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D2D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453998" name="Group 2"/>
          <p:cNvGrpSpPr/>
          <p:nvPr/>
        </p:nvGrpSpPr>
        <p:grpSpPr bwMode="auto"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4384000" cy="195072"/>
            </a:xfrm>
            <a:custGeom>
              <a:avLst/>
              <a:gdLst/>
              <a:ahLst/>
              <a:cxnLst/>
              <a:rect l="l" t="t" r="r" b="b"/>
              <a:pathLst>
                <a:path w="24384000" h="195072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93102538" name="Group 4"/>
          <p:cNvGrpSpPr/>
          <p:nvPr/>
        </p:nvGrpSpPr>
        <p:grpSpPr bwMode="auto">
          <a:xfrm rot="0">
            <a:off x="11887200" y="914400"/>
            <a:ext cx="9144000" cy="9144000"/>
            <a:chOff x="0" y="0"/>
            <a:chExt cx="12192000" cy="121920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 fill="norm" stroke="1" extrusionOk="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9B89B4">
                <a:alpha val="0"/>
              </a:srgbClr>
            </a:solidFill>
          </p:spPr>
        </p:sp>
      </p:grpSp>
      <p:grpSp>
        <p:nvGrpSpPr>
          <p:cNvPr id="38021486" name="Group 6"/>
          <p:cNvGrpSpPr/>
          <p:nvPr/>
        </p:nvGrpSpPr>
        <p:grpSpPr bwMode="auto">
          <a:xfrm rot="0">
            <a:off x="1005840" y="2926080"/>
            <a:ext cx="10972800" cy="914400"/>
            <a:chOff x="0" y="0"/>
            <a:chExt cx="14630400" cy="12192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4630400" cy="1219200"/>
            </a:xfrm>
            <a:custGeom>
              <a:avLst/>
              <a:gdLst/>
              <a:ahLst/>
              <a:cxnLst/>
              <a:rect l="l" t="t" r="r" b="b"/>
              <a:pathLst>
                <a:path w="14630400" h="1219200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83658" r="0" b="-183657"/>
              </a:stretch>
            </a:blipFill>
          </p:spPr>
        </p:sp>
      </p:grpSp>
      <p:grpSp>
        <p:nvGrpSpPr>
          <p:cNvPr id="1125674606" name="Group 8"/>
          <p:cNvGrpSpPr/>
          <p:nvPr/>
        </p:nvGrpSpPr>
        <p:grpSpPr bwMode="auto">
          <a:xfrm rot="0">
            <a:off x="1005840" y="2876074"/>
            <a:ext cx="10972800" cy="964406"/>
            <a:chOff x="0" y="0"/>
            <a:chExt cx="14630400" cy="1285875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4630400" cy="1285875"/>
            </a:xfrm>
            <a:custGeom>
              <a:avLst/>
              <a:gdLst/>
              <a:ahLst/>
              <a:cxnLst/>
              <a:rect l="l" t="t" r="r" b="b"/>
              <a:pathLst>
                <a:path w="14630400" h="1285875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85875"/>
                  </a:lnTo>
                  <a:lnTo>
                    <a:pt x="0" y="12858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71696" r="0" b="-171696"/>
              </a:stretch>
            </a:blip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85725"/>
              <a:ext cx="146304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  <a:defRPr/>
              </a:pPr>
              <a:r>
                <a:rPr lang="en-US" sz="2800" spc="799">
                  <a:solidFill>
                    <a:srgbClr val="9B89B4"/>
                  </a:solidFill>
                  <a:latin typeface="Cooper Hewitt"/>
                  <a:ea typeface="Cooper Hewitt"/>
                  <a:cs typeface="Cooper Hewitt"/>
                </a:rPr>
                <a:t>PART 3</a:t>
              </a:r>
              <a:endParaRPr/>
            </a:p>
          </p:txBody>
        </p:sp>
      </p:grpSp>
      <p:grpSp>
        <p:nvGrpSpPr>
          <p:cNvPr id="1369647707" name="Group 11"/>
          <p:cNvGrpSpPr/>
          <p:nvPr/>
        </p:nvGrpSpPr>
        <p:grpSpPr bwMode="auto">
          <a:xfrm rot="0">
            <a:off x="1005840" y="3840480"/>
            <a:ext cx="13716000" cy="4023360"/>
            <a:chOff x="0" y="0"/>
            <a:chExt cx="18288000" cy="5364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288000" cy="5364480"/>
            </a:xfrm>
            <a:custGeom>
              <a:avLst/>
              <a:gdLst/>
              <a:ahLst/>
              <a:cxnLst/>
              <a:rect l="l" t="t" r="r" b="b"/>
              <a:pathLst>
                <a:path w="18288000" h="5364480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0"/>
                  </a:lnTo>
                  <a:lnTo>
                    <a:pt x="0" y="53644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379" r="0" b="-16379"/>
              </a:stretch>
            </a:blipFill>
          </p:spPr>
        </p:sp>
      </p:grpSp>
      <p:grpSp>
        <p:nvGrpSpPr>
          <p:cNvPr id="288255294" name="Group 13"/>
          <p:cNvGrpSpPr/>
          <p:nvPr/>
        </p:nvGrpSpPr>
        <p:grpSpPr bwMode="auto">
          <a:xfrm rot="0">
            <a:off x="1005840" y="3661886"/>
            <a:ext cx="13716000" cy="4201954"/>
            <a:chOff x="0" y="0"/>
            <a:chExt cx="18288000" cy="5602605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8288000" cy="5602605"/>
            </a:xfrm>
            <a:custGeom>
              <a:avLst/>
              <a:gdLst/>
              <a:ahLst/>
              <a:cxnLst/>
              <a:rect l="l" t="t" r="r" b="b"/>
              <a:pathLst>
                <a:path w="18288000" h="5602605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602605"/>
                  </a:lnTo>
                  <a:lnTo>
                    <a:pt x="0" y="56026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602" r="0" b="-13602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38125"/>
              <a:ext cx="18288000" cy="58407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Threads &amp;</a:t>
              </a:r>
              <a:endParaRPr/>
            </a:p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Multithreading</a:t>
              </a:r>
              <a:endParaRPr/>
            </a:p>
          </p:txBody>
        </p:sp>
      </p:grpSp>
      <p:grpSp>
        <p:nvGrpSpPr>
          <p:cNvPr id="1477756951" name="Group 16"/>
          <p:cNvGrpSpPr/>
          <p:nvPr/>
        </p:nvGrpSpPr>
        <p:grpSpPr bwMode="auto">
          <a:xfrm rot="0">
            <a:off x="1005840" y="8961120"/>
            <a:ext cx="329184" cy="329184"/>
            <a:chOff x="0" y="0"/>
            <a:chExt cx="438912" cy="438912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979036214" name="Group 18"/>
          <p:cNvGrpSpPr/>
          <p:nvPr/>
        </p:nvGrpSpPr>
        <p:grpSpPr bwMode="auto">
          <a:xfrm rot="0">
            <a:off x="1645920" y="8961120"/>
            <a:ext cx="329184" cy="329184"/>
            <a:chOff x="0" y="0"/>
            <a:chExt cx="438912" cy="43891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  <p:grpSp>
        <p:nvGrpSpPr>
          <p:cNvPr id="910924573" name="Group 20"/>
          <p:cNvGrpSpPr/>
          <p:nvPr/>
        </p:nvGrpSpPr>
        <p:grpSpPr bwMode="auto">
          <a:xfrm rot="0">
            <a:off x="2286000" y="8961120"/>
            <a:ext cx="329184" cy="329184"/>
            <a:chOff x="0" y="0"/>
            <a:chExt cx="438912" cy="438912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1246160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578711588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3.1 — What is a Thread?</a:t>
              </a:r>
              <a:endParaRPr/>
            </a:p>
          </p:txBody>
        </p:sp>
      </p:grpSp>
      <p:grpSp>
        <p:nvGrpSpPr>
          <p:cNvPr id="266902036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sp>
        <p:nvSpPr>
          <p:cNvPr id="353887431" name="Freeform 9"/>
          <p:cNvSpPr/>
          <p:nvPr/>
        </p:nvSpPr>
        <p:spPr bwMode="auto">
          <a:xfrm rot="0" flipH="0" flipV="0">
            <a:off x="716280" y="2087880"/>
            <a:ext cx="16855440" cy="1822704"/>
          </a:xfrm>
          <a:custGeom>
            <a:avLst/>
            <a:gdLst/>
            <a:ahLst/>
            <a:cxnLst/>
            <a:rect l="l" t="t" r="r" b="b"/>
            <a:pathLst>
              <a:path w="16855440" h="1822704" fill="norm" stroke="1" extrusionOk="0">
                <a:moveTo>
                  <a:pt x="0" y="0"/>
                </a:moveTo>
                <a:lnTo>
                  <a:pt x="16855440" y="0"/>
                </a:lnTo>
                <a:lnTo>
                  <a:pt x="16855440" y="1822704"/>
                </a:lnTo>
                <a:lnTo>
                  <a:pt x="0" y="1822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238927041" name="Group 10"/>
          <p:cNvGrpSpPr/>
          <p:nvPr/>
        </p:nvGrpSpPr>
        <p:grpSpPr bwMode="auto">
          <a:xfrm rot="0">
            <a:off x="1097280" y="2231136"/>
            <a:ext cx="16093440" cy="1554480"/>
            <a:chOff x="0" y="0"/>
            <a:chExt cx="21457920" cy="2072640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21457920" cy="2072640"/>
            </a:xfrm>
            <a:custGeom>
              <a:avLst/>
              <a:gdLst/>
              <a:ahLst/>
              <a:cxnLst/>
              <a:rect l="l" t="t" r="r" b="b"/>
              <a:pathLst>
                <a:path w="21457920" h="207264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1587" r="0" b="-151587"/>
              </a:stretch>
            </a:blipFill>
          </p:spPr>
        </p:sp>
      </p:grpSp>
      <p:grpSp>
        <p:nvGrpSpPr>
          <p:cNvPr id="1979316086" name="Group 12"/>
          <p:cNvGrpSpPr/>
          <p:nvPr/>
        </p:nvGrpSpPr>
        <p:grpSpPr bwMode="auto">
          <a:xfrm rot="0">
            <a:off x="1097280" y="2173986"/>
            <a:ext cx="16093440" cy="1611630"/>
            <a:chOff x="0" y="0"/>
            <a:chExt cx="21457920" cy="2148840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457920" cy="2148840"/>
            </a:xfrm>
            <a:custGeom>
              <a:avLst/>
              <a:gdLst/>
              <a:ahLst/>
              <a:cxnLst/>
              <a:rect l="l" t="t" r="r" b="b"/>
              <a:pathLst>
                <a:path w="21457920" h="214884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148840"/>
                  </a:lnTo>
                  <a:lnTo>
                    <a:pt x="0" y="21488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4574" r="0" b="-144574"/>
              </a:stretch>
            </a:blipFill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76200"/>
              <a:ext cx="21457920" cy="222504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>
                  <a:solidFill>
                    <a:srgbClr val="2D2D2D"/>
                  </a:solidFill>
                  <a:latin typeface="Cooper Hewitt"/>
                  <a:ea typeface="Cooper Hewitt"/>
                  <a:cs typeface="Cooper Hewitt"/>
                </a:rPr>
                <a:t>A thread is the smallest unit of execution inside a process — a lightweight path that executes instructions independently while sharing resources with other threads in the same process.</a:t>
              </a:r>
              <a:endParaRPr/>
            </a:p>
          </p:txBody>
        </p:sp>
      </p:grpSp>
      <p:grpSp>
        <p:nvGrpSpPr>
          <p:cNvPr id="2000652432" name="Group 15"/>
          <p:cNvGrpSpPr/>
          <p:nvPr/>
        </p:nvGrpSpPr>
        <p:grpSpPr bwMode="auto">
          <a:xfrm rot="0">
            <a:off x="731520" y="4114800"/>
            <a:ext cx="8229600" cy="5486400"/>
            <a:chOff x="0" y="0"/>
            <a:chExt cx="10972800" cy="731520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972800" cy="7315200"/>
            </a:xfrm>
            <a:custGeom>
              <a:avLst/>
              <a:gdLst/>
              <a:ahLst/>
              <a:cxnLst/>
              <a:rect l="l" t="t" r="r" b="b"/>
              <a:pathLst>
                <a:path w="10972800" h="731520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75468034" name="Group 17"/>
          <p:cNvGrpSpPr/>
          <p:nvPr/>
        </p:nvGrpSpPr>
        <p:grpSpPr bwMode="auto">
          <a:xfrm rot="0">
            <a:off x="731520" y="4114800"/>
            <a:ext cx="128016" cy="5486400"/>
            <a:chOff x="0" y="0"/>
            <a:chExt cx="170688" cy="7315200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170688" cy="7315200"/>
            </a:xfrm>
            <a:custGeom>
              <a:avLst/>
              <a:gdLst/>
              <a:ahLst/>
              <a:cxnLst/>
              <a:rect l="l" t="t" r="r" b="b"/>
              <a:pathLst>
                <a:path w="170688" h="7315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360999357" name="Group 19"/>
          <p:cNvGrpSpPr/>
          <p:nvPr/>
        </p:nvGrpSpPr>
        <p:grpSpPr bwMode="auto">
          <a:xfrm rot="0">
            <a:off x="1042416" y="4297680"/>
            <a:ext cx="7735823" cy="731520"/>
            <a:chOff x="0" y="0"/>
            <a:chExt cx="10314432" cy="97536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698538084" name="Group 21"/>
          <p:cNvGrpSpPr/>
          <p:nvPr/>
        </p:nvGrpSpPr>
        <p:grpSpPr bwMode="auto">
          <a:xfrm rot="0">
            <a:off x="1042416" y="4240530"/>
            <a:ext cx="7735823" cy="788670"/>
            <a:chOff x="0" y="0"/>
            <a:chExt cx="10314432" cy="105156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Process vs Thread</a:t>
              </a:r>
              <a:endParaRPr/>
            </a:p>
          </p:txBody>
        </p:sp>
      </p:grpSp>
      <p:sp>
        <p:nvSpPr>
          <p:cNvPr id="1848425195" name="TextBox 24"/>
          <p:cNvSpPr txBox="1"/>
          <p:nvPr/>
        </p:nvSpPr>
        <p:spPr bwMode="auto">
          <a:xfrm rot="0">
            <a:off x="1133856" y="5013960"/>
            <a:ext cx="7552944" cy="435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Process: Independent program with its own complete memory space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Thread: Execution unit INSIDE a process sharing process memory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 single process can contain multiple threads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= lightweight  |  Process = heavyweight</a:t>
            </a:r>
            <a:endParaRPr/>
          </a:p>
        </p:txBody>
      </p:sp>
      <p:grpSp>
        <p:nvGrpSpPr>
          <p:cNvPr id="331337891" name="Group 25"/>
          <p:cNvGrpSpPr/>
          <p:nvPr/>
        </p:nvGrpSpPr>
        <p:grpSpPr bwMode="auto">
          <a:xfrm rot="0">
            <a:off x="9326880" y="4114800"/>
            <a:ext cx="8229600" cy="5486400"/>
            <a:chOff x="0" y="0"/>
            <a:chExt cx="10972800" cy="731520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972800" cy="7315200"/>
            </a:xfrm>
            <a:custGeom>
              <a:avLst/>
              <a:gdLst/>
              <a:ahLst/>
              <a:cxnLst/>
              <a:rect l="l" t="t" r="r" b="b"/>
              <a:pathLst>
                <a:path w="10972800" h="731520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0056274" name="Group 27"/>
          <p:cNvGrpSpPr/>
          <p:nvPr/>
        </p:nvGrpSpPr>
        <p:grpSpPr bwMode="auto">
          <a:xfrm rot="0">
            <a:off x="9326880" y="4114800"/>
            <a:ext cx="128016" cy="5486400"/>
            <a:chOff x="0" y="0"/>
            <a:chExt cx="170688" cy="7315200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170688" cy="7315200"/>
            </a:xfrm>
            <a:custGeom>
              <a:avLst/>
              <a:gdLst/>
              <a:ahLst/>
              <a:cxnLst/>
              <a:rect l="l" t="t" r="r" b="b"/>
              <a:pathLst>
                <a:path w="170688" h="7315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372805105" name="Group 29"/>
          <p:cNvGrpSpPr/>
          <p:nvPr/>
        </p:nvGrpSpPr>
        <p:grpSpPr bwMode="auto">
          <a:xfrm rot="0">
            <a:off x="9637776" y="4297680"/>
            <a:ext cx="7735823" cy="731520"/>
            <a:chOff x="0" y="0"/>
            <a:chExt cx="10314432" cy="97536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888331228" name="Group 31"/>
          <p:cNvGrpSpPr/>
          <p:nvPr/>
        </p:nvGrpSpPr>
        <p:grpSpPr bwMode="auto">
          <a:xfrm rot="0">
            <a:off x="9637776" y="4240530"/>
            <a:ext cx="7735823" cy="788670"/>
            <a:chOff x="0" y="0"/>
            <a:chExt cx="10314432" cy="105156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Structure Inside a Process</a:t>
              </a:r>
              <a:endParaRPr/>
            </a:p>
          </p:txBody>
        </p:sp>
      </p:grpSp>
      <p:sp>
        <p:nvSpPr>
          <p:cNvPr id="1059998471" name="TextBox 34"/>
          <p:cNvSpPr txBox="1"/>
          <p:nvPr/>
        </p:nvSpPr>
        <p:spPr bwMode="auto">
          <a:xfrm rot="0">
            <a:off x="9729215" y="5013960"/>
            <a:ext cx="7552944" cy="435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Process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  → Thread 1: executes independently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  → Thread 2: executes independently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  → Thread 3: executes independently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All threads share the same memory space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6869331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944897475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3.2 — Shared vs Private Resources</a:t>
              </a:r>
              <a:endParaRPr/>
            </a:p>
          </p:txBody>
        </p:sp>
      </p:grpSp>
      <p:grpSp>
        <p:nvGrpSpPr>
          <p:cNvPr id="1581280782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849618074" name="Group 9"/>
          <p:cNvGrpSpPr/>
          <p:nvPr/>
        </p:nvGrpSpPr>
        <p:grpSpPr bwMode="auto">
          <a:xfrm rot="0">
            <a:off x="731520" y="2194560"/>
            <a:ext cx="8229600" cy="7498080"/>
            <a:chOff x="0" y="0"/>
            <a:chExt cx="10972800" cy="999744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75871241" name="Group 11"/>
          <p:cNvGrpSpPr/>
          <p:nvPr/>
        </p:nvGrpSpPr>
        <p:grpSpPr bwMode="auto">
          <a:xfrm rot="0">
            <a:off x="731520" y="2194560"/>
            <a:ext cx="128016" cy="7498080"/>
            <a:chOff x="0" y="0"/>
            <a:chExt cx="170688" cy="999744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2004121744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202026045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Shared Resources — All Threads</a:t>
              </a:r>
              <a:endParaRPr/>
            </a:p>
          </p:txBody>
        </p:sp>
      </p:grpSp>
      <p:sp>
        <p:nvSpPr>
          <p:cNvPr id="658744423" name="TextBox 18"/>
          <p:cNvSpPr txBox="1"/>
          <p:nvPr/>
        </p:nvSpPr>
        <p:spPr bwMode="auto">
          <a:xfrm rot="0">
            <a:off x="1133856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Code segment (program instructions)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Heap — dynamic memory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Global variables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Open file handles and network sockets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→ Allows threads to communicate easily and efficiently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A global counter can be read/written by all threads</a:t>
            </a:r>
            <a:endParaRPr/>
          </a:p>
        </p:txBody>
      </p:sp>
      <p:grpSp>
        <p:nvGrpSpPr>
          <p:cNvPr id="259135714" name="Group 19"/>
          <p:cNvGrpSpPr/>
          <p:nvPr/>
        </p:nvGrpSpPr>
        <p:grpSpPr bwMode="auto">
          <a:xfrm rot="0">
            <a:off x="9326880" y="2194560"/>
            <a:ext cx="8229600" cy="7498080"/>
            <a:chOff x="0" y="0"/>
            <a:chExt cx="10972800" cy="999744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81466861" name="Group 21"/>
          <p:cNvGrpSpPr/>
          <p:nvPr/>
        </p:nvGrpSpPr>
        <p:grpSpPr bwMode="auto">
          <a:xfrm rot="0">
            <a:off x="9326880" y="2194560"/>
            <a:ext cx="128016" cy="7498080"/>
            <a:chOff x="0" y="0"/>
            <a:chExt cx="170688" cy="999744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972737579" name="Group 2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487638195" name="Group 2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Private Resources — Per Thread</a:t>
              </a:r>
              <a:endParaRPr/>
            </a:p>
          </p:txBody>
        </p:sp>
      </p:grpSp>
      <p:sp>
        <p:nvSpPr>
          <p:cNvPr id="1312168441" name="TextBox 28"/>
          <p:cNvSpPr txBox="1"/>
          <p:nvPr/>
        </p:nvSpPr>
        <p:spPr bwMode="auto">
          <a:xfrm rot="0">
            <a:off x="9729215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Stack — function call frames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Local variables (each thread has its own copy)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Function calls and return addresses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Execution context: registers, program counter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→ Ensures each thread can execute independently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A local loop counter is separate for each thread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91251230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770417395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3.3 — Why Threads Are Faster Than Processes</a:t>
              </a:r>
              <a:endParaRPr/>
            </a:p>
          </p:txBody>
        </p:sp>
      </p:grpSp>
      <p:grpSp>
        <p:nvGrpSpPr>
          <p:cNvPr id="853543546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482092703" name="Group 9"/>
          <p:cNvGrpSpPr/>
          <p:nvPr/>
        </p:nvGrpSpPr>
        <p:grpSpPr bwMode="auto">
          <a:xfrm rot="0">
            <a:off x="731520" y="2194560"/>
            <a:ext cx="8229600" cy="5486400"/>
            <a:chOff x="0" y="0"/>
            <a:chExt cx="10972800" cy="73152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7315200"/>
            </a:xfrm>
            <a:custGeom>
              <a:avLst/>
              <a:gdLst/>
              <a:ahLst/>
              <a:cxnLst/>
              <a:rect l="l" t="t" r="r" b="b"/>
              <a:pathLst>
                <a:path w="10972800" h="731520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2392593" name="Group 11"/>
          <p:cNvGrpSpPr/>
          <p:nvPr/>
        </p:nvGrpSpPr>
        <p:grpSpPr bwMode="auto">
          <a:xfrm rot="0">
            <a:off x="731520" y="2194560"/>
            <a:ext cx="128016" cy="5486400"/>
            <a:chOff x="0" y="0"/>
            <a:chExt cx="170688" cy="731520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7315200"/>
            </a:xfrm>
            <a:custGeom>
              <a:avLst/>
              <a:gdLst/>
              <a:ahLst/>
              <a:cxnLst/>
              <a:rect l="l" t="t" r="r" b="b"/>
              <a:pathLst>
                <a:path w="170688" h="7315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2013861984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103343156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Creating a Process — Expensive</a:t>
              </a:r>
              <a:endParaRPr/>
            </a:p>
          </p:txBody>
        </p:sp>
      </p:grpSp>
      <p:sp>
        <p:nvSpPr>
          <p:cNvPr id="1626916088" name="TextBox 18"/>
          <p:cNvSpPr txBox="1"/>
          <p:nvPr/>
        </p:nvSpPr>
        <p:spPr bwMode="auto">
          <a:xfrm rot="0">
            <a:off x="1133856" y="3093720"/>
            <a:ext cx="7552944" cy="435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Requires allocating a new memory space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Requires a new virtual address space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Requires building a new page table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All operations take significant time and OS resources</a:t>
            </a:r>
            <a:endParaRPr/>
          </a:p>
        </p:txBody>
      </p:sp>
      <p:grpSp>
        <p:nvGrpSpPr>
          <p:cNvPr id="1738635172" name="Group 19"/>
          <p:cNvGrpSpPr/>
          <p:nvPr/>
        </p:nvGrpSpPr>
        <p:grpSpPr bwMode="auto">
          <a:xfrm rot="0">
            <a:off x="9326880" y="2194560"/>
            <a:ext cx="8229600" cy="5486400"/>
            <a:chOff x="0" y="0"/>
            <a:chExt cx="10972800" cy="731520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7315200"/>
            </a:xfrm>
            <a:custGeom>
              <a:avLst/>
              <a:gdLst/>
              <a:ahLst/>
              <a:cxnLst/>
              <a:rect l="l" t="t" r="r" b="b"/>
              <a:pathLst>
                <a:path w="10972800" h="731520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7673947" name="Group 21"/>
          <p:cNvGrpSpPr/>
          <p:nvPr/>
        </p:nvGrpSpPr>
        <p:grpSpPr bwMode="auto">
          <a:xfrm rot="0">
            <a:off x="9326880" y="2194560"/>
            <a:ext cx="128016" cy="5486400"/>
            <a:chOff x="0" y="0"/>
            <a:chExt cx="170688" cy="73152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7315200"/>
            </a:xfrm>
            <a:custGeom>
              <a:avLst/>
              <a:gdLst/>
              <a:ahLst/>
              <a:cxnLst/>
              <a:rect l="l" t="t" r="r" b="b"/>
              <a:pathLst>
                <a:path w="170688" h="731520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36639345" name="Group 2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85080493" name="Group 2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Creating a Thread — Lightweight</a:t>
              </a:r>
              <a:endParaRPr/>
            </a:p>
          </p:txBody>
        </p:sp>
      </p:grpSp>
      <p:sp>
        <p:nvSpPr>
          <p:cNvPr id="867733464" name="TextBox 28"/>
          <p:cNvSpPr txBox="1"/>
          <p:nvPr/>
        </p:nvSpPr>
        <p:spPr bwMode="auto">
          <a:xfrm rot="0">
            <a:off x="9729215" y="3093720"/>
            <a:ext cx="7552944" cy="435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Shares the existing process memory — no duplication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Shares the existing address space and page table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Only a new stack is allocated for the new thread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Much faster creation and far lower overhead</a:t>
            </a:r>
            <a:endParaRPr/>
          </a:p>
        </p:txBody>
      </p:sp>
      <p:grpSp>
        <p:nvGrpSpPr>
          <p:cNvPr id="808248510" name="Group 29"/>
          <p:cNvGrpSpPr/>
          <p:nvPr/>
        </p:nvGrpSpPr>
        <p:grpSpPr bwMode="auto">
          <a:xfrm rot="0">
            <a:off x="731520" y="7955280"/>
            <a:ext cx="16824960" cy="1737360"/>
            <a:chOff x="0" y="0"/>
            <a:chExt cx="22433280" cy="231648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22433280" cy="2316480"/>
            </a:xfrm>
            <a:custGeom>
              <a:avLst/>
              <a:gdLst/>
              <a:ahLst/>
              <a:cxnLst/>
              <a:rect l="l" t="t" r="r" b="b"/>
              <a:pathLst>
                <a:path w="22433280" h="2316480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id="318662173" name="Group 31"/>
          <p:cNvGrpSpPr/>
          <p:nvPr/>
        </p:nvGrpSpPr>
        <p:grpSpPr bwMode="auto">
          <a:xfrm rot="0">
            <a:off x="1097280" y="8083296"/>
            <a:ext cx="16093440" cy="1463040"/>
            <a:chOff x="0" y="0"/>
            <a:chExt cx="21457920" cy="195072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21457920" cy="1950720"/>
            </a:xfrm>
            <a:custGeom>
              <a:avLst/>
              <a:gdLst/>
              <a:ahLst/>
              <a:cxnLst/>
              <a:rect l="l" t="t" r="r" b="b"/>
              <a:pathLst>
                <a:path w="21457920" h="195072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950720"/>
                  </a:lnTo>
                  <a:lnTo>
                    <a:pt x="0" y="19507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4186" r="0" b="-164186"/>
              </a:stretch>
            </a:blipFill>
          </p:spPr>
        </p:sp>
      </p:grpSp>
      <p:grpSp>
        <p:nvGrpSpPr>
          <p:cNvPr id="1747125054" name="Group 33"/>
          <p:cNvGrpSpPr/>
          <p:nvPr/>
        </p:nvGrpSpPr>
        <p:grpSpPr bwMode="auto">
          <a:xfrm rot="0">
            <a:off x="1097280" y="8033290"/>
            <a:ext cx="16093440" cy="1513046"/>
            <a:chOff x="0" y="0"/>
            <a:chExt cx="21457920" cy="2017395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21457920" cy="2017395"/>
            </a:xfrm>
            <a:custGeom>
              <a:avLst/>
              <a:gdLst/>
              <a:ahLst/>
              <a:cxnLst/>
              <a:rect l="l" t="t" r="r" b="b"/>
              <a:pathLst>
                <a:path w="21457920" h="2017395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017395"/>
                  </a:lnTo>
                  <a:lnTo>
                    <a:pt x="0" y="201739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57251" r="0" b="-157250"/>
              </a:stretch>
            </a:blipFill>
          </p:spPr>
        </p:sp>
        <p:sp>
          <p:nvSpPr>
            <p:cNvPr id="35" name="TextBox 35"/>
            <p:cNvSpPr txBox="1"/>
            <p:nvPr/>
          </p:nvSpPr>
          <p:spPr bwMode="auto">
            <a:xfrm>
              <a:off x="0" y="-66675"/>
              <a:ext cx="21457920" cy="208407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Conclusion: Use threads when tasks share data and need speed. Use processes when isolation and fault tolerance are required.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880753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602977516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3.4 — Real-World Use Case: GUI Applications</a:t>
              </a:r>
              <a:endParaRPr/>
            </a:p>
          </p:txBody>
        </p:sp>
      </p:grpSp>
      <p:grpSp>
        <p:nvGrpSpPr>
          <p:cNvPr id="2036872692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423777733" name="Group 9"/>
          <p:cNvGrpSpPr/>
          <p:nvPr/>
        </p:nvGrpSpPr>
        <p:grpSpPr bwMode="auto">
          <a:xfrm rot="0">
            <a:off x="914400" y="2011680"/>
            <a:ext cx="16459200" cy="822960"/>
            <a:chOff x="0" y="0"/>
            <a:chExt cx="21945600" cy="109728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id="1230242161" name="Group 11"/>
          <p:cNvGrpSpPr/>
          <p:nvPr/>
        </p:nvGrpSpPr>
        <p:grpSpPr bwMode="auto">
          <a:xfrm rot="0">
            <a:off x="914400" y="1954530"/>
            <a:ext cx="16459200" cy="880110"/>
            <a:chOff x="0" y="0"/>
            <a:chExt cx="21945600" cy="1173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173480"/>
            </a:xfrm>
            <a:custGeom>
              <a:avLst/>
              <a:gdLst/>
              <a:ahLst/>
              <a:cxnLst/>
              <a:rect l="l" t="t" r="r" b="b"/>
              <a:pathLst>
                <a:path w="21945600" h="11734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173480"/>
                  </a:lnTo>
                  <a:lnTo>
                    <a:pt x="0" y="11734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24968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Modern applications use multithreading to stay responsive while performing background operations.</a:t>
              </a:r>
              <a:endParaRPr/>
            </a:p>
          </p:txBody>
        </p:sp>
      </p:grpSp>
      <p:grpSp>
        <p:nvGrpSpPr>
          <p:cNvPr id="310228038" name="Group 14"/>
          <p:cNvGrpSpPr/>
          <p:nvPr/>
        </p:nvGrpSpPr>
        <p:grpSpPr bwMode="auto">
          <a:xfrm rot="0">
            <a:off x="731520" y="3017519"/>
            <a:ext cx="8229600" cy="3383280"/>
            <a:chOff x="0" y="0"/>
            <a:chExt cx="10972800" cy="451104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972800" cy="4511040"/>
            </a:xfrm>
            <a:custGeom>
              <a:avLst/>
              <a:gdLst/>
              <a:ahLst/>
              <a:cxnLst/>
              <a:rect l="l" t="t" r="r" b="b"/>
              <a:pathLst>
                <a:path w="10972800" h="45110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46520358" name="Group 16"/>
          <p:cNvGrpSpPr/>
          <p:nvPr/>
        </p:nvGrpSpPr>
        <p:grpSpPr bwMode="auto">
          <a:xfrm rot="0">
            <a:off x="731520" y="3017519"/>
            <a:ext cx="128016" cy="3383280"/>
            <a:chOff x="0" y="0"/>
            <a:chExt cx="170688" cy="451104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443186419" name="Group 18"/>
          <p:cNvGrpSpPr/>
          <p:nvPr/>
        </p:nvGrpSpPr>
        <p:grpSpPr bwMode="auto">
          <a:xfrm rot="0">
            <a:off x="1042416" y="3200400"/>
            <a:ext cx="7735823" cy="731520"/>
            <a:chOff x="0" y="0"/>
            <a:chExt cx="1031443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550940118" name="Group 20"/>
          <p:cNvGrpSpPr/>
          <p:nvPr/>
        </p:nvGrpSpPr>
        <p:grpSpPr bwMode="auto">
          <a:xfrm rot="0">
            <a:off x="1042416" y="3143250"/>
            <a:ext cx="7735823" cy="788670"/>
            <a:chOff x="0" y="0"/>
            <a:chExt cx="1031443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🖥️  UI Thread</a:t>
              </a:r>
              <a:endParaRPr/>
            </a:p>
          </p:txBody>
        </p:sp>
      </p:grpSp>
      <p:sp>
        <p:nvSpPr>
          <p:cNvPr id="879140339" name="TextBox 23"/>
          <p:cNvSpPr txBox="1"/>
          <p:nvPr/>
        </p:nvSpPr>
        <p:spPr bwMode="auto">
          <a:xfrm rot="0">
            <a:off x="1133856" y="3916680"/>
            <a:ext cx="7552944" cy="225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Handles user interface: buttons, clicks, display updates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Remains responsive and smooth at all times</a:t>
            </a:r>
            <a:endParaRPr/>
          </a:p>
        </p:txBody>
      </p:sp>
      <p:grpSp>
        <p:nvGrpSpPr>
          <p:cNvPr id="1991407595" name="Group 24"/>
          <p:cNvGrpSpPr/>
          <p:nvPr/>
        </p:nvGrpSpPr>
        <p:grpSpPr bwMode="auto">
          <a:xfrm rot="0">
            <a:off x="9326880" y="3017519"/>
            <a:ext cx="8229600" cy="3383280"/>
            <a:chOff x="0" y="0"/>
            <a:chExt cx="10972800" cy="451104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972800" cy="4511040"/>
            </a:xfrm>
            <a:custGeom>
              <a:avLst/>
              <a:gdLst/>
              <a:ahLst/>
              <a:cxnLst/>
              <a:rect l="l" t="t" r="r" b="b"/>
              <a:pathLst>
                <a:path w="10972800" h="45110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14361183" name="Group 26"/>
          <p:cNvGrpSpPr/>
          <p:nvPr/>
        </p:nvGrpSpPr>
        <p:grpSpPr bwMode="auto">
          <a:xfrm rot="0">
            <a:off x="9326880" y="3017519"/>
            <a:ext cx="128016" cy="3383280"/>
            <a:chOff x="0" y="0"/>
            <a:chExt cx="170688" cy="451104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689305409" name="Group 28"/>
          <p:cNvGrpSpPr/>
          <p:nvPr/>
        </p:nvGrpSpPr>
        <p:grpSpPr bwMode="auto">
          <a:xfrm rot="0">
            <a:off x="9637776" y="3200400"/>
            <a:ext cx="7735823" cy="731520"/>
            <a:chOff x="0" y="0"/>
            <a:chExt cx="1031443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971873772" name="Group 30"/>
          <p:cNvGrpSpPr/>
          <p:nvPr/>
        </p:nvGrpSpPr>
        <p:grpSpPr bwMode="auto">
          <a:xfrm rot="0">
            <a:off x="9637776" y="3143250"/>
            <a:ext cx="7735823" cy="788670"/>
            <a:chOff x="0" y="0"/>
            <a:chExt cx="1031443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⚙️  Background Thread</a:t>
              </a:r>
              <a:endParaRPr/>
            </a:p>
          </p:txBody>
        </p:sp>
      </p:grpSp>
      <p:sp>
        <p:nvSpPr>
          <p:cNvPr id="1845582102" name="TextBox 33"/>
          <p:cNvSpPr txBox="1"/>
          <p:nvPr/>
        </p:nvSpPr>
        <p:spPr bwMode="auto">
          <a:xfrm rot="0">
            <a:off x="9729215" y="3916680"/>
            <a:ext cx="7552944" cy="225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Performs file loading, network requests, heavy computation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Runs independently without blocking the UI</a:t>
            </a:r>
            <a:endParaRPr/>
          </a:p>
        </p:txBody>
      </p:sp>
      <p:sp>
        <p:nvSpPr>
          <p:cNvPr id="158257483" name="Freeform 34"/>
          <p:cNvSpPr/>
          <p:nvPr/>
        </p:nvSpPr>
        <p:spPr bwMode="auto">
          <a:xfrm rot="0" flipH="0" flipV="0">
            <a:off x="716280" y="6659880"/>
            <a:ext cx="16855440" cy="1676400"/>
          </a:xfrm>
          <a:custGeom>
            <a:avLst/>
            <a:gdLst/>
            <a:ahLst/>
            <a:cxnLst/>
            <a:rect l="l" t="t" r="r" b="b"/>
            <a:pathLst>
              <a:path w="16855440" h="1676400" fill="norm" stroke="1" extrusionOk="0">
                <a:moveTo>
                  <a:pt x="0" y="0"/>
                </a:moveTo>
                <a:lnTo>
                  <a:pt x="16855440" y="0"/>
                </a:lnTo>
                <a:lnTo>
                  <a:pt x="1685544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1618302034" name="Group 35"/>
          <p:cNvGrpSpPr/>
          <p:nvPr/>
        </p:nvGrpSpPr>
        <p:grpSpPr bwMode="auto">
          <a:xfrm rot="0">
            <a:off x="1097280" y="6803136"/>
            <a:ext cx="16093440" cy="1389888"/>
            <a:chOff x="0" y="0"/>
            <a:chExt cx="21457920" cy="1853184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21457920" cy="1853184"/>
            </a:xfrm>
            <a:custGeom>
              <a:avLst/>
              <a:gdLst/>
              <a:ahLst/>
              <a:cxnLst/>
              <a:rect l="l" t="t" r="r" b="b"/>
              <a:pathLst>
                <a:path w="21457920" h="1853184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853184"/>
                  </a:lnTo>
                  <a:lnTo>
                    <a:pt x="0" y="18531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75459" r="0" b="-175459"/>
              </a:stretch>
            </a:blipFill>
          </p:spPr>
        </p:sp>
      </p:grpSp>
      <p:grpSp>
        <p:nvGrpSpPr>
          <p:cNvPr id="2089327074" name="Group 37"/>
          <p:cNvGrpSpPr/>
          <p:nvPr/>
        </p:nvGrpSpPr>
        <p:grpSpPr bwMode="auto">
          <a:xfrm rot="0">
            <a:off x="1097280" y="6745986"/>
            <a:ext cx="16093440" cy="1447038"/>
            <a:chOff x="0" y="0"/>
            <a:chExt cx="21457920" cy="1929384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21457920" cy="1929384"/>
            </a:xfrm>
            <a:custGeom>
              <a:avLst/>
              <a:gdLst/>
              <a:ahLst/>
              <a:cxnLst/>
              <a:rect l="l" t="t" r="r" b="b"/>
              <a:pathLst>
                <a:path w="21457920" h="1929384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929384"/>
                  </a:lnTo>
                  <a:lnTo>
                    <a:pt x="0" y="19293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66705" r="0" b="-166705"/>
              </a:stretch>
            </a:blipFill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76200"/>
              <a:ext cx="21457920" cy="200558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❌  Without multithreading: The application FREEZES during any long-running operation.</a:t>
              </a:r>
              <a:endParaRPr/>
            </a:p>
          </p:txBody>
        </p:sp>
      </p:grpSp>
      <p:sp>
        <p:nvSpPr>
          <p:cNvPr id="913995507" name="Freeform 40"/>
          <p:cNvSpPr/>
          <p:nvPr/>
        </p:nvSpPr>
        <p:spPr bwMode="auto">
          <a:xfrm rot="0" flipH="0" flipV="0">
            <a:off x="716280" y="8488680"/>
            <a:ext cx="16855440" cy="1402080"/>
          </a:xfrm>
          <a:custGeom>
            <a:avLst/>
            <a:gdLst/>
            <a:ahLst/>
            <a:cxnLst/>
            <a:rect l="l" t="t" r="r" b="b"/>
            <a:pathLst>
              <a:path w="16855440" h="1402080" fill="norm" stroke="1" extrusionOk="0">
                <a:moveTo>
                  <a:pt x="0" y="0"/>
                </a:moveTo>
                <a:lnTo>
                  <a:pt x="16855440" y="0"/>
                </a:lnTo>
                <a:lnTo>
                  <a:pt x="16855440" y="1402080"/>
                </a:lnTo>
                <a:lnTo>
                  <a:pt x="0" y="1402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grpSp>
        <p:nvGrpSpPr>
          <p:cNvPr id="1743678204" name="Group 41"/>
          <p:cNvGrpSpPr/>
          <p:nvPr/>
        </p:nvGrpSpPr>
        <p:grpSpPr bwMode="auto">
          <a:xfrm rot="0">
            <a:off x="1097280" y="8631936"/>
            <a:ext cx="16093440" cy="1097280"/>
            <a:chOff x="0" y="0"/>
            <a:chExt cx="21457920" cy="1463040"/>
          </a:xfrm>
        </p:grpSpPr>
        <p:sp>
          <p:nvSpPr>
            <p:cNvPr id="42" name="Freeform 42"/>
            <p:cNvSpPr/>
            <p:nvPr/>
          </p:nvSpPr>
          <p:spPr bwMode="auto">
            <a:xfrm rot="0" flipH="0" flipV="0">
              <a:off x="0" y="0"/>
              <a:ext cx="21457920" cy="1463040"/>
            </a:xfrm>
            <a:custGeom>
              <a:avLst/>
              <a:gdLst/>
              <a:ahLst/>
              <a:cxnLst/>
              <a:rect l="l" t="t" r="r" b="b"/>
              <a:pathLst>
                <a:path w="21457920" h="146304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35581" r="0" b="-235582"/>
              </a:stretch>
            </a:blipFill>
          </p:spPr>
        </p:sp>
      </p:grpSp>
      <p:grpSp>
        <p:nvGrpSpPr>
          <p:cNvPr id="1135424461" name="Group 43"/>
          <p:cNvGrpSpPr/>
          <p:nvPr/>
        </p:nvGrpSpPr>
        <p:grpSpPr bwMode="auto">
          <a:xfrm rot="0">
            <a:off x="1097280" y="8574786"/>
            <a:ext cx="16093440" cy="1154430"/>
            <a:chOff x="0" y="0"/>
            <a:chExt cx="21457920" cy="1539240"/>
          </a:xfrm>
        </p:grpSpPr>
        <p:sp>
          <p:nvSpPr>
            <p:cNvPr id="44" name="Freeform 44"/>
            <p:cNvSpPr/>
            <p:nvPr/>
          </p:nvSpPr>
          <p:spPr bwMode="auto">
            <a:xfrm rot="0" flipH="0" flipV="0">
              <a:off x="0" y="0"/>
              <a:ext cx="21457920" cy="1539240"/>
            </a:xfrm>
            <a:custGeom>
              <a:avLst/>
              <a:gdLst/>
              <a:ahLst/>
              <a:cxnLst/>
              <a:rect l="l" t="t" r="r" b="b"/>
              <a:pathLst>
                <a:path w="21457920" h="1539240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539240"/>
                  </a:lnTo>
                  <a:lnTo>
                    <a:pt x="0" y="15392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21633" r="0" b="-221632"/>
              </a:stretch>
            </a:blipFill>
          </p:spPr>
        </p:sp>
        <p:sp>
          <p:nvSpPr>
            <p:cNvPr id="45" name="TextBox 45"/>
            <p:cNvSpPr txBox="1"/>
            <p:nvPr/>
          </p:nvSpPr>
          <p:spPr bwMode="auto">
            <a:xfrm>
              <a:off x="0" y="-76200"/>
              <a:ext cx="21457920" cy="161544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✅  With multithreading: The UI stays fully responsive while background tasks run concurrently.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D2D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83087135" name="Group 2"/>
          <p:cNvGrpSpPr/>
          <p:nvPr/>
        </p:nvGrpSpPr>
        <p:grpSpPr bwMode="auto"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4384000" cy="195072"/>
            </a:xfrm>
            <a:custGeom>
              <a:avLst/>
              <a:gdLst/>
              <a:ahLst/>
              <a:cxnLst/>
              <a:rect l="l" t="t" r="r" b="b"/>
              <a:pathLst>
                <a:path w="24384000" h="195072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609782985" name="Group 4"/>
          <p:cNvGrpSpPr/>
          <p:nvPr/>
        </p:nvGrpSpPr>
        <p:grpSpPr bwMode="auto">
          <a:xfrm rot="0">
            <a:off x="11887200" y="914400"/>
            <a:ext cx="9144000" cy="9144000"/>
            <a:chOff x="0" y="0"/>
            <a:chExt cx="12192000" cy="121920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 fill="norm" stroke="1" extrusionOk="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E8A598">
                <a:alpha val="0"/>
              </a:srgbClr>
            </a:solidFill>
          </p:spPr>
        </p:sp>
      </p:grpSp>
      <p:grpSp>
        <p:nvGrpSpPr>
          <p:cNvPr id="1967665886" name="Group 6"/>
          <p:cNvGrpSpPr/>
          <p:nvPr/>
        </p:nvGrpSpPr>
        <p:grpSpPr bwMode="auto">
          <a:xfrm rot="0">
            <a:off x="1005840" y="2926080"/>
            <a:ext cx="10972800" cy="914400"/>
            <a:chOff x="0" y="0"/>
            <a:chExt cx="14630400" cy="12192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4630400" cy="1219200"/>
            </a:xfrm>
            <a:custGeom>
              <a:avLst/>
              <a:gdLst/>
              <a:ahLst/>
              <a:cxnLst/>
              <a:rect l="l" t="t" r="r" b="b"/>
              <a:pathLst>
                <a:path w="14630400" h="1219200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83658" r="0" b="-183657"/>
              </a:stretch>
            </a:blipFill>
          </p:spPr>
        </p:sp>
      </p:grpSp>
      <p:grpSp>
        <p:nvGrpSpPr>
          <p:cNvPr id="1088044082" name="Group 8"/>
          <p:cNvGrpSpPr/>
          <p:nvPr/>
        </p:nvGrpSpPr>
        <p:grpSpPr bwMode="auto">
          <a:xfrm rot="0">
            <a:off x="1005840" y="2876074"/>
            <a:ext cx="10972800" cy="964406"/>
            <a:chOff x="0" y="0"/>
            <a:chExt cx="14630400" cy="1285875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4630400" cy="1285875"/>
            </a:xfrm>
            <a:custGeom>
              <a:avLst/>
              <a:gdLst/>
              <a:ahLst/>
              <a:cxnLst/>
              <a:rect l="l" t="t" r="r" b="b"/>
              <a:pathLst>
                <a:path w="14630400" h="1285875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85875"/>
                  </a:lnTo>
                  <a:lnTo>
                    <a:pt x="0" y="12858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71696" r="0" b="-171696"/>
              </a:stretch>
            </a:blip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85725"/>
              <a:ext cx="146304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  <a:defRPr/>
              </a:pPr>
              <a:r>
                <a:rPr lang="en-US" sz="2800" spc="799">
                  <a:solidFill>
                    <a:srgbClr val="E8A598"/>
                  </a:solidFill>
                  <a:latin typeface="Cooper Hewitt"/>
                  <a:ea typeface="Cooper Hewitt"/>
                  <a:cs typeface="Cooper Hewitt"/>
                </a:rPr>
                <a:t>PART 4</a:t>
              </a:r>
              <a:endParaRPr/>
            </a:p>
          </p:txBody>
        </p:sp>
      </p:grpSp>
      <p:grpSp>
        <p:nvGrpSpPr>
          <p:cNvPr id="733553821" name="Group 11"/>
          <p:cNvGrpSpPr/>
          <p:nvPr/>
        </p:nvGrpSpPr>
        <p:grpSpPr bwMode="auto">
          <a:xfrm rot="0">
            <a:off x="1005840" y="3840480"/>
            <a:ext cx="13716000" cy="4023360"/>
            <a:chOff x="0" y="0"/>
            <a:chExt cx="18288000" cy="5364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288000" cy="5364480"/>
            </a:xfrm>
            <a:custGeom>
              <a:avLst/>
              <a:gdLst/>
              <a:ahLst/>
              <a:cxnLst/>
              <a:rect l="l" t="t" r="r" b="b"/>
              <a:pathLst>
                <a:path w="18288000" h="5364480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0"/>
                  </a:lnTo>
                  <a:lnTo>
                    <a:pt x="0" y="53644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379" r="0" b="-16379"/>
              </a:stretch>
            </a:blipFill>
          </p:spPr>
        </p:sp>
      </p:grpSp>
      <p:grpSp>
        <p:nvGrpSpPr>
          <p:cNvPr id="1144888644" name="Group 13"/>
          <p:cNvGrpSpPr/>
          <p:nvPr/>
        </p:nvGrpSpPr>
        <p:grpSpPr bwMode="auto">
          <a:xfrm rot="0">
            <a:off x="1005840" y="3661886"/>
            <a:ext cx="13716000" cy="4201954"/>
            <a:chOff x="0" y="0"/>
            <a:chExt cx="18288000" cy="5602605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8288000" cy="5602605"/>
            </a:xfrm>
            <a:custGeom>
              <a:avLst/>
              <a:gdLst/>
              <a:ahLst/>
              <a:cxnLst/>
              <a:rect l="l" t="t" r="r" b="b"/>
              <a:pathLst>
                <a:path w="18288000" h="5602605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602605"/>
                  </a:lnTo>
                  <a:lnTo>
                    <a:pt x="0" y="56026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602" r="0" b="-13602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38125"/>
              <a:ext cx="18288000" cy="58407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Synchronization</a:t>
              </a:r>
              <a:endParaRPr/>
            </a:p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Mutex, Deadlock &amp; Starvation &amp;Race Condition</a:t>
              </a:r>
              <a:endParaRPr/>
            </a:p>
          </p:txBody>
        </p:sp>
      </p:grpSp>
      <p:grpSp>
        <p:nvGrpSpPr>
          <p:cNvPr id="2112217774" name="Group 16"/>
          <p:cNvGrpSpPr/>
          <p:nvPr/>
        </p:nvGrpSpPr>
        <p:grpSpPr bwMode="auto">
          <a:xfrm rot="0">
            <a:off x="1005840" y="8961120"/>
            <a:ext cx="329184" cy="329184"/>
            <a:chOff x="0" y="0"/>
            <a:chExt cx="438912" cy="438912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213853077" name="Group 18"/>
          <p:cNvGrpSpPr/>
          <p:nvPr/>
        </p:nvGrpSpPr>
        <p:grpSpPr bwMode="auto">
          <a:xfrm rot="0">
            <a:off x="1645920" y="8961120"/>
            <a:ext cx="329184" cy="329184"/>
            <a:chOff x="0" y="0"/>
            <a:chExt cx="438912" cy="43891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  <p:grpSp>
        <p:nvGrpSpPr>
          <p:cNvPr id="1431037160" name="Group 20"/>
          <p:cNvGrpSpPr/>
          <p:nvPr/>
        </p:nvGrpSpPr>
        <p:grpSpPr bwMode="auto">
          <a:xfrm rot="0">
            <a:off x="2286000" y="8961120"/>
            <a:ext cx="329184" cy="329184"/>
            <a:chOff x="0" y="0"/>
            <a:chExt cx="438912" cy="438912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0610771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607469940" name="Group 4"/>
          <p:cNvGrpSpPr/>
          <p:nvPr/>
        </p:nvGrpSpPr>
        <p:grpSpPr bwMode="auto">
          <a:xfrm rot="0">
            <a:off x="457200" y="450628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4.1 — Race Condition</a:t>
              </a:r>
              <a:endParaRPr/>
            </a:p>
          </p:txBody>
        </p:sp>
      </p:grpSp>
      <p:grpSp>
        <p:nvGrpSpPr>
          <p:cNvPr id="1796329238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218064948" name="Group 9"/>
          <p:cNvGrpSpPr/>
          <p:nvPr/>
        </p:nvGrpSpPr>
        <p:grpSpPr bwMode="auto">
          <a:xfrm rot="0">
            <a:off x="914400" y="2011680"/>
            <a:ext cx="16459200" cy="914400"/>
            <a:chOff x="0" y="0"/>
            <a:chExt cx="21945600" cy="12192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00486" r="0" b="-300487"/>
              </a:stretch>
            </a:blipFill>
          </p:spPr>
        </p:sp>
      </p:grpSp>
      <p:grpSp>
        <p:nvGrpSpPr>
          <p:cNvPr id="1952630766" name="Group 11"/>
          <p:cNvGrpSpPr/>
          <p:nvPr/>
        </p:nvGrpSpPr>
        <p:grpSpPr bwMode="auto">
          <a:xfrm rot="0">
            <a:off x="914400" y="1954530"/>
            <a:ext cx="16459200" cy="971550"/>
            <a:chOff x="0" y="0"/>
            <a:chExt cx="21945600" cy="129540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295400"/>
            </a:xfrm>
            <a:custGeom>
              <a:avLst/>
              <a:gdLst/>
              <a:ahLst/>
              <a:cxnLst/>
              <a:rect l="l" t="t" r="r" b="b"/>
              <a:pathLst>
                <a:path w="21945600" h="12954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0099" r="0" b="-280099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A race condition occurs when multiple threads access and modify shared data simultaneously without proper synchronization.</a:t>
              </a:r>
              <a:endParaRPr/>
            </a:p>
          </p:txBody>
        </p:sp>
      </p:grpSp>
      <p:grpSp>
        <p:nvGrpSpPr>
          <p:cNvPr id="80314687" name="Group 14"/>
          <p:cNvGrpSpPr/>
          <p:nvPr/>
        </p:nvGrpSpPr>
        <p:grpSpPr bwMode="auto">
          <a:xfrm rot="0">
            <a:off x="731520" y="3108960"/>
            <a:ext cx="8229600" cy="6492240"/>
            <a:chOff x="0" y="0"/>
            <a:chExt cx="10972800" cy="865632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972800" cy="8656320"/>
            </a:xfrm>
            <a:custGeom>
              <a:avLst/>
              <a:gdLst/>
              <a:ahLst/>
              <a:cxnLst/>
              <a:rect l="l" t="t" r="r" b="b"/>
              <a:pathLst>
                <a:path w="10972800" h="865632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743902" name="Group 16"/>
          <p:cNvGrpSpPr/>
          <p:nvPr/>
        </p:nvGrpSpPr>
        <p:grpSpPr bwMode="auto">
          <a:xfrm rot="0">
            <a:off x="731520" y="3108960"/>
            <a:ext cx="128016" cy="6492240"/>
            <a:chOff x="0" y="0"/>
            <a:chExt cx="170688" cy="865632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8656320"/>
            </a:xfrm>
            <a:custGeom>
              <a:avLst/>
              <a:gdLst/>
              <a:ahLst/>
              <a:cxnLst/>
              <a:rect l="l" t="t" r="r" b="b"/>
              <a:pathLst>
                <a:path w="170688" h="865632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712041778" name="Group 18"/>
          <p:cNvGrpSpPr/>
          <p:nvPr/>
        </p:nvGrpSpPr>
        <p:grpSpPr bwMode="auto">
          <a:xfrm rot="0">
            <a:off x="1042416" y="3291840"/>
            <a:ext cx="7735823" cy="731520"/>
            <a:chOff x="0" y="0"/>
            <a:chExt cx="1031443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205123824" name="Group 20"/>
          <p:cNvGrpSpPr/>
          <p:nvPr/>
        </p:nvGrpSpPr>
        <p:grpSpPr bwMode="auto">
          <a:xfrm rot="0">
            <a:off x="1042416" y="3234690"/>
            <a:ext cx="7735823" cy="788670"/>
            <a:chOff x="0" y="0"/>
            <a:chExt cx="1031443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Why It Happens</a:t>
              </a:r>
              <a:endParaRPr/>
            </a:p>
          </p:txBody>
        </p:sp>
      </p:grpSp>
      <p:sp>
        <p:nvSpPr>
          <p:cNvPr id="1512769439" name="TextBox 23"/>
          <p:cNvSpPr txBox="1"/>
          <p:nvPr/>
        </p:nvSpPr>
        <p:spPr bwMode="auto">
          <a:xfrm rot="0">
            <a:off x="1133856" y="4008120"/>
            <a:ext cx="7552944" cy="536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count = count + 1 is NOT atomic — it is 3 CPU steps: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  1. READ: Retrieve current value of count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  2. INCREMENT: Add 1 to the value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  3. STORE: Save the new value back to memory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If two threads interleave between these steps → data is corrupted</a:t>
            </a:r>
            <a:endParaRPr/>
          </a:p>
        </p:txBody>
      </p:sp>
      <p:grpSp>
        <p:nvGrpSpPr>
          <p:cNvPr id="1214164393" name="Group 24"/>
          <p:cNvGrpSpPr/>
          <p:nvPr/>
        </p:nvGrpSpPr>
        <p:grpSpPr bwMode="auto">
          <a:xfrm rot="0">
            <a:off x="9326880" y="3108960"/>
            <a:ext cx="8229600" cy="6492240"/>
            <a:chOff x="0" y="0"/>
            <a:chExt cx="10972800" cy="865632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972800" cy="8656320"/>
            </a:xfrm>
            <a:custGeom>
              <a:avLst/>
              <a:gdLst/>
              <a:ahLst/>
              <a:cxnLst/>
              <a:rect l="l" t="t" r="r" b="b"/>
              <a:pathLst>
                <a:path w="10972800" h="865632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09871484" name="Group 26"/>
          <p:cNvGrpSpPr/>
          <p:nvPr/>
        </p:nvGrpSpPr>
        <p:grpSpPr bwMode="auto">
          <a:xfrm rot="0">
            <a:off x="9326880" y="3108960"/>
            <a:ext cx="128016" cy="6492240"/>
            <a:chOff x="0" y="0"/>
            <a:chExt cx="170688" cy="865632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8656320"/>
            </a:xfrm>
            <a:custGeom>
              <a:avLst/>
              <a:gdLst/>
              <a:ahLst/>
              <a:cxnLst/>
              <a:rect l="l" t="t" r="r" b="b"/>
              <a:pathLst>
                <a:path w="170688" h="865632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87609617" name="Group 28"/>
          <p:cNvGrpSpPr/>
          <p:nvPr/>
        </p:nvGrpSpPr>
        <p:grpSpPr bwMode="auto">
          <a:xfrm rot="0">
            <a:off x="9637776" y="3291840"/>
            <a:ext cx="7735823" cy="731520"/>
            <a:chOff x="0" y="0"/>
            <a:chExt cx="1031443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2072247762" name="Group 30"/>
          <p:cNvGrpSpPr/>
          <p:nvPr/>
        </p:nvGrpSpPr>
        <p:grpSpPr bwMode="auto">
          <a:xfrm rot="0">
            <a:off x="9637776" y="3234690"/>
            <a:ext cx="7735823" cy="788670"/>
            <a:chOff x="0" y="0"/>
            <a:chExt cx="1031443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Example: count starts at 5</a:t>
              </a:r>
              <a:endParaRPr/>
            </a:p>
          </p:txBody>
        </p:sp>
      </p:grpSp>
      <p:sp>
        <p:nvSpPr>
          <p:cNvPr id="1485705266" name="TextBox 33"/>
          <p:cNvSpPr txBox="1"/>
          <p:nvPr/>
        </p:nvSpPr>
        <p:spPr bwMode="auto">
          <a:xfrm rot="0">
            <a:off x="9729215" y="4008120"/>
            <a:ext cx="7552944" cy="536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A reads count = 5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B reads count = 5  (before A stores!)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A computes 5+1=6, stores 6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B computes 5+1=6, stores 6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Final result: 6   ❌   Expected: 7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Root cause: CPU interleaves threads at unpredictable points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485888" name="TextBox 2"/>
          <p:cNvSpPr txBox="1"/>
          <p:nvPr/>
        </p:nvSpPr>
        <p:spPr bwMode="auto">
          <a:xfrm rot="0">
            <a:off x="507015" y="590975"/>
            <a:ext cx="17523542" cy="902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 rtl="1">
              <a:lnSpc>
                <a:spcPts val="3405"/>
              </a:lnSpc>
              <a:spcBef>
                <a:spcPts val="0"/>
              </a:spcBef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## 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Step-by-Step Execution (The Problem)</a:t>
            </a:r>
            <a:endParaRPr/>
          </a:p>
          <a:p>
            <a:pPr marL="0" lvl="0" indent="0" algn="l" rtl="1">
              <a:lnSpc>
                <a:spcPts val="3405"/>
              </a:lnSpc>
              <a:spcBef>
                <a:spcPts val="0"/>
              </a:spcBef>
              <a:defRPr/>
            </a:pPr>
            <a:endParaRPr lang="en-US" sz="2850" b="1">
              <a:solidFill>
                <a:srgbClr val="000000"/>
              </a:solidFill>
              <a:latin typeface="Cooper Hewitt Bold"/>
              <a:ea typeface="Cooper Hewitt Bold"/>
              <a:cs typeface="Cooper Hewitt Bold"/>
            </a:endParaRPr>
          </a:p>
          <a:p>
            <a:pPr marL="0" lvl="0" indent="0" algn="l" rtl="1">
              <a:lnSpc>
                <a:spcPts val="3405"/>
              </a:lnSpc>
              <a:spcBef>
                <a:spcPts val="0"/>
              </a:spcBef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Consider the following scenario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</a:t>
            </a:r>
            <a:endParaRPr/>
          </a:p>
          <a:p>
            <a:pPr marL="0" lvl="0" indent="0" algn="l" rtl="1">
              <a:lnSpc>
                <a:spcPts val="3405"/>
              </a:lnSpc>
              <a:spcBef>
                <a:spcPts val="0"/>
              </a:spcBef>
              <a:defRPr/>
            </a:pPr>
            <a:endParaRPr lang="ar-EG" sz="2850" b="1">
              <a:solidFill>
                <a:srgbClr val="000000"/>
              </a:solidFill>
              <a:latin typeface="Cooper Hewitt Bold"/>
              <a:ea typeface="Cooper Hewitt Bold"/>
              <a:cs typeface="Cooper Hewitt Bold"/>
            </a:endParaRPr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**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count = 0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**</a:t>
            </a:r>
            <a:endParaRPr/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**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Thread A begins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:**</a:t>
            </a:r>
            <a:endParaRPr/>
          </a:p>
          <a:p>
            <a:pPr marL="1225575" lvl="2" indent="-408525" algn="l" rtl="1">
              <a:lnSpc>
                <a:spcPts val="3405"/>
              </a:lnSpc>
              <a:spcBef>
                <a:spcPts val="0"/>
              </a:spcBef>
              <a:buFont typeface="Arial"/>
              <a:buChar char="⚬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Reads count → 0</a:t>
            </a:r>
            <a:endParaRPr/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**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Thread B starts before A completes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:**</a:t>
            </a:r>
            <a:endParaRPr/>
          </a:p>
          <a:p>
            <a:pPr marL="1225575" lvl="2" indent="-408525" algn="l" rtl="1">
              <a:lnSpc>
                <a:spcPts val="3405"/>
              </a:lnSpc>
              <a:spcBef>
                <a:spcPts val="0"/>
              </a:spcBef>
              <a:buFont typeface="Arial"/>
              <a:buChar char="⚬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Reads count → 0</a:t>
            </a:r>
            <a:endParaRPr/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**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Thread A proceeds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:**</a:t>
            </a:r>
            <a:endParaRPr/>
          </a:p>
          <a:p>
            <a:pPr marL="1225575" lvl="2" indent="-408525" algn="l" rtl="1">
              <a:lnSpc>
                <a:spcPts val="3405"/>
              </a:lnSpc>
              <a:spcBef>
                <a:spcPts val="0"/>
              </a:spcBef>
              <a:buFont typeface="Arial"/>
              <a:buChar char="⚬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Increments → 1</a:t>
            </a:r>
            <a:endParaRPr/>
          </a:p>
          <a:p>
            <a:pPr marL="1225575" lvl="2" indent="-408525" algn="l" rtl="1">
              <a:lnSpc>
                <a:spcPts val="3405"/>
              </a:lnSpc>
              <a:spcBef>
                <a:spcPts val="0"/>
              </a:spcBef>
              <a:buFont typeface="Arial"/>
              <a:buChar char="⚬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Writes count = 1</a:t>
            </a:r>
            <a:endParaRPr/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**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Thread B continues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:**</a:t>
            </a:r>
            <a:endParaRPr/>
          </a:p>
          <a:p>
            <a:pPr marL="1225575" lvl="2" indent="-408525" algn="l" rtl="1">
              <a:lnSpc>
                <a:spcPts val="3405"/>
              </a:lnSpc>
              <a:spcBef>
                <a:spcPts val="0"/>
              </a:spcBef>
              <a:buFont typeface="Arial"/>
              <a:buChar char="⚬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Increments → 1 (using the previous value of 0)</a:t>
            </a:r>
            <a:endParaRPr/>
          </a:p>
          <a:p>
            <a:pPr marL="1225575" lvl="2" indent="-408525" algn="l" rtl="1">
              <a:lnSpc>
                <a:spcPts val="3405"/>
              </a:lnSpc>
              <a:spcBef>
                <a:spcPts val="0"/>
              </a:spcBef>
              <a:buFont typeface="Arial"/>
              <a:buChar char="⚬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Writes count = 1</a:t>
            </a:r>
            <a:endParaRPr/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*</a:t>
            </a: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Final Result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:**</a:t>
            </a:r>
            <a:endParaRPr/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count = 1</a:t>
            </a:r>
            <a:endParaRPr/>
          </a:p>
          <a:p>
            <a:pPr marL="0" lvl="0" indent="0" algn="l" rtl="1">
              <a:lnSpc>
                <a:spcPts val="3405"/>
              </a:lnSpc>
              <a:spcBef>
                <a:spcPts val="0"/>
              </a:spcBef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However, it should have been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:</a:t>
            </a:r>
            <a:endParaRPr/>
          </a:p>
          <a:p>
            <a:pPr marL="0" lvl="0" indent="0" algn="l" rtl="1">
              <a:lnSpc>
                <a:spcPts val="3405"/>
              </a:lnSpc>
              <a:spcBef>
                <a:spcPts val="0"/>
              </a:spcBef>
              <a:defRPr/>
            </a:pPr>
            <a:endParaRPr lang="ar-EG" sz="2850" b="1">
              <a:solidFill>
                <a:srgbClr val="000000"/>
              </a:solidFill>
              <a:latin typeface="Cooper Hewitt Bold"/>
              <a:ea typeface="Cooper Hewitt Bold"/>
              <a:cs typeface="Cooper Hewitt Bold"/>
            </a:endParaRPr>
          </a:p>
          <a:p>
            <a:pPr marL="612787" lvl="1" indent="-306394" algn="l" rtl="1">
              <a:lnSpc>
                <a:spcPts val="3405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count = 2</a:t>
            </a:r>
            <a:endParaRPr/>
          </a:p>
          <a:p>
            <a:pPr algn="l" rtl="1">
              <a:lnSpc>
                <a:spcPts val="3405"/>
              </a:lnSpc>
              <a:spcBef>
                <a:spcPts val="0"/>
              </a:spcBef>
              <a:defRPr/>
            </a:pPr>
            <a:r>
              <a:rPr lang="en-US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This situation is referred to as a *Race Condition*, as both threads "raced" for the same data</a:t>
            </a:r>
            <a:r>
              <a:rPr lang="ar-EG" sz="285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573168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473703884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4.2 — Mutex (Mutual Exclusion Lock)</a:t>
              </a:r>
              <a:endParaRPr/>
            </a:p>
          </p:txBody>
        </p:sp>
      </p:grpSp>
      <p:grpSp>
        <p:nvGrpSpPr>
          <p:cNvPr id="1499081801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352564926" name="Group 9"/>
          <p:cNvGrpSpPr/>
          <p:nvPr/>
        </p:nvGrpSpPr>
        <p:grpSpPr bwMode="auto">
          <a:xfrm rot="0">
            <a:off x="914400" y="2011680"/>
            <a:ext cx="16459200" cy="914400"/>
            <a:chOff x="0" y="0"/>
            <a:chExt cx="21945600" cy="12192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00486" r="0" b="-300487"/>
              </a:stretch>
            </a:blipFill>
          </p:spPr>
        </p:sp>
      </p:grpSp>
      <p:grpSp>
        <p:nvGrpSpPr>
          <p:cNvPr id="1242661560" name="Group 11"/>
          <p:cNvGrpSpPr/>
          <p:nvPr/>
        </p:nvGrpSpPr>
        <p:grpSpPr bwMode="auto">
          <a:xfrm rot="0">
            <a:off x="914400" y="1954530"/>
            <a:ext cx="16459200" cy="971550"/>
            <a:chOff x="0" y="0"/>
            <a:chExt cx="21945600" cy="129540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295400"/>
            </a:xfrm>
            <a:custGeom>
              <a:avLst/>
              <a:gdLst/>
              <a:ahLst/>
              <a:cxnLst/>
              <a:rect l="l" t="t" r="r" b="b"/>
              <a:pathLst>
                <a:path w="21945600" h="12954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0099" r="0" b="-280099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To prevent race conditions, we use a Mutex. A mutex ensures only ONE thread can access a shared resource at any given time.</a:t>
              </a:r>
              <a:endParaRPr/>
            </a:p>
          </p:txBody>
        </p:sp>
      </p:grpSp>
      <p:grpSp>
        <p:nvGrpSpPr>
          <p:cNvPr id="1256455078" name="Group 14"/>
          <p:cNvGrpSpPr/>
          <p:nvPr/>
        </p:nvGrpSpPr>
        <p:grpSpPr bwMode="auto">
          <a:xfrm rot="0">
            <a:off x="731520" y="3200400"/>
            <a:ext cx="8046720" cy="2889504"/>
            <a:chOff x="0" y="0"/>
            <a:chExt cx="10728960" cy="3852672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728960" cy="3852672"/>
            </a:xfrm>
            <a:custGeom>
              <a:avLst/>
              <a:gdLst/>
              <a:ahLst/>
              <a:cxnLst/>
              <a:rect l="l" t="t" r="r" b="b"/>
              <a:pathLst>
                <a:path w="10728960" h="3852672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1315871" name="Group 16"/>
          <p:cNvGrpSpPr/>
          <p:nvPr/>
        </p:nvGrpSpPr>
        <p:grpSpPr bwMode="auto">
          <a:xfrm rot="0">
            <a:off x="950976" y="3419856"/>
            <a:ext cx="1005840" cy="1005840"/>
            <a:chOff x="0" y="0"/>
            <a:chExt cx="1341120" cy="134112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349538329" name="Group 18"/>
          <p:cNvGrpSpPr/>
          <p:nvPr/>
        </p:nvGrpSpPr>
        <p:grpSpPr bwMode="auto">
          <a:xfrm rot="0">
            <a:off x="950976" y="3456432"/>
            <a:ext cx="1005840" cy="932688"/>
            <a:chOff x="0" y="0"/>
            <a:chExt cx="1341120" cy="1243584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878712116" name="Group 20"/>
          <p:cNvGrpSpPr/>
          <p:nvPr/>
        </p:nvGrpSpPr>
        <p:grpSpPr bwMode="auto">
          <a:xfrm rot="0">
            <a:off x="950976" y="3392138"/>
            <a:ext cx="1005840" cy="996982"/>
            <a:chOff x="0" y="0"/>
            <a:chExt cx="1341120" cy="1329309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1</a:t>
              </a:r>
              <a:endParaRPr/>
            </a:p>
          </p:txBody>
        </p:sp>
      </p:grpSp>
      <p:grpSp>
        <p:nvGrpSpPr>
          <p:cNvPr id="550949119" name="Group 23"/>
          <p:cNvGrpSpPr/>
          <p:nvPr/>
        </p:nvGrpSpPr>
        <p:grpSpPr bwMode="auto">
          <a:xfrm rot="0">
            <a:off x="2157984" y="3346704"/>
            <a:ext cx="6400800" cy="768096"/>
            <a:chOff x="0" y="0"/>
            <a:chExt cx="8534400" cy="1024128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1513122554" name="Group 25"/>
          <p:cNvGrpSpPr/>
          <p:nvPr/>
        </p:nvGrpSpPr>
        <p:grpSpPr bwMode="auto">
          <a:xfrm rot="0">
            <a:off x="2157984" y="3296698"/>
            <a:ext cx="6400800" cy="818102"/>
            <a:chOff x="0" y="0"/>
            <a:chExt cx="8534400" cy="1090803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8534400" cy="1090803"/>
            </a:xfrm>
            <a:custGeom>
              <a:avLst/>
              <a:gdLst/>
              <a:ahLst/>
              <a:cxnLst/>
              <a:rect l="l" t="t" r="r" b="b"/>
              <a:pathLst>
                <a:path w="8534400" h="1090803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90803"/>
                  </a:lnTo>
                  <a:lnTo>
                    <a:pt x="0" y="109080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2450" r="0" b="-102449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66675"/>
              <a:ext cx="8534400" cy="115747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Thread A acquires the lock</a:t>
              </a:r>
              <a:endParaRPr/>
            </a:p>
          </p:txBody>
        </p:sp>
      </p:grpSp>
      <p:sp>
        <p:nvSpPr>
          <p:cNvPr id="1337962084" name="TextBox 28"/>
          <p:cNvSpPr txBox="1"/>
          <p:nvPr/>
        </p:nvSpPr>
        <p:spPr bwMode="auto">
          <a:xfrm rot="0">
            <a:off x="2157984" y="4018026"/>
            <a:ext cx="6400800" cy="187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  <a:defRPr/>
            </a:pPr>
            <a:r>
              <a:rPr lang="en-US" sz="23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A reads and increments the shared value. It holds the mutex exclusively.</a:t>
            </a:r>
            <a:endParaRPr/>
          </a:p>
        </p:txBody>
      </p:sp>
      <p:grpSp>
        <p:nvGrpSpPr>
          <p:cNvPr id="1844866733" name="Group 29"/>
          <p:cNvGrpSpPr/>
          <p:nvPr/>
        </p:nvGrpSpPr>
        <p:grpSpPr bwMode="auto">
          <a:xfrm rot="0">
            <a:off x="9326880" y="3200400"/>
            <a:ext cx="8046720" cy="2889504"/>
            <a:chOff x="0" y="0"/>
            <a:chExt cx="10728960" cy="3852672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10728960" cy="3852672"/>
            </a:xfrm>
            <a:custGeom>
              <a:avLst/>
              <a:gdLst/>
              <a:ahLst/>
              <a:cxnLst/>
              <a:rect l="l" t="t" r="r" b="b"/>
              <a:pathLst>
                <a:path w="10728960" h="3852672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46873163" name="Group 31"/>
          <p:cNvGrpSpPr/>
          <p:nvPr/>
        </p:nvGrpSpPr>
        <p:grpSpPr bwMode="auto">
          <a:xfrm rot="0">
            <a:off x="9546336" y="3419856"/>
            <a:ext cx="1005840" cy="1005840"/>
            <a:chOff x="0" y="0"/>
            <a:chExt cx="1341120" cy="134112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322029975" name="Group 33"/>
          <p:cNvGrpSpPr/>
          <p:nvPr/>
        </p:nvGrpSpPr>
        <p:grpSpPr bwMode="auto">
          <a:xfrm rot="0">
            <a:off x="9546336" y="3456432"/>
            <a:ext cx="1005840" cy="932688"/>
            <a:chOff x="0" y="0"/>
            <a:chExt cx="1341120" cy="1243584"/>
          </a:xfrm>
        </p:grpSpPr>
        <p:sp>
          <p:nvSpPr>
            <p:cNvPr id="34" name="Freeform 34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1591114812" name="Group 35"/>
          <p:cNvGrpSpPr/>
          <p:nvPr/>
        </p:nvGrpSpPr>
        <p:grpSpPr bwMode="auto">
          <a:xfrm rot="0">
            <a:off x="9546336" y="3392138"/>
            <a:ext cx="1005840" cy="996982"/>
            <a:chOff x="0" y="0"/>
            <a:chExt cx="1341120" cy="1329309"/>
          </a:xfrm>
        </p:grpSpPr>
        <p:sp>
          <p:nvSpPr>
            <p:cNvPr id="36" name="Freeform 36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37" name="TextBox 37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2</a:t>
              </a:r>
              <a:endParaRPr/>
            </a:p>
          </p:txBody>
        </p:sp>
      </p:grpSp>
      <p:grpSp>
        <p:nvGrpSpPr>
          <p:cNvPr id="283829938" name="Group 38"/>
          <p:cNvGrpSpPr/>
          <p:nvPr/>
        </p:nvGrpSpPr>
        <p:grpSpPr bwMode="auto">
          <a:xfrm rot="0">
            <a:off x="10753344" y="3346704"/>
            <a:ext cx="6400800" cy="768096"/>
            <a:chOff x="0" y="0"/>
            <a:chExt cx="8534400" cy="1024128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738610999" name="Group 40"/>
          <p:cNvGrpSpPr/>
          <p:nvPr/>
        </p:nvGrpSpPr>
        <p:grpSpPr bwMode="auto">
          <a:xfrm rot="0">
            <a:off x="10753344" y="3296698"/>
            <a:ext cx="6400800" cy="818102"/>
            <a:chOff x="0" y="0"/>
            <a:chExt cx="8534400" cy="1090803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8534400" cy="1090803"/>
            </a:xfrm>
            <a:custGeom>
              <a:avLst/>
              <a:gdLst/>
              <a:ahLst/>
              <a:cxnLst/>
              <a:rect l="l" t="t" r="r" b="b"/>
              <a:pathLst>
                <a:path w="8534400" h="1090803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90803"/>
                  </a:lnTo>
                  <a:lnTo>
                    <a:pt x="0" y="109080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2450" r="0" b="-102449"/>
              </a:stretch>
            </a:blipFill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0" y="-66675"/>
              <a:ext cx="8534400" cy="115747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Thread B is blocked</a:t>
              </a:r>
              <a:endParaRPr/>
            </a:p>
          </p:txBody>
        </p:sp>
      </p:grpSp>
      <p:sp>
        <p:nvSpPr>
          <p:cNvPr id="342011625" name="TextBox 43"/>
          <p:cNvSpPr txBox="1"/>
          <p:nvPr/>
        </p:nvSpPr>
        <p:spPr bwMode="auto">
          <a:xfrm rot="0">
            <a:off x="10753344" y="4018026"/>
            <a:ext cx="6400800" cy="187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  <a:defRPr/>
            </a:pPr>
            <a:r>
              <a:rPr lang="en-US" sz="23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B tries to acquire the lock but is forced to wait — it is blocked until A releases.</a:t>
            </a:r>
            <a:endParaRPr/>
          </a:p>
        </p:txBody>
      </p:sp>
      <p:grpSp>
        <p:nvGrpSpPr>
          <p:cNvPr id="1632355728" name="Group 44"/>
          <p:cNvGrpSpPr/>
          <p:nvPr/>
        </p:nvGrpSpPr>
        <p:grpSpPr bwMode="auto">
          <a:xfrm rot="0">
            <a:off x="731520" y="6400800"/>
            <a:ext cx="8046720" cy="2889504"/>
            <a:chOff x="0" y="0"/>
            <a:chExt cx="10728960" cy="3852672"/>
          </a:xfrm>
        </p:grpSpPr>
        <p:sp>
          <p:nvSpPr>
            <p:cNvPr id="45" name="Freeform 45"/>
            <p:cNvSpPr/>
            <p:nvPr/>
          </p:nvSpPr>
          <p:spPr bwMode="auto">
            <a:xfrm rot="0" flipH="0" flipV="0">
              <a:off x="0" y="0"/>
              <a:ext cx="10728960" cy="3852672"/>
            </a:xfrm>
            <a:custGeom>
              <a:avLst/>
              <a:gdLst/>
              <a:ahLst/>
              <a:cxnLst/>
              <a:rect l="l" t="t" r="r" b="b"/>
              <a:pathLst>
                <a:path w="10728960" h="3852672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293796" name="Group 46"/>
          <p:cNvGrpSpPr/>
          <p:nvPr/>
        </p:nvGrpSpPr>
        <p:grpSpPr bwMode="auto">
          <a:xfrm rot="0">
            <a:off x="950976" y="6620255"/>
            <a:ext cx="1005840" cy="1005840"/>
            <a:chOff x="0" y="0"/>
            <a:chExt cx="1341120" cy="1341120"/>
          </a:xfrm>
        </p:grpSpPr>
        <p:sp>
          <p:nvSpPr>
            <p:cNvPr id="47" name="Freeform 47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737411967" name="Group 48"/>
          <p:cNvGrpSpPr/>
          <p:nvPr/>
        </p:nvGrpSpPr>
        <p:grpSpPr bwMode="auto">
          <a:xfrm rot="0">
            <a:off x="950976" y="6656832"/>
            <a:ext cx="1005840" cy="932688"/>
            <a:chOff x="0" y="0"/>
            <a:chExt cx="1341120" cy="1243584"/>
          </a:xfrm>
        </p:grpSpPr>
        <p:sp>
          <p:nvSpPr>
            <p:cNvPr id="49" name="Freeform 49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519855274" name="Group 50"/>
          <p:cNvGrpSpPr/>
          <p:nvPr/>
        </p:nvGrpSpPr>
        <p:grpSpPr bwMode="auto">
          <a:xfrm rot="0">
            <a:off x="950976" y="6592538"/>
            <a:ext cx="1005840" cy="996982"/>
            <a:chOff x="0" y="0"/>
            <a:chExt cx="1341120" cy="1329309"/>
          </a:xfrm>
        </p:grpSpPr>
        <p:sp>
          <p:nvSpPr>
            <p:cNvPr id="51" name="Freeform 51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52" name="TextBox 52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3</a:t>
              </a:r>
              <a:endParaRPr/>
            </a:p>
          </p:txBody>
        </p:sp>
      </p:grpSp>
      <p:grpSp>
        <p:nvGrpSpPr>
          <p:cNvPr id="142098036" name="Group 53"/>
          <p:cNvGrpSpPr/>
          <p:nvPr/>
        </p:nvGrpSpPr>
        <p:grpSpPr bwMode="auto">
          <a:xfrm rot="0">
            <a:off x="2157984" y="6547104"/>
            <a:ext cx="6400800" cy="768096"/>
            <a:chOff x="0" y="0"/>
            <a:chExt cx="8534400" cy="1024128"/>
          </a:xfrm>
        </p:grpSpPr>
        <p:sp>
          <p:nvSpPr>
            <p:cNvPr id="54" name="Freeform 54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501771983" name="Group 55"/>
          <p:cNvGrpSpPr/>
          <p:nvPr/>
        </p:nvGrpSpPr>
        <p:grpSpPr bwMode="auto">
          <a:xfrm rot="0">
            <a:off x="2157984" y="6497098"/>
            <a:ext cx="6400800" cy="818102"/>
            <a:chOff x="0" y="0"/>
            <a:chExt cx="8534400" cy="1090803"/>
          </a:xfrm>
        </p:grpSpPr>
        <p:sp>
          <p:nvSpPr>
            <p:cNvPr id="56" name="Freeform 56"/>
            <p:cNvSpPr/>
            <p:nvPr/>
          </p:nvSpPr>
          <p:spPr bwMode="auto">
            <a:xfrm rot="0" flipH="0" flipV="0">
              <a:off x="0" y="0"/>
              <a:ext cx="8534400" cy="1090803"/>
            </a:xfrm>
            <a:custGeom>
              <a:avLst/>
              <a:gdLst/>
              <a:ahLst/>
              <a:cxnLst/>
              <a:rect l="l" t="t" r="r" b="b"/>
              <a:pathLst>
                <a:path w="8534400" h="1090803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90803"/>
                  </a:lnTo>
                  <a:lnTo>
                    <a:pt x="0" y="109080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2450" r="0" b="-102449"/>
              </a:stretch>
            </a:blipFill>
          </p:spPr>
        </p:sp>
        <p:sp>
          <p:nvSpPr>
            <p:cNvPr id="57" name="TextBox 57"/>
            <p:cNvSpPr txBox="1"/>
            <p:nvPr/>
          </p:nvSpPr>
          <p:spPr bwMode="auto">
            <a:xfrm>
              <a:off x="0" y="-66675"/>
              <a:ext cx="8534400" cy="115747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Thread A releases the lock</a:t>
              </a:r>
              <a:endParaRPr/>
            </a:p>
          </p:txBody>
        </p:sp>
      </p:grpSp>
      <p:sp>
        <p:nvSpPr>
          <p:cNvPr id="883875600" name="TextBox 58"/>
          <p:cNvSpPr txBox="1"/>
          <p:nvPr/>
        </p:nvSpPr>
        <p:spPr bwMode="auto">
          <a:xfrm rot="0">
            <a:off x="2157984" y="7218426"/>
            <a:ext cx="6400800" cy="187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  <a:defRPr/>
            </a:pPr>
            <a:r>
              <a:rPr lang="en-US" sz="23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A completes its work and releases the mutex, signalling the system.</a:t>
            </a:r>
            <a:endParaRPr/>
          </a:p>
        </p:txBody>
      </p:sp>
      <p:grpSp>
        <p:nvGrpSpPr>
          <p:cNvPr id="1069483184" name="Group 59"/>
          <p:cNvGrpSpPr/>
          <p:nvPr/>
        </p:nvGrpSpPr>
        <p:grpSpPr bwMode="auto">
          <a:xfrm rot="0">
            <a:off x="9326880" y="6400800"/>
            <a:ext cx="8046720" cy="2889504"/>
            <a:chOff x="0" y="0"/>
            <a:chExt cx="10728960" cy="3852672"/>
          </a:xfrm>
        </p:grpSpPr>
        <p:sp>
          <p:nvSpPr>
            <p:cNvPr id="60" name="Freeform 60"/>
            <p:cNvSpPr/>
            <p:nvPr/>
          </p:nvSpPr>
          <p:spPr bwMode="auto">
            <a:xfrm rot="0" flipH="0" flipV="0">
              <a:off x="0" y="0"/>
              <a:ext cx="10728960" cy="3852672"/>
            </a:xfrm>
            <a:custGeom>
              <a:avLst/>
              <a:gdLst/>
              <a:ahLst/>
              <a:cxnLst/>
              <a:rect l="l" t="t" r="r" b="b"/>
              <a:pathLst>
                <a:path w="10728960" h="3852672" fill="norm" stroke="1" extrusionOk="0">
                  <a:moveTo>
                    <a:pt x="0" y="0"/>
                  </a:moveTo>
                  <a:lnTo>
                    <a:pt x="10728960" y="0"/>
                  </a:lnTo>
                  <a:lnTo>
                    <a:pt x="1072896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2513920" name="Group 61"/>
          <p:cNvGrpSpPr/>
          <p:nvPr/>
        </p:nvGrpSpPr>
        <p:grpSpPr bwMode="auto">
          <a:xfrm rot="0">
            <a:off x="9546336" y="6620255"/>
            <a:ext cx="1005840" cy="1005840"/>
            <a:chOff x="0" y="0"/>
            <a:chExt cx="1341120" cy="1341120"/>
          </a:xfrm>
        </p:grpSpPr>
        <p:sp>
          <p:nvSpPr>
            <p:cNvPr id="62" name="Freeform 62"/>
            <p:cNvSpPr/>
            <p:nvPr/>
          </p:nvSpPr>
          <p:spPr bwMode="auto">
            <a:xfrm rot="0" flipH="0" flipV="0"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 fill="norm" stroke="1" extrusionOk="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188315061" name="Group 63"/>
          <p:cNvGrpSpPr/>
          <p:nvPr/>
        </p:nvGrpSpPr>
        <p:grpSpPr bwMode="auto">
          <a:xfrm rot="0">
            <a:off x="9546336" y="6656832"/>
            <a:ext cx="1005840" cy="932688"/>
            <a:chOff x="0" y="0"/>
            <a:chExt cx="1341120" cy="1243584"/>
          </a:xfrm>
        </p:grpSpPr>
        <p:sp>
          <p:nvSpPr>
            <p:cNvPr id="64" name="Freeform 64"/>
            <p:cNvSpPr/>
            <p:nvPr/>
          </p:nvSpPr>
          <p:spPr bwMode="auto">
            <a:xfrm rot="0" flipH="0" flipV="0">
              <a:off x="0" y="0"/>
              <a:ext cx="1341120" cy="1243584"/>
            </a:xfrm>
            <a:custGeom>
              <a:avLst/>
              <a:gdLst/>
              <a:ahLst/>
              <a:cxnLst/>
              <a:rect l="l" t="t" r="r" b="b"/>
              <a:pathLst>
                <a:path w="1341120" h="1243584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69054" t="0" r="-69055" b="0"/>
              </a:stretch>
            </a:blipFill>
          </p:spPr>
        </p:sp>
      </p:grpSp>
      <p:grpSp>
        <p:nvGrpSpPr>
          <p:cNvPr id="214962044" name="Group 65"/>
          <p:cNvGrpSpPr/>
          <p:nvPr/>
        </p:nvGrpSpPr>
        <p:grpSpPr bwMode="auto">
          <a:xfrm rot="0">
            <a:off x="9546336" y="6592538"/>
            <a:ext cx="1005840" cy="996982"/>
            <a:chOff x="0" y="0"/>
            <a:chExt cx="1341120" cy="1329309"/>
          </a:xfrm>
        </p:grpSpPr>
        <p:sp>
          <p:nvSpPr>
            <p:cNvPr id="66" name="Freeform 66"/>
            <p:cNvSpPr/>
            <p:nvPr/>
          </p:nvSpPr>
          <p:spPr bwMode="auto">
            <a:xfrm rot="0" flipH="0" flipV="0">
              <a:off x="0" y="0"/>
              <a:ext cx="1341120" cy="1329309"/>
            </a:xfrm>
            <a:custGeom>
              <a:avLst/>
              <a:gdLst/>
              <a:ahLst/>
              <a:cxnLst/>
              <a:rect l="l" t="t" r="r" b="b"/>
              <a:pathLst>
                <a:path w="1341120" h="1329309" fill="norm" stroke="1" extrusionOk="0">
                  <a:moveTo>
                    <a:pt x="0" y="0"/>
                  </a:moveTo>
                  <a:lnTo>
                    <a:pt x="1341120" y="0"/>
                  </a:lnTo>
                  <a:lnTo>
                    <a:pt x="1341120" y="1329309"/>
                  </a:lnTo>
                  <a:lnTo>
                    <a:pt x="0" y="132930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77173" t="0" r="-77173" b="0"/>
              </a:stretch>
            </a:blipFill>
          </p:spPr>
        </p:sp>
        <p:sp>
          <p:nvSpPr>
            <p:cNvPr id="67" name="TextBox 67"/>
            <p:cNvSpPr txBox="1"/>
            <p:nvPr/>
          </p:nvSpPr>
          <p:spPr bwMode="auto">
            <a:xfrm>
              <a:off x="0" y="-85725"/>
              <a:ext cx="1341120" cy="141503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  <a:defRPr/>
              </a:pPr>
              <a:r>
                <a:rPr lang="en-US" sz="3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4</a:t>
              </a:r>
              <a:endParaRPr/>
            </a:p>
          </p:txBody>
        </p:sp>
      </p:grpSp>
      <p:grpSp>
        <p:nvGrpSpPr>
          <p:cNvPr id="317704075" name="Group 68"/>
          <p:cNvGrpSpPr/>
          <p:nvPr/>
        </p:nvGrpSpPr>
        <p:grpSpPr bwMode="auto">
          <a:xfrm rot="0">
            <a:off x="10753344" y="6547104"/>
            <a:ext cx="6400800" cy="768096"/>
            <a:chOff x="0" y="0"/>
            <a:chExt cx="8534400" cy="1024128"/>
          </a:xfrm>
        </p:grpSpPr>
        <p:sp>
          <p:nvSpPr>
            <p:cNvPr id="69" name="Freeform 69"/>
            <p:cNvSpPr/>
            <p:nvPr/>
          </p:nvSpPr>
          <p:spPr bwMode="auto">
            <a:xfrm rot="0" flipH="0" flipV="0">
              <a:off x="0" y="0"/>
              <a:ext cx="8534400" cy="1024128"/>
            </a:xfrm>
            <a:custGeom>
              <a:avLst/>
              <a:gdLst/>
              <a:ahLst/>
              <a:cxnLst/>
              <a:rect l="l" t="t" r="r" b="b"/>
              <a:pathLst>
                <a:path w="8534400" h="1024128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2261" r="0" b="-112263"/>
              </a:stretch>
            </a:blipFill>
          </p:spPr>
        </p:sp>
      </p:grpSp>
      <p:grpSp>
        <p:nvGrpSpPr>
          <p:cNvPr id="775801147" name="Group 70"/>
          <p:cNvGrpSpPr/>
          <p:nvPr/>
        </p:nvGrpSpPr>
        <p:grpSpPr bwMode="auto">
          <a:xfrm rot="0">
            <a:off x="10753344" y="6497098"/>
            <a:ext cx="6400800" cy="818102"/>
            <a:chOff x="0" y="0"/>
            <a:chExt cx="8534400" cy="1090803"/>
          </a:xfrm>
        </p:grpSpPr>
        <p:sp>
          <p:nvSpPr>
            <p:cNvPr id="71" name="Freeform 71"/>
            <p:cNvSpPr/>
            <p:nvPr/>
          </p:nvSpPr>
          <p:spPr bwMode="auto">
            <a:xfrm rot="0" flipH="0" flipV="0">
              <a:off x="0" y="0"/>
              <a:ext cx="8534400" cy="1090803"/>
            </a:xfrm>
            <a:custGeom>
              <a:avLst/>
              <a:gdLst/>
              <a:ahLst/>
              <a:cxnLst/>
              <a:rect l="l" t="t" r="r" b="b"/>
              <a:pathLst>
                <a:path w="8534400" h="1090803" fill="norm" stroke="1" extrusionOk="0">
                  <a:moveTo>
                    <a:pt x="0" y="0"/>
                  </a:moveTo>
                  <a:lnTo>
                    <a:pt x="8534400" y="0"/>
                  </a:lnTo>
                  <a:lnTo>
                    <a:pt x="8534400" y="1090803"/>
                  </a:lnTo>
                  <a:lnTo>
                    <a:pt x="0" y="109080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2450" r="0" b="-102449"/>
              </a:stretch>
            </a:blipFill>
          </p:spPr>
        </p:sp>
        <p:sp>
          <p:nvSpPr>
            <p:cNvPr id="72" name="TextBox 72"/>
            <p:cNvSpPr txBox="1"/>
            <p:nvPr/>
          </p:nvSpPr>
          <p:spPr bwMode="auto">
            <a:xfrm>
              <a:off x="0" y="-66675"/>
              <a:ext cx="8534400" cy="115747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Thread B acquires the lock</a:t>
              </a:r>
              <a:endParaRPr/>
            </a:p>
          </p:txBody>
        </p:sp>
      </p:grpSp>
      <p:sp>
        <p:nvSpPr>
          <p:cNvPr id="794100913" name="TextBox 73"/>
          <p:cNvSpPr txBox="1"/>
          <p:nvPr/>
        </p:nvSpPr>
        <p:spPr bwMode="auto">
          <a:xfrm rot="0">
            <a:off x="10753344" y="7218426"/>
            <a:ext cx="6400800" cy="187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  <a:defRPr/>
            </a:pPr>
            <a:r>
              <a:rPr lang="en-US" sz="23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B wakes up, acquires the lock, reads the updated value, and increments correctly.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7907577" name="Group 2"/>
          <p:cNvGrpSpPr/>
          <p:nvPr/>
        </p:nvGrpSpPr>
        <p:grpSpPr bwMode="auto">
          <a:xfrm rot="-5400000">
            <a:off x="3999928" y="-3999290"/>
            <a:ext cx="10287000" cy="18286857"/>
            <a:chOff x="0" y="0"/>
            <a:chExt cx="13716000" cy="24382476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3716000" cy="24382476"/>
            </a:xfrm>
            <a:custGeom>
              <a:avLst/>
              <a:gdLst/>
              <a:ahLst/>
              <a:cxnLst/>
              <a:rect l="l" t="t" r="r" b="b"/>
              <a:pathLst>
                <a:path w="13716000" h="24382476" fill="norm" stroke="1" extrusionOk="0">
                  <a:moveTo>
                    <a:pt x="13716000" y="0"/>
                  </a:moveTo>
                  <a:lnTo>
                    <a:pt x="0" y="0"/>
                  </a:lnTo>
                  <a:lnTo>
                    <a:pt x="0" y="24382476"/>
                  </a:lnTo>
                  <a:lnTo>
                    <a:pt x="13716000" y="24382476"/>
                  </a:lnTo>
                  <a:close/>
                </a:path>
              </a:pathLst>
            </a:custGeom>
            <a:gradFill>
              <a:gsLst>
                <a:gs pos="8000">
                  <a:srgbClr val="4472C4">
                    <a:alpha val="100000"/>
                  </a:srgbClr>
                </a:gs>
                <a:gs pos="100000">
                  <a:srgbClr val="203864">
                    <a:alpha val="100000"/>
                  </a:srgbClr>
                </a:gs>
              </a:gsLst>
              <a:lin ang="17400000" scaled="1"/>
            </a:gradFill>
          </p:spPr>
        </p:sp>
      </p:grpSp>
      <p:grpSp>
        <p:nvGrpSpPr>
          <p:cNvPr id="572471106" name="Group 4"/>
          <p:cNvGrpSpPr/>
          <p:nvPr/>
        </p:nvGrpSpPr>
        <p:grpSpPr bwMode="auto">
          <a:xfrm rot="-10800000">
            <a:off x="-3467" y="29"/>
            <a:ext cx="13606272" cy="10286333"/>
            <a:chOff x="0" y="0"/>
            <a:chExt cx="18141696" cy="13715111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8141696" cy="13715112"/>
            </a:xfrm>
            <a:custGeom>
              <a:avLst/>
              <a:gdLst/>
              <a:ahLst/>
              <a:cxnLst/>
              <a:rect l="l" t="t" r="r" b="b"/>
              <a:pathLst>
                <a:path w="18141696" h="13715112" fill="norm" stroke="1" extrusionOk="0">
                  <a:moveTo>
                    <a:pt x="18141696" y="0"/>
                  </a:moveTo>
                  <a:lnTo>
                    <a:pt x="0" y="0"/>
                  </a:lnTo>
                  <a:lnTo>
                    <a:pt x="0" y="13715112"/>
                  </a:lnTo>
                  <a:lnTo>
                    <a:pt x="18141696" y="13715112"/>
                  </a:lnTo>
                  <a:close/>
                </a:path>
              </a:pathLst>
            </a:custGeom>
            <a:gradFill>
              <a:gsLst>
                <a:gs pos="8000">
                  <a:srgbClr val="000000">
                    <a:alpha val="52000"/>
                  </a:srgbClr>
                </a:gs>
                <a:gs pos="100000">
                  <a:srgbClr val="4472C4">
                    <a:alpha val="100000"/>
                  </a:srgbClr>
                </a:gs>
              </a:gsLst>
              <a:lin ang="15600000" scaled="1"/>
            </a:gradFill>
          </p:spPr>
        </p:sp>
      </p:grpSp>
      <p:grpSp>
        <p:nvGrpSpPr>
          <p:cNvPr id="1634504436" name="Group 6"/>
          <p:cNvGrpSpPr/>
          <p:nvPr/>
        </p:nvGrpSpPr>
        <p:grpSpPr bwMode="auto">
          <a:xfrm rot="-5400000">
            <a:off x="5474208" y="-2528764"/>
            <a:ext cx="7341870" cy="18290286"/>
            <a:chOff x="0" y="0"/>
            <a:chExt cx="9789160" cy="243870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9789160" cy="24387048"/>
            </a:xfrm>
            <a:custGeom>
              <a:avLst/>
              <a:gdLst/>
              <a:ahLst/>
              <a:cxnLst/>
              <a:rect l="l" t="t" r="r" b="b"/>
              <a:pathLst>
                <a:path w="9789160" h="24387048" fill="norm" stroke="1" extrusionOk="0">
                  <a:moveTo>
                    <a:pt x="9789160" y="0"/>
                  </a:moveTo>
                  <a:lnTo>
                    <a:pt x="0" y="0"/>
                  </a:lnTo>
                  <a:lnTo>
                    <a:pt x="0" y="24387048"/>
                  </a:lnTo>
                  <a:lnTo>
                    <a:pt x="9789160" y="24387048"/>
                  </a:lnTo>
                  <a:close/>
                </a:path>
              </a:pathLst>
            </a:custGeom>
            <a:gradFill>
              <a:gsLst>
                <a:gs pos="0">
                  <a:srgbClr val="9DC3E6">
                    <a:alpha val="0"/>
                  </a:srgbClr>
                </a:gs>
                <a:gs pos="100000">
                  <a:srgbClr val="000000">
                    <a:alpha val="46000"/>
                  </a:srgbClr>
                </a:gs>
              </a:gsLst>
              <a:lin ang="6600000" scaled="1"/>
            </a:gradFill>
          </p:spPr>
        </p:sp>
      </p:grpSp>
      <p:grpSp>
        <p:nvGrpSpPr>
          <p:cNvPr id="1818548716" name="Group 8"/>
          <p:cNvGrpSpPr/>
          <p:nvPr/>
        </p:nvGrpSpPr>
        <p:grpSpPr bwMode="auto">
          <a:xfrm rot="0">
            <a:off x="685800" y="1485328"/>
            <a:ext cx="16916400" cy="7316343"/>
            <a:chOff x="0" y="0"/>
            <a:chExt cx="22555200" cy="9755124"/>
          </a:xfrm>
        </p:grpSpPr>
        <p:sp>
          <p:nvSpPr>
            <p:cNvPr id="9" name="Freeform 9" descr="A diagram of a machine  AI-generated content may be incorrect."/>
            <p:cNvSpPr/>
            <p:nvPr/>
          </p:nvSpPr>
          <p:spPr bwMode="auto">
            <a:xfrm rot="0" flipH="0" flipV="0">
              <a:off x="0" y="0"/>
              <a:ext cx="22555200" cy="9755124"/>
            </a:xfrm>
            <a:custGeom>
              <a:avLst/>
              <a:gdLst/>
              <a:ahLst/>
              <a:cxnLst/>
              <a:rect l="l" t="t" r="r" b="b"/>
              <a:pathLst>
                <a:path w="22555200" h="9755124" fill="norm" stroke="1" extrusionOk="0">
                  <a:moveTo>
                    <a:pt x="0" y="0"/>
                  </a:moveTo>
                  <a:lnTo>
                    <a:pt x="22555200" y="0"/>
                  </a:lnTo>
                  <a:lnTo>
                    <a:pt x="22555200" y="9755124"/>
                  </a:lnTo>
                  <a:lnTo>
                    <a:pt x="0" y="97551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-11" t="0" r="-1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357251" name="Group 2"/>
          <p:cNvGrpSpPr/>
          <p:nvPr/>
        </p:nvGrpSpPr>
        <p:grpSpPr bwMode="auto">
          <a:xfrm rot="-5400000">
            <a:off x="3999928" y="-3999290"/>
            <a:ext cx="10287000" cy="18286857"/>
            <a:chOff x="0" y="0"/>
            <a:chExt cx="13716000" cy="24382476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3716000" cy="24382476"/>
            </a:xfrm>
            <a:custGeom>
              <a:avLst/>
              <a:gdLst/>
              <a:ahLst/>
              <a:cxnLst/>
              <a:rect l="l" t="t" r="r" b="b"/>
              <a:pathLst>
                <a:path w="13716000" h="24382476" fill="norm" stroke="1" extrusionOk="0">
                  <a:moveTo>
                    <a:pt x="13716000" y="0"/>
                  </a:moveTo>
                  <a:lnTo>
                    <a:pt x="0" y="0"/>
                  </a:lnTo>
                  <a:lnTo>
                    <a:pt x="0" y="24382476"/>
                  </a:lnTo>
                  <a:lnTo>
                    <a:pt x="13716000" y="24382476"/>
                  </a:lnTo>
                  <a:close/>
                </a:path>
              </a:pathLst>
            </a:custGeom>
            <a:gradFill>
              <a:gsLst>
                <a:gs pos="8000">
                  <a:srgbClr val="4472C4">
                    <a:alpha val="100000"/>
                  </a:srgbClr>
                </a:gs>
                <a:gs pos="100000">
                  <a:srgbClr val="203864">
                    <a:alpha val="100000"/>
                  </a:srgbClr>
                </a:gs>
              </a:gsLst>
              <a:lin ang="17400000" scaled="1"/>
            </a:gradFill>
          </p:spPr>
        </p:sp>
      </p:grpSp>
      <p:grpSp>
        <p:nvGrpSpPr>
          <p:cNvPr id="1023884859" name="Group 4"/>
          <p:cNvGrpSpPr/>
          <p:nvPr/>
        </p:nvGrpSpPr>
        <p:grpSpPr bwMode="auto">
          <a:xfrm rot="-10800000">
            <a:off x="-3467" y="29"/>
            <a:ext cx="13606272" cy="10286333"/>
            <a:chOff x="0" y="0"/>
            <a:chExt cx="18141696" cy="13715111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8141696" cy="13715112"/>
            </a:xfrm>
            <a:custGeom>
              <a:avLst/>
              <a:gdLst/>
              <a:ahLst/>
              <a:cxnLst/>
              <a:rect l="l" t="t" r="r" b="b"/>
              <a:pathLst>
                <a:path w="18141696" h="13715112" fill="norm" stroke="1" extrusionOk="0">
                  <a:moveTo>
                    <a:pt x="18141696" y="0"/>
                  </a:moveTo>
                  <a:lnTo>
                    <a:pt x="0" y="0"/>
                  </a:lnTo>
                  <a:lnTo>
                    <a:pt x="0" y="13715112"/>
                  </a:lnTo>
                  <a:lnTo>
                    <a:pt x="18141696" y="13715112"/>
                  </a:lnTo>
                  <a:close/>
                </a:path>
              </a:pathLst>
            </a:custGeom>
            <a:gradFill>
              <a:gsLst>
                <a:gs pos="8000">
                  <a:srgbClr val="000000">
                    <a:alpha val="52000"/>
                  </a:srgbClr>
                </a:gs>
                <a:gs pos="100000">
                  <a:srgbClr val="4472C4">
                    <a:alpha val="100000"/>
                  </a:srgbClr>
                </a:gs>
              </a:gsLst>
              <a:lin ang="15600000" scaled="1"/>
            </a:gradFill>
          </p:spPr>
        </p:sp>
      </p:grpSp>
      <p:grpSp>
        <p:nvGrpSpPr>
          <p:cNvPr id="893352896" name="Group 6"/>
          <p:cNvGrpSpPr/>
          <p:nvPr/>
        </p:nvGrpSpPr>
        <p:grpSpPr bwMode="auto">
          <a:xfrm rot="-5400000">
            <a:off x="5474208" y="-2528764"/>
            <a:ext cx="7341870" cy="18290286"/>
            <a:chOff x="0" y="0"/>
            <a:chExt cx="9789160" cy="243870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9789160" cy="24387048"/>
            </a:xfrm>
            <a:custGeom>
              <a:avLst/>
              <a:gdLst/>
              <a:ahLst/>
              <a:cxnLst/>
              <a:rect l="l" t="t" r="r" b="b"/>
              <a:pathLst>
                <a:path w="9789160" h="24387048" fill="norm" stroke="1" extrusionOk="0">
                  <a:moveTo>
                    <a:pt x="9789160" y="0"/>
                  </a:moveTo>
                  <a:lnTo>
                    <a:pt x="0" y="0"/>
                  </a:lnTo>
                  <a:lnTo>
                    <a:pt x="0" y="24387048"/>
                  </a:lnTo>
                  <a:lnTo>
                    <a:pt x="9789160" y="24387048"/>
                  </a:lnTo>
                  <a:close/>
                </a:path>
              </a:pathLst>
            </a:custGeom>
            <a:gradFill>
              <a:gsLst>
                <a:gs pos="0">
                  <a:srgbClr val="9DC3E6">
                    <a:alpha val="0"/>
                  </a:srgbClr>
                </a:gs>
                <a:gs pos="100000">
                  <a:srgbClr val="000000">
                    <a:alpha val="46000"/>
                  </a:srgbClr>
                </a:gs>
              </a:gsLst>
              <a:lin ang="6600000" scaled="1"/>
            </a:gradFill>
          </p:spPr>
        </p:sp>
      </p:grpSp>
      <p:grpSp>
        <p:nvGrpSpPr>
          <p:cNvPr id="803753434" name="Group 8"/>
          <p:cNvGrpSpPr/>
          <p:nvPr/>
        </p:nvGrpSpPr>
        <p:grpSpPr bwMode="auto">
          <a:xfrm rot="0">
            <a:off x="685800" y="1865948"/>
            <a:ext cx="16916400" cy="6555105"/>
            <a:chOff x="0" y="0"/>
            <a:chExt cx="22555200" cy="8740140"/>
          </a:xfrm>
        </p:grpSpPr>
        <p:sp>
          <p:nvSpPr>
            <p:cNvPr id="9" name="Freeform 9" descr="A screenshot of a computer  AI-generated content may be incorrect."/>
            <p:cNvSpPr/>
            <p:nvPr/>
          </p:nvSpPr>
          <p:spPr bwMode="auto">
            <a:xfrm rot="0" flipH="0" flipV="0">
              <a:off x="0" y="0"/>
              <a:ext cx="22555200" cy="8740140"/>
            </a:xfrm>
            <a:custGeom>
              <a:avLst/>
              <a:gdLst/>
              <a:ahLst/>
              <a:cxnLst/>
              <a:rect l="l" t="t" r="r" b="b"/>
              <a:pathLst>
                <a:path w="22555200" h="8740140" fill="norm" stroke="1" extrusionOk="0">
                  <a:moveTo>
                    <a:pt x="0" y="0"/>
                  </a:moveTo>
                  <a:lnTo>
                    <a:pt x="22555200" y="0"/>
                  </a:lnTo>
                  <a:lnTo>
                    <a:pt x="22555200" y="8740140"/>
                  </a:lnTo>
                  <a:lnTo>
                    <a:pt x="0" y="87401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-57" t="0" r="-57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1587141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639673743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4.3 — The Deadlock Problem</a:t>
              </a:r>
              <a:endParaRPr/>
            </a:p>
          </p:txBody>
        </p:sp>
      </p:grpSp>
      <p:grpSp>
        <p:nvGrpSpPr>
          <p:cNvPr id="1231300916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2007227595" name="Group 9"/>
          <p:cNvGrpSpPr/>
          <p:nvPr/>
        </p:nvGrpSpPr>
        <p:grpSpPr bwMode="auto">
          <a:xfrm rot="0">
            <a:off x="914400" y="2011680"/>
            <a:ext cx="16459200" cy="914400"/>
            <a:chOff x="0" y="0"/>
            <a:chExt cx="21945600" cy="12192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00486" r="0" b="-300487"/>
              </a:stretch>
            </a:blipFill>
          </p:spPr>
        </p:sp>
      </p:grpSp>
      <p:grpSp>
        <p:nvGrpSpPr>
          <p:cNvPr id="1915949885" name="Group 11"/>
          <p:cNvGrpSpPr/>
          <p:nvPr/>
        </p:nvGrpSpPr>
        <p:grpSpPr bwMode="auto">
          <a:xfrm rot="0">
            <a:off x="914400" y="1954530"/>
            <a:ext cx="16459200" cy="971550"/>
            <a:chOff x="0" y="0"/>
            <a:chExt cx="21945600" cy="129540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295400"/>
            </a:xfrm>
            <a:custGeom>
              <a:avLst/>
              <a:gdLst/>
              <a:ahLst/>
              <a:cxnLst/>
              <a:rect l="l" t="t" r="r" b="b"/>
              <a:pathLst>
                <a:path w="21945600" h="12954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0099" r="0" b="-280099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A deadlock is a state where threads are unable to proceed because each waits for the other to release a resource — like a traffic jam where nothing moves.</a:t>
              </a:r>
              <a:endParaRPr/>
            </a:p>
          </p:txBody>
        </p:sp>
      </p:grpSp>
      <p:grpSp>
        <p:nvGrpSpPr>
          <p:cNvPr id="2142139956" name="Group 14"/>
          <p:cNvGrpSpPr/>
          <p:nvPr/>
        </p:nvGrpSpPr>
        <p:grpSpPr bwMode="auto">
          <a:xfrm rot="0">
            <a:off x="731520" y="3108960"/>
            <a:ext cx="8229600" cy="3840480"/>
            <a:chOff x="0" y="0"/>
            <a:chExt cx="10972800" cy="512064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972800" cy="5120640"/>
            </a:xfrm>
            <a:custGeom>
              <a:avLst/>
              <a:gdLst/>
              <a:ahLst/>
              <a:cxnLst/>
              <a:rect l="l" t="t" r="r" b="b"/>
              <a:pathLst>
                <a:path w="10972800" h="51206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58414520" name="Group 16"/>
          <p:cNvGrpSpPr/>
          <p:nvPr/>
        </p:nvGrpSpPr>
        <p:grpSpPr bwMode="auto">
          <a:xfrm rot="0">
            <a:off x="731520" y="3108960"/>
            <a:ext cx="128016" cy="3840480"/>
            <a:chOff x="0" y="0"/>
            <a:chExt cx="170688" cy="512064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5120640"/>
            </a:xfrm>
            <a:custGeom>
              <a:avLst/>
              <a:gdLst/>
              <a:ahLst/>
              <a:cxnLst/>
              <a:rect l="l" t="t" r="r" b="b"/>
              <a:pathLst>
                <a:path w="170688" h="51206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601619188" name="Group 18"/>
          <p:cNvGrpSpPr/>
          <p:nvPr/>
        </p:nvGrpSpPr>
        <p:grpSpPr bwMode="auto">
          <a:xfrm rot="0">
            <a:off x="1042416" y="3291840"/>
            <a:ext cx="7735823" cy="731520"/>
            <a:chOff x="0" y="0"/>
            <a:chExt cx="1031443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50703947" name="Group 20"/>
          <p:cNvGrpSpPr/>
          <p:nvPr/>
        </p:nvGrpSpPr>
        <p:grpSpPr bwMode="auto">
          <a:xfrm rot="0">
            <a:off x="1042416" y="3234690"/>
            <a:ext cx="7735823" cy="788670"/>
            <a:chOff x="0" y="0"/>
            <a:chExt cx="1031443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❌ Deadlock Scenario</a:t>
              </a:r>
              <a:endParaRPr/>
            </a:p>
          </p:txBody>
        </p:sp>
      </p:grpSp>
      <p:sp>
        <p:nvSpPr>
          <p:cNvPr id="1997542527" name="TextBox 23"/>
          <p:cNvSpPr txBox="1"/>
          <p:nvPr/>
        </p:nvSpPr>
        <p:spPr bwMode="auto">
          <a:xfrm rot="0">
            <a:off x="1133856" y="4008120"/>
            <a:ext cx="7552944" cy="271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A: Locks m1, then tries to lock m2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B: Locks m2, then tries to lock m1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→ A holds m1, waits for m2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→ B holds m2, waits for m1 → STUCK FOREVER</a:t>
            </a:r>
            <a:endParaRPr/>
          </a:p>
        </p:txBody>
      </p:sp>
      <p:grpSp>
        <p:nvGrpSpPr>
          <p:cNvPr id="449427535" name="Group 24"/>
          <p:cNvGrpSpPr/>
          <p:nvPr/>
        </p:nvGrpSpPr>
        <p:grpSpPr bwMode="auto">
          <a:xfrm rot="0">
            <a:off x="9326880" y="3108960"/>
            <a:ext cx="8229600" cy="3840480"/>
            <a:chOff x="0" y="0"/>
            <a:chExt cx="10972800" cy="512064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972800" cy="5120640"/>
            </a:xfrm>
            <a:custGeom>
              <a:avLst/>
              <a:gdLst/>
              <a:ahLst/>
              <a:cxnLst/>
              <a:rect l="l" t="t" r="r" b="b"/>
              <a:pathLst>
                <a:path w="10972800" h="51206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53409024" name="Group 26"/>
          <p:cNvGrpSpPr/>
          <p:nvPr/>
        </p:nvGrpSpPr>
        <p:grpSpPr bwMode="auto">
          <a:xfrm rot="0">
            <a:off x="9326880" y="3108960"/>
            <a:ext cx="128016" cy="3840480"/>
            <a:chOff x="0" y="0"/>
            <a:chExt cx="170688" cy="512064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5120640"/>
            </a:xfrm>
            <a:custGeom>
              <a:avLst/>
              <a:gdLst/>
              <a:ahLst/>
              <a:cxnLst/>
              <a:rect l="l" t="t" r="r" b="b"/>
              <a:pathLst>
                <a:path w="170688" h="51206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2145771645" name="Group 28"/>
          <p:cNvGrpSpPr/>
          <p:nvPr/>
        </p:nvGrpSpPr>
        <p:grpSpPr bwMode="auto">
          <a:xfrm rot="0">
            <a:off x="9637776" y="3291840"/>
            <a:ext cx="7735823" cy="731520"/>
            <a:chOff x="0" y="0"/>
            <a:chExt cx="1031443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434419095" name="Group 30"/>
          <p:cNvGrpSpPr/>
          <p:nvPr/>
        </p:nvGrpSpPr>
        <p:grpSpPr bwMode="auto">
          <a:xfrm rot="0">
            <a:off x="9637776" y="3234690"/>
            <a:ext cx="7735823" cy="788670"/>
            <a:chOff x="0" y="0"/>
            <a:chExt cx="1031443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✅ Simple Fix</a:t>
              </a:r>
              <a:endParaRPr/>
            </a:p>
          </p:txBody>
        </p:sp>
      </p:grpSp>
      <p:sp>
        <p:nvSpPr>
          <p:cNvPr id="5115133" name="TextBox 33"/>
          <p:cNvSpPr txBox="1"/>
          <p:nvPr/>
        </p:nvSpPr>
        <p:spPr bwMode="auto">
          <a:xfrm rot="0">
            <a:off x="9729215" y="4008120"/>
            <a:ext cx="7552944" cy="271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Make both threads acquire locks in the SAME ORDER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A: Lock m1 → Lock m2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 B: Lock m1 → Lock m2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No circular wait → No deadlock!</a:t>
            </a:r>
            <a:endParaRPr/>
          </a:p>
        </p:txBody>
      </p:sp>
      <p:grpSp>
        <p:nvGrpSpPr>
          <p:cNvPr id="909672224" name="Group 34"/>
          <p:cNvGrpSpPr/>
          <p:nvPr/>
        </p:nvGrpSpPr>
        <p:grpSpPr bwMode="auto">
          <a:xfrm rot="0">
            <a:off x="914400" y="7223760"/>
            <a:ext cx="16459200" cy="640080"/>
            <a:chOff x="0" y="0"/>
            <a:chExt cx="21945600" cy="853440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50694" r="0" b="-450696"/>
              </a:stretch>
            </a:blipFill>
          </p:spPr>
        </p:sp>
      </p:grpSp>
      <p:grpSp>
        <p:nvGrpSpPr>
          <p:cNvPr id="725535320" name="Group 36"/>
          <p:cNvGrpSpPr/>
          <p:nvPr/>
        </p:nvGrpSpPr>
        <p:grpSpPr bwMode="auto">
          <a:xfrm rot="0">
            <a:off x="914400" y="7173754"/>
            <a:ext cx="16459200" cy="690086"/>
            <a:chOff x="0" y="0"/>
            <a:chExt cx="21945600" cy="920115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21945600" cy="920115"/>
            </a:xfrm>
            <a:custGeom>
              <a:avLst/>
              <a:gdLst/>
              <a:ahLst/>
              <a:cxnLst/>
              <a:rect l="l" t="t" r="r" b="b"/>
              <a:pathLst>
                <a:path w="21945600" h="92011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920115"/>
                  </a:lnTo>
                  <a:lnTo>
                    <a:pt x="0" y="9201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14736" r="0" b="-414736"/>
              </a:stretch>
            </a:blipFill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0" y="-66675"/>
              <a:ext cx="21945600" cy="98679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Four Necessary Conditions (ALL must hold simultaneously):</a:t>
              </a:r>
              <a:endParaRPr/>
            </a:p>
          </p:txBody>
        </p:sp>
      </p:grpSp>
      <p:sp>
        <p:nvSpPr>
          <p:cNvPr id="126859748" name="Freeform 39"/>
          <p:cNvSpPr/>
          <p:nvPr/>
        </p:nvSpPr>
        <p:spPr bwMode="auto">
          <a:xfrm rot="0" flipH="0" flipV="0">
            <a:off x="718823" y="7942583"/>
            <a:ext cx="4048696" cy="2128457"/>
          </a:xfrm>
          <a:custGeom>
            <a:avLst/>
            <a:gdLst/>
            <a:ahLst/>
            <a:cxnLst/>
            <a:rect l="l" t="t" r="r" b="b"/>
            <a:pathLst>
              <a:path w="4048696" h="2128457" fill="norm" stroke="1" extrusionOk="0">
                <a:moveTo>
                  <a:pt x="0" y="0"/>
                </a:moveTo>
                <a:lnTo>
                  <a:pt x="4048697" y="0"/>
                </a:lnTo>
                <a:lnTo>
                  <a:pt x="4048697" y="2128457"/>
                </a:lnTo>
                <a:lnTo>
                  <a:pt x="0" y="212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1896951825" name="Group 40"/>
          <p:cNvGrpSpPr/>
          <p:nvPr/>
        </p:nvGrpSpPr>
        <p:grpSpPr bwMode="auto">
          <a:xfrm rot="0">
            <a:off x="914400" y="8083296"/>
            <a:ext cx="3749040" cy="694944"/>
            <a:chOff x="0" y="0"/>
            <a:chExt cx="4998720" cy="926592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4998720" cy="926592"/>
            </a:xfrm>
            <a:custGeom>
              <a:avLst/>
              <a:gdLst/>
              <a:ahLst/>
              <a:cxnLst/>
              <a:rect l="l" t="t" r="r" b="b"/>
              <a:pathLst>
                <a:path w="4998720" h="926592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5043" r="0" b="-55043"/>
              </a:stretch>
            </a:blipFill>
          </p:spPr>
        </p:sp>
      </p:grpSp>
      <p:grpSp>
        <p:nvGrpSpPr>
          <p:cNvPr id="853187031" name="Group 42"/>
          <p:cNvGrpSpPr/>
          <p:nvPr/>
        </p:nvGrpSpPr>
        <p:grpSpPr bwMode="auto">
          <a:xfrm rot="0">
            <a:off x="914400" y="8033290"/>
            <a:ext cx="3749040" cy="744950"/>
            <a:chOff x="0" y="0"/>
            <a:chExt cx="4998720" cy="993267"/>
          </a:xfrm>
        </p:grpSpPr>
        <p:sp>
          <p:nvSpPr>
            <p:cNvPr id="43" name="Freeform 43"/>
            <p:cNvSpPr/>
            <p:nvPr/>
          </p:nvSpPr>
          <p:spPr bwMode="auto">
            <a:xfrm rot="0" flipH="0" flipV="0">
              <a:off x="0" y="0"/>
              <a:ext cx="4998720" cy="993267"/>
            </a:xfrm>
            <a:custGeom>
              <a:avLst/>
              <a:gdLst/>
              <a:ahLst/>
              <a:cxnLst/>
              <a:rect l="l" t="t" r="r" b="b"/>
              <a:pathLst>
                <a:path w="4998720" h="993267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93267"/>
                  </a:lnTo>
                  <a:lnTo>
                    <a:pt x="0" y="99326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8060" r="0" b="-48060"/>
              </a:stretch>
            </a:blipFill>
          </p:spPr>
        </p:sp>
        <p:sp>
          <p:nvSpPr>
            <p:cNvPr id="44" name="TextBox 44"/>
            <p:cNvSpPr txBox="1"/>
            <p:nvPr/>
          </p:nvSpPr>
          <p:spPr bwMode="auto">
            <a:xfrm>
              <a:off x="0" y="-66675"/>
              <a:ext cx="4998720" cy="105994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  <a:defRPr/>
              </a:pPr>
              <a:r>
                <a:rPr lang="en-US" sz="2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Mutual Exclusion</a:t>
              </a:r>
              <a:endParaRPr/>
            </a:p>
          </p:txBody>
        </p:sp>
      </p:grpSp>
      <p:sp>
        <p:nvSpPr>
          <p:cNvPr id="1071076568" name="TextBox 45"/>
          <p:cNvSpPr txBox="1"/>
          <p:nvPr/>
        </p:nvSpPr>
        <p:spPr bwMode="auto">
          <a:xfrm rot="0">
            <a:off x="914400" y="8644890"/>
            <a:ext cx="3749040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888580"/>
                </a:solidFill>
                <a:latin typeface="Cooper Hewitt"/>
                <a:ea typeface="Cooper Hewitt"/>
                <a:cs typeface="Cooper Hewitt"/>
              </a:rPr>
              <a:t>Only 1 thread can use a resource at a time</a:t>
            </a:r>
            <a:endParaRPr/>
          </a:p>
        </p:txBody>
      </p:sp>
      <p:sp>
        <p:nvSpPr>
          <p:cNvPr id="1681780700" name="Freeform 46"/>
          <p:cNvSpPr/>
          <p:nvPr/>
        </p:nvSpPr>
        <p:spPr bwMode="auto">
          <a:xfrm rot="0" flipH="0" flipV="0">
            <a:off x="5016503" y="7942583"/>
            <a:ext cx="4048697" cy="2128457"/>
          </a:xfrm>
          <a:custGeom>
            <a:avLst/>
            <a:gdLst/>
            <a:ahLst/>
            <a:cxnLst/>
            <a:rect l="l" t="t" r="r" b="b"/>
            <a:pathLst>
              <a:path w="4048697" h="2128457" fill="norm" stroke="1" extrusionOk="0">
                <a:moveTo>
                  <a:pt x="0" y="0"/>
                </a:moveTo>
                <a:lnTo>
                  <a:pt x="4048697" y="0"/>
                </a:lnTo>
                <a:lnTo>
                  <a:pt x="4048697" y="2128457"/>
                </a:lnTo>
                <a:lnTo>
                  <a:pt x="0" y="212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1364906186" name="Group 47"/>
          <p:cNvGrpSpPr/>
          <p:nvPr/>
        </p:nvGrpSpPr>
        <p:grpSpPr bwMode="auto">
          <a:xfrm rot="0">
            <a:off x="5212080" y="8083296"/>
            <a:ext cx="3749040" cy="694944"/>
            <a:chOff x="0" y="0"/>
            <a:chExt cx="4998720" cy="926592"/>
          </a:xfrm>
        </p:grpSpPr>
        <p:sp>
          <p:nvSpPr>
            <p:cNvPr id="48" name="Freeform 48"/>
            <p:cNvSpPr/>
            <p:nvPr/>
          </p:nvSpPr>
          <p:spPr bwMode="auto">
            <a:xfrm rot="0" flipH="0" flipV="0">
              <a:off x="0" y="0"/>
              <a:ext cx="4998720" cy="926592"/>
            </a:xfrm>
            <a:custGeom>
              <a:avLst/>
              <a:gdLst/>
              <a:ahLst/>
              <a:cxnLst/>
              <a:rect l="l" t="t" r="r" b="b"/>
              <a:pathLst>
                <a:path w="4998720" h="926592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5043" r="0" b="-55043"/>
              </a:stretch>
            </a:blipFill>
          </p:spPr>
        </p:sp>
      </p:grpSp>
      <p:grpSp>
        <p:nvGrpSpPr>
          <p:cNvPr id="424634998" name="Group 49"/>
          <p:cNvGrpSpPr/>
          <p:nvPr/>
        </p:nvGrpSpPr>
        <p:grpSpPr bwMode="auto">
          <a:xfrm rot="0">
            <a:off x="5212080" y="8033290"/>
            <a:ext cx="3749040" cy="744950"/>
            <a:chOff x="0" y="0"/>
            <a:chExt cx="4998720" cy="993267"/>
          </a:xfrm>
        </p:grpSpPr>
        <p:sp>
          <p:nvSpPr>
            <p:cNvPr id="50" name="Freeform 50"/>
            <p:cNvSpPr/>
            <p:nvPr/>
          </p:nvSpPr>
          <p:spPr bwMode="auto">
            <a:xfrm rot="0" flipH="0" flipV="0">
              <a:off x="0" y="0"/>
              <a:ext cx="4998720" cy="993267"/>
            </a:xfrm>
            <a:custGeom>
              <a:avLst/>
              <a:gdLst/>
              <a:ahLst/>
              <a:cxnLst/>
              <a:rect l="l" t="t" r="r" b="b"/>
              <a:pathLst>
                <a:path w="4998720" h="993267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93267"/>
                  </a:lnTo>
                  <a:lnTo>
                    <a:pt x="0" y="99326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8060" r="0" b="-48060"/>
              </a:stretch>
            </a:blipFill>
          </p:spPr>
        </p:sp>
        <p:sp>
          <p:nvSpPr>
            <p:cNvPr id="51" name="TextBox 51"/>
            <p:cNvSpPr txBox="1"/>
            <p:nvPr/>
          </p:nvSpPr>
          <p:spPr bwMode="auto">
            <a:xfrm>
              <a:off x="0" y="-66675"/>
              <a:ext cx="4998720" cy="105994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  <a:defRPr/>
              </a:pPr>
              <a:r>
                <a:rPr lang="en-US" sz="2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Hold &amp; Wait</a:t>
              </a:r>
              <a:endParaRPr/>
            </a:p>
          </p:txBody>
        </p:sp>
      </p:grpSp>
      <p:sp>
        <p:nvSpPr>
          <p:cNvPr id="1373601571" name="TextBox 52"/>
          <p:cNvSpPr txBox="1"/>
          <p:nvPr/>
        </p:nvSpPr>
        <p:spPr bwMode="auto">
          <a:xfrm rot="0">
            <a:off x="5212080" y="8644890"/>
            <a:ext cx="3749040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888580"/>
                </a:solidFill>
                <a:latin typeface="Cooper Hewitt"/>
                <a:ea typeface="Cooper Hewitt"/>
                <a:cs typeface="Cooper Hewitt"/>
              </a:rPr>
              <a:t>Thread holds a resource while waiting for another</a:t>
            </a:r>
            <a:endParaRPr/>
          </a:p>
        </p:txBody>
      </p:sp>
      <p:sp>
        <p:nvSpPr>
          <p:cNvPr id="1499637403" name="Freeform 53"/>
          <p:cNvSpPr/>
          <p:nvPr/>
        </p:nvSpPr>
        <p:spPr bwMode="auto">
          <a:xfrm rot="0" flipH="0" flipV="0">
            <a:off x="9314183" y="7942583"/>
            <a:ext cx="4048697" cy="2128457"/>
          </a:xfrm>
          <a:custGeom>
            <a:avLst/>
            <a:gdLst/>
            <a:ahLst/>
            <a:cxnLst/>
            <a:rect l="l" t="t" r="r" b="b"/>
            <a:pathLst>
              <a:path w="4048697" h="2128457" fill="norm" stroke="1" extrusionOk="0">
                <a:moveTo>
                  <a:pt x="0" y="0"/>
                </a:moveTo>
                <a:lnTo>
                  <a:pt x="4048697" y="0"/>
                </a:lnTo>
                <a:lnTo>
                  <a:pt x="4048697" y="2128457"/>
                </a:lnTo>
                <a:lnTo>
                  <a:pt x="0" y="212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969051314" name="Group 54"/>
          <p:cNvGrpSpPr/>
          <p:nvPr/>
        </p:nvGrpSpPr>
        <p:grpSpPr bwMode="auto">
          <a:xfrm rot="0">
            <a:off x="9509760" y="8083296"/>
            <a:ext cx="3749040" cy="694944"/>
            <a:chOff x="0" y="0"/>
            <a:chExt cx="4998720" cy="926592"/>
          </a:xfrm>
        </p:grpSpPr>
        <p:sp>
          <p:nvSpPr>
            <p:cNvPr id="55" name="Freeform 55"/>
            <p:cNvSpPr/>
            <p:nvPr/>
          </p:nvSpPr>
          <p:spPr bwMode="auto">
            <a:xfrm rot="0" flipH="0" flipV="0">
              <a:off x="0" y="0"/>
              <a:ext cx="4998720" cy="926592"/>
            </a:xfrm>
            <a:custGeom>
              <a:avLst/>
              <a:gdLst/>
              <a:ahLst/>
              <a:cxnLst/>
              <a:rect l="l" t="t" r="r" b="b"/>
              <a:pathLst>
                <a:path w="4998720" h="926592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5043" r="0" b="-55043"/>
              </a:stretch>
            </a:blipFill>
          </p:spPr>
        </p:sp>
      </p:grpSp>
      <p:grpSp>
        <p:nvGrpSpPr>
          <p:cNvPr id="2137493909" name="Group 56"/>
          <p:cNvGrpSpPr/>
          <p:nvPr/>
        </p:nvGrpSpPr>
        <p:grpSpPr bwMode="auto">
          <a:xfrm rot="0">
            <a:off x="9509760" y="8033290"/>
            <a:ext cx="3749040" cy="744950"/>
            <a:chOff x="0" y="0"/>
            <a:chExt cx="4998720" cy="993267"/>
          </a:xfrm>
        </p:grpSpPr>
        <p:sp>
          <p:nvSpPr>
            <p:cNvPr id="57" name="Freeform 57"/>
            <p:cNvSpPr/>
            <p:nvPr/>
          </p:nvSpPr>
          <p:spPr bwMode="auto">
            <a:xfrm rot="0" flipH="0" flipV="0">
              <a:off x="0" y="0"/>
              <a:ext cx="4998720" cy="993267"/>
            </a:xfrm>
            <a:custGeom>
              <a:avLst/>
              <a:gdLst/>
              <a:ahLst/>
              <a:cxnLst/>
              <a:rect l="l" t="t" r="r" b="b"/>
              <a:pathLst>
                <a:path w="4998720" h="993267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93267"/>
                  </a:lnTo>
                  <a:lnTo>
                    <a:pt x="0" y="99326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8060" r="0" b="-48060"/>
              </a:stretch>
            </a:blipFill>
          </p:spPr>
        </p:sp>
        <p:sp>
          <p:nvSpPr>
            <p:cNvPr id="58" name="TextBox 58"/>
            <p:cNvSpPr txBox="1"/>
            <p:nvPr/>
          </p:nvSpPr>
          <p:spPr bwMode="auto">
            <a:xfrm>
              <a:off x="0" y="-66675"/>
              <a:ext cx="4998720" cy="105994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  <a:defRPr/>
              </a:pPr>
              <a:r>
                <a:rPr lang="en-US" sz="2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No Preemption</a:t>
              </a:r>
              <a:endParaRPr/>
            </a:p>
          </p:txBody>
        </p:sp>
      </p:grpSp>
      <p:sp>
        <p:nvSpPr>
          <p:cNvPr id="520145682" name="TextBox 59"/>
          <p:cNvSpPr txBox="1"/>
          <p:nvPr/>
        </p:nvSpPr>
        <p:spPr bwMode="auto">
          <a:xfrm rot="0">
            <a:off x="9509760" y="8644890"/>
            <a:ext cx="3749040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888580"/>
                </a:solidFill>
                <a:latin typeface="Cooper Hewitt"/>
                <a:ea typeface="Cooper Hewitt"/>
                <a:cs typeface="Cooper Hewitt"/>
              </a:rPr>
              <a:t>Resources must be released voluntarily</a:t>
            </a:r>
            <a:endParaRPr/>
          </a:p>
        </p:txBody>
      </p:sp>
      <p:sp>
        <p:nvSpPr>
          <p:cNvPr id="1455565095" name="Freeform 60"/>
          <p:cNvSpPr/>
          <p:nvPr/>
        </p:nvSpPr>
        <p:spPr bwMode="auto">
          <a:xfrm rot="0" flipH="0" flipV="0">
            <a:off x="13611863" y="7942583"/>
            <a:ext cx="4048697" cy="2128457"/>
          </a:xfrm>
          <a:custGeom>
            <a:avLst/>
            <a:gdLst/>
            <a:ahLst/>
            <a:cxnLst/>
            <a:rect l="l" t="t" r="r" b="b"/>
            <a:pathLst>
              <a:path w="4048697" h="2128457" fill="norm" stroke="1" extrusionOk="0">
                <a:moveTo>
                  <a:pt x="0" y="0"/>
                </a:moveTo>
                <a:lnTo>
                  <a:pt x="4048697" y="0"/>
                </a:lnTo>
                <a:lnTo>
                  <a:pt x="4048697" y="2128457"/>
                </a:lnTo>
                <a:lnTo>
                  <a:pt x="0" y="2128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1864411992" name="Group 61"/>
          <p:cNvGrpSpPr/>
          <p:nvPr/>
        </p:nvGrpSpPr>
        <p:grpSpPr bwMode="auto">
          <a:xfrm rot="0">
            <a:off x="13807440" y="8083296"/>
            <a:ext cx="3749040" cy="694944"/>
            <a:chOff x="0" y="0"/>
            <a:chExt cx="4998720" cy="926592"/>
          </a:xfrm>
        </p:grpSpPr>
        <p:sp>
          <p:nvSpPr>
            <p:cNvPr id="62" name="Freeform 62"/>
            <p:cNvSpPr/>
            <p:nvPr/>
          </p:nvSpPr>
          <p:spPr bwMode="auto">
            <a:xfrm rot="0" flipH="0" flipV="0">
              <a:off x="0" y="0"/>
              <a:ext cx="4998720" cy="926592"/>
            </a:xfrm>
            <a:custGeom>
              <a:avLst/>
              <a:gdLst/>
              <a:ahLst/>
              <a:cxnLst/>
              <a:rect l="l" t="t" r="r" b="b"/>
              <a:pathLst>
                <a:path w="4998720" h="926592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55043" r="0" b="-55043"/>
              </a:stretch>
            </a:blipFill>
          </p:spPr>
        </p:sp>
      </p:grpSp>
      <p:grpSp>
        <p:nvGrpSpPr>
          <p:cNvPr id="2089185439" name="Group 63"/>
          <p:cNvGrpSpPr/>
          <p:nvPr/>
        </p:nvGrpSpPr>
        <p:grpSpPr bwMode="auto">
          <a:xfrm rot="0">
            <a:off x="13807440" y="8033290"/>
            <a:ext cx="3749040" cy="744950"/>
            <a:chOff x="0" y="0"/>
            <a:chExt cx="4998720" cy="993267"/>
          </a:xfrm>
        </p:grpSpPr>
        <p:sp>
          <p:nvSpPr>
            <p:cNvPr id="64" name="Freeform 64"/>
            <p:cNvSpPr/>
            <p:nvPr/>
          </p:nvSpPr>
          <p:spPr bwMode="auto">
            <a:xfrm rot="0" flipH="0" flipV="0">
              <a:off x="0" y="0"/>
              <a:ext cx="4998720" cy="993267"/>
            </a:xfrm>
            <a:custGeom>
              <a:avLst/>
              <a:gdLst/>
              <a:ahLst/>
              <a:cxnLst/>
              <a:rect l="l" t="t" r="r" b="b"/>
              <a:pathLst>
                <a:path w="4998720" h="993267" fill="norm" stroke="1" extrusionOk="0">
                  <a:moveTo>
                    <a:pt x="0" y="0"/>
                  </a:moveTo>
                  <a:lnTo>
                    <a:pt x="4998720" y="0"/>
                  </a:lnTo>
                  <a:lnTo>
                    <a:pt x="4998720" y="993267"/>
                  </a:lnTo>
                  <a:lnTo>
                    <a:pt x="0" y="99326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48060" r="0" b="-48060"/>
              </a:stretch>
            </a:blipFill>
          </p:spPr>
        </p:sp>
        <p:sp>
          <p:nvSpPr>
            <p:cNvPr id="65" name="TextBox 65"/>
            <p:cNvSpPr txBox="1"/>
            <p:nvPr/>
          </p:nvSpPr>
          <p:spPr bwMode="auto">
            <a:xfrm>
              <a:off x="0" y="-66675"/>
              <a:ext cx="4998720" cy="105994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  <a:defRPr/>
              </a:pPr>
              <a:r>
                <a:rPr lang="en-US" sz="2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Circular Wait</a:t>
              </a:r>
              <a:endParaRPr/>
            </a:p>
          </p:txBody>
        </p:sp>
      </p:grpSp>
      <p:sp>
        <p:nvSpPr>
          <p:cNvPr id="426005848" name="TextBox 66"/>
          <p:cNvSpPr txBox="1"/>
          <p:nvPr/>
        </p:nvSpPr>
        <p:spPr bwMode="auto">
          <a:xfrm rot="0">
            <a:off x="13807440" y="8644890"/>
            <a:ext cx="3749040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2100">
                <a:solidFill>
                  <a:srgbClr val="888580"/>
                </a:solidFill>
                <a:latin typeface="Cooper Hewitt"/>
                <a:ea typeface="Cooper Hewitt"/>
                <a:cs typeface="Cooper Hewitt"/>
              </a:rPr>
              <a:t>Closed chain — each thread waits for the next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26783236" name="Group 2"/>
          <p:cNvGrpSpPr/>
          <p:nvPr/>
        </p:nvGrpSpPr>
        <p:grpSpPr bwMode="auto">
          <a:xfrm rot="0">
            <a:off x="38" y="1924"/>
            <a:ext cx="18288000" cy="10285095"/>
            <a:chOff x="0" y="0"/>
            <a:chExt cx="24384000" cy="13713460"/>
          </a:xfrm>
        </p:grpSpPr>
        <p:sp>
          <p:nvSpPr>
            <p:cNvPr id="3" name="Freeform 3" descr="A diagram of a  AI-generated content may be incorrect."/>
            <p:cNvSpPr/>
            <p:nvPr/>
          </p:nvSpPr>
          <p:spPr bwMode="auto">
            <a:xfrm rot="0" flipH="0" flipV="0">
              <a:off x="0" y="0"/>
              <a:ext cx="24384000" cy="13713461"/>
            </a:xfrm>
            <a:custGeom>
              <a:avLst/>
              <a:gdLst/>
              <a:ahLst/>
              <a:cxnLst/>
              <a:rect l="l" t="t" r="r" b="b"/>
              <a:pathLst>
                <a:path w="24384000" h="13713461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7546" r="0" b="-7546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0EDE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839311" name="TextBox 2"/>
          <p:cNvSpPr txBox="1"/>
          <p:nvPr/>
        </p:nvSpPr>
        <p:spPr bwMode="auto">
          <a:xfrm rot="0">
            <a:off x="422500" y="-19050"/>
            <a:ext cx="16836800" cy="76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 Understanding Deadlock in Multithreading</a:t>
            </a:r>
            <a:endParaRPr/>
          </a:p>
          <a:p>
            <a:pPr algn="l">
              <a:lnSpc>
                <a:spcPts val="4320"/>
              </a:lnSpc>
              <a:defRPr/>
            </a:pPr>
            <a:endParaRPr lang="en-US" sz="3600">
              <a:solidFill>
                <a:srgbClr val="2A2E30"/>
              </a:solidFill>
              <a:latin typeface="Radley"/>
              <a:ea typeface="Radley"/>
              <a:cs typeface="Radley"/>
            </a:endParaRPr>
          </a:p>
          <a:p>
            <a:pPr marL="822960" lvl="2" indent="-274320" algn="l">
              <a:lnSpc>
                <a:spcPts val="4320"/>
              </a:lnSpc>
              <a:buFont typeface="Arial"/>
              <a:buChar char="⚬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Scenario: </a:t>
            </a:r>
            <a:endParaRPr/>
          </a:p>
          <a:p>
            <a:pPr marL="1470660" lvl="3" indent="-367665" algn="l">
              <a:lnSpc>
                <a:spcPts val="4320"/>
              </a:lnSpc>
              <a:buFont typeface="Arial"/>
              <a:buChar char="￭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Thread  A  locks  m1  and attempts to lock  m2. </a:t>
            </a:r>
            <a:endParaRPr/>
          </a:p>
          <a:p>
            <a:pPr marL="1470660" lvl="3" indent="-367665" algn="l">
              <a:lnSpc>
                <a:spcPts val="4320"/>
              </a:lnSpc>
              <a:buFont typeface="Arial"/>
              <a:buChar char="￭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 Thread B   locks  m2   and tries to lock   m1.</a:t>
            </a:r>
            <a:endParaRPr/>
          </a:p>
          <a:p>
            <a:pPr marL="822960" lvl="2" indent="-274320" algn="l">
              <a:lnSpc>
                <a:spcPts val="4320"/>
              </a:lnSpc>
              <a:buFont typeface="Arial"/>
              <a:buChar char="⚬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 Issue : </a:t>
            </a:r>
            <a:endParaRPr/>
          </a:p>
          <a:p>
            <a:pPr marL="1470660" lvl="3" indent="-367665" algn="l">
              <a:lnSpc>
                <a:spcPts val="4320"/>
              </a:lnSpc>
              <a:buFont typeface="Arial"/>
              <a:buChar char="￭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Both threads execute simultaneously, leading to:</a:t>
            </a:r>
            <a:endParaRPr/>
          </a:p>
          <a:p>
            <a:pPr marL="2183130" lvl="4" indent="-436626" algn="l">
              <a:lnSpc>
                <a:spcPts val="432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 Thread A  waits for  m2 .</a:t>
            </a:r>
            <a:endParaRPr/>
          </a:p>
          <a:p>
            <a:pPr marL="2183130" lvl="4" indent="-436626" algn="l">
              <a:lnSpc>
                <a:spcPts val="432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Thread B  waits for  m1 .</a:t>
            </a:r>
            <a:endParaRPr/>
          </a:p>
          <a:p>
            <a:pPr marL="822960" lvl="2" indent="-274320" algn="l">
              <a:lnSpc>
                <a:spcPts val="4320"/>
              </a:lnSpc>
              <a:buFont typeface="Arial"/>
              <a:buChar char="⚬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Outcome: </a:t>
            </a:r>
            <a:endParaRPr/>
          </a:p>
          <a:p>
            <a:pPr marL="1470660" lvl="3" indent="-367665" algn="l">
              <a:lnSpc>
                <a:spcPts val="4320"/>
              </a:lnSpc>
              <a:buFont typeface="Arial"/>
              <a:buChar char="￭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Deadlock occurs as neither thread can proceed.</a:t>
            </a:r>
            <a:endParaRPr/>
          </a:p>
          <a:p>
            <a:pPr marL="822960" lvl="2" indent="-274320" algn="l">
              <a:lnSpc>
                <a:spcPts val="4320"/>
              </a:lnSpc>
              <a:buFont typeface="Arial"/>
              <a:buChar char="⚬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Summary: </a:t>
            </a:r>
            <a:endParaRPr/>
          </a:p>
          <a:p>
            <a:pPr marL="1470660" lvl="3" indent="-367665" algn="l">
              <a:lnSpc>
                <a:spcPts val="4320"/>
              </a:lnSpc>
              <a:buFont typeface="Arial"/>
              <a:buChar char="￭"/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Thread A  holds   m1   and waits for   m2  .</a:t>
            </a:r>
            <a:endParaRPr/>
          </a:p>
          <a:p>
            <a:pPr marL="1470660" lvl="3" indent="-367665" algn="ctr">
              <a:lnSpc>
                <a:spcPts val="4320"/>
              </a:lnSpc>
              <a:defRPr/>
            </a:pPr>
            <a:r>
              <a:rPr lang="en-US" sz="3600">
                <a:solidFill>
                  <a:srgbClr val="2A2E30"/>
                </a:solidFill>
                <a:latin typeface="Radley"/>
                <a:ea typeface="Radley"/>
                <a:cs typeface="Radley"/>
              </a:rPr>
              <a:t>  Thread B   holds   m2   and waits for   m1.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75995217" name="Group 2"/>
          <p:cNvGrpSpPr/>
          <p:nvPr/>
        </p:nvGrpSpPr>
        <p:grpSpPr bwMode="auto">
          <a:xfrm rot="0">
            <a:off x="2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267233573" name="Group 4"/>
          <p:cNvGrpSpPr/>
          <p:nvPr/>
        </p:nvGrpSpPr>
        <p:grpSpPr bwMode="auto">
          <a:xfrm rot="0">
            <a:off x="4142708" y="965197"/>
            <a:ext cx="4216908" cy="8350282"/>
            <a:chOff x="0" y="0"/>
            <a:chExt cx="5622544" cy="11133709"/>
          </a:xfrm>
        </p:grpSpPr>
        <p:sp>
          <p:nvSpPr>
            <p:cNvPr id="5" name="Freeform 5" descr="A computer code on a black background  AI-generated content may be incorrect."/>
            <p:cNvSpPr/>
            <p:nvPr/>
          </p:nvSpPr>
          <p:spPr bwMode="auto">
            <a:xfrm rot="0" flipH="0" flipV="0">
              <a:off x="0" y="0"/>
              <a:ext cx="5622544" cy="11133709"/>
            </a:xfrm>
            <a:custGeom>
              <a:avLst/>
              <a:gdLst/>
              <a:ahLst/>
              <a:cxnLst/>
              <a:rect l="l" t="t" r="r" b="b"/>
              <a:pathLst>
                <a:path w="5622544" h="11133709" fill="norm" stroke="1" extrusionOk="0">
                  <a:moveTo>
                    <a:pt x="0" y="0"/>
                  </a:moveTo>
                  <a:lnTo>
                    <a:pt x="5622544" y="0"/>
                  </a:lnTo>
                  <a:lnTo>
                    <a:pt x="5622544" y="11133709"/>
                  </a:lnTo>
                  <a:lnTo>
                    <a:pt x="0" y="1113370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36" r="0" b="-36"/>
              </a:stretch>
            </a:blipFill>
          </p:spPr>
        </p:sp>
      </p:grpSp>
      <p:sp>
        <p:nvSpPr>
          <p:cNvPr id="45876294" name="Freeform 6"/>
          <p:cNvSpPr/>
          <p:nvPr/>
        </p:nvSpPr>
        <p:spPr bwMode="auto">
          <a:xfrm rot="0" flipH="0" flipV="0">
            <a:off x="13719410" y="1591351"/>
            <a:ext cx="2386260" cy="1802321"/>
          </a:xfrm>
          <a:custGeom>
            <a:avLst/>
            <a:gdLst/>
            <a:ahLst/>
            <a:cxnLst/>
            <a:rect l="l" t="t" r="r" b="b"/>
            <a:pathLst>
              <a:path w="2386260" h="1802321" fill="norm" stroke="1" extrusionOk="0">
                <a:moveTo>
                  <a:pt x="0" y="0"/>
                </a:moveTo>
                <a:lnTo>
                  <a:pt x="2386260" y="0"/>
                </a:lnTo>
                <a:lnTo>
                  <a:pt x="2386260" y="1802321"/>
                </a:lnTo>
                <a:lnTo>
                  <a:pt x="0" y="1802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-111" r="0" b="-109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605129" name="Freeform 2"/>
          <p:cNvSpPr/>
          <p:nvPr/>
        </p:nvSpPr>
        <p:spPr bwMode="auto">
          <a:xfrm rot="0" flipH="0" flipV="0">
            <a:off x="965197" y="0"/>
            <a:ext cx="13196934" cy="10287000"/>
          </a:xfrm>
          <a:custGeom>
            <a:avLst/>
            <a:gdLst/>
            <a:ahLst/>
            <a:cxnLst/>
            <a:rect l="l" t="t" r="r" b="b"/>
            <a:pathLst>
              <a:path w="13196935" h="10287000" fill="norm" stroke="1" extrusionOk="0">
                <a:moveTo>
                  <a:pt x="0" y="0"/>
                </a:moveTo>
                <a:lnTo>
                  <a:pt x="13196935" y="0"/>
                </a:lnTo>
                <a:lnTo>
                  <a:pt x="131969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-17" t="0" r="-16" b="0"/>
            </a:stretch>
          </a:blipFill>
        </p:spPr>
      </p:sp>
      <p:grpSp>
        <p:nvGrpSpPr>
          <p:cNvPr id="863117436" name="Group 3"/>
          <p:cNvGrpSpPr/>
          <p:nvPr/>
        </p:nvGrpSpPr>
        <p:grpSpPr bwMode="auto">
          <a:xfrm rot="0">
            <a:off x="3474720" y="1674828"/>
            <a:ext cx="8247412" cy="6937343"/>
            <a:chOff x="0" y="0"/>
            <a:chExt cx="10996549" cy="9249791"/>
          </a:xfrm>
        </p:grpSpPr>
        <p:sp>
          <p:nvSpPr>
            <p:cNvPr id="4" name="Freeform 4" descr="A computer screen with white text  AI-generated content may be incorrect."/>
            <p:cNvSpPr/>
            <p:nvPr/>
          </p:nvSpPr>
          <p:spPr bwMode="auto">
            <a:xfrm rot="0" flipH="0" flipV="0">
              <a:off x="0" y="0"/>
              <a:ext cx="10996549" cy="9249791"/>
            </a:xfrm>
            <a:custGeom>
              <a:avLst/>
              <a:gdLst/>
              <a:ahLst/>
              <a:cxnLst/>
              <a:rect l="l" t="t" r="r" b="b"/>
              <a:pathLst>
                <a:path w="10996549" h="9249791" fill="norm" stroke="1" extrusionOk="0">
                  <a:moveTo>
                    <a:pt x="0" y="0"/>
                  </a:moveTo>
                  <a:lnTo>
                    <a:pt x="10996549" y="0"/>
                  </a:lnTo>
                  <a:lnTo>
                    <a:pt x="10996549" y="9249791"/>
                  </a:lnTo>
                  <a:lnTo>
                    <a:pt x="0" y="92497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 l="0" t="0" r="0" b="0"/>
              </a:stretch>
            </a:blipFill>
          </p:spPr>
        </p:sp>
      </p:grpSp>
      <p:sp>
        <p:nvSpPr>
          <p:cNvPr id="1959434638" name="Freeform 5"/>
          <p:cNvSpPr/>
          <p:nvPr/>
        </p:nvSpPr>
        <p:spPr bwMode="auto">
          <a:xfrm rot="0" flipH="0" flipV="0">
            <a:off x="13719410" y="1591351"/>
            <a:ext cx="2386260" cy="1802321"/>
          </a:xfrm>
          <a:custGeom>
            <a:avLst/>
            <a:gdLst/>
            <a:ahLst/>
            <a:cxnLst/>
            <a:rect l="l" t="t" r="r" b="b"/>
            <a:pathLst>
              <a:path w="2386260" h="1802321" fill="norm" stroke="1" extrusionOk="0">
                <a:moveTo>
                  <a:pt x="0" y="0"/>
                </a:moveTo>
                <a:lnTo>
                  <a:pt x="2386260" y="0"/>
                </a:lnTo>
                <a:lnTo>
                  <a:pt x="2386260" y="1802321"/>
                </a:lnTo>
                <a:lnTo>
                  <a:pt x="0" y="1802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-111" r="0" b="-109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889647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154612638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4.4 — Starvation</a:t>
              </a:r>
              <a:endParaRPr/>
            </a:p>
          </p:txBody>
        </p:sp>
      </p:grpSp>
      <p:grpSp>
        <p:nvGrpSpPr>
          <p:cNvPr id="1251637092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sp>
        <p:nvSpPr>
          <p:cNvPr id="305162157" name="Freeform 9"/>
          <p:cNvSpPr/>
          <p:nvPr/>
        </p:nvSpPr>
        <p:spPr bwMode="auto">
          <a:xfrm rot="0" flipH="0" flipV="0">
            <a:off x="716280" y="2087880"/>
            <a:ext cx="16855440" cy="1767840"/>
          </a:xfrm>
          <a:custGeom>
            <a:avLst/>
            <a:gdLst/>
            <a:ahLst/>
            <a:cxnLst/>
            <a:rect l="l" t="t" r="r" b="b"/>
            <a:pathLst>
              <a:path w="16855440" h="1767840" fill="norm" stroke="1" extrusionOk="0">
                <a:moveTo>
                  <a:pt x="0" y="0"/>
                </a:moveTo>
                <a:lnTo>
                  <a:pt x="16855440" y="0"/>
                </a:lnTo>
                <a:lnTo>
                  <a:pt x="16855440" y="1767840"/>
                </a:lnTo>
                <a:lnTo>
                  <a:pt x="0" y="1767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1808726400" name="Group 10"/>
          <p:cNvGrpSpPr/>
          <p:nvPr/>
        </p:nvGrpSpPr>
        <p:grpSpPr bwMode="auto">
          <a:xfrm rot="0">
            <a:off x="1097280" y="2231136"/>
            <a:ext cx="16093440" cy="1499616"/>
            <a:chOff x="0" y="0"/>
            <a:chExt cx="21457920" cy="1999488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21457920" cy="1999488"/>
            </a:xfrm>
            <a:custGeom>
              <a:avLst/>
              <a:gdLst/>
              <a:ahLst/>
              <a:cxnLst/>
              <a:rect l="l" t="t" r="r" b="b"/>
              <a:pathLst>
                <a:path w="21457920" h="1999488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999488"/>
                  </a:lnTo>
                  <a:lnTo>
                    <a:pt x="0" y="1999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8962" r="0" b="-158962"/>
              </a:stretch>
            </a:blipFill>
          </p:spPr>
        </p:sp>
      </p:grpSp>
      <p:grpSp>
        <p:nvGrpSpPr>
          <p:cNvPr id="1172961626" name="Group 12"/>
          <p:cNvGrpSpPr/>
          <p:nvPr/>
        </p:nvGrpSpPr>
        <p:grpSpPr bwMode="auto">
          <a:xfrm rot="0">
            <a:off x="1097280" y="2173986"/>
            <a:ext cx="16093440" cy="1556766"/>
            <a:chOff x="0" y="0"/>
            <a:chExt cx="21457920" cy="2075688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457920" cy="2075688"/>
            </a:xfrm>
            <a:custGeom>
              <a:avLst/>
              <a:gdLst/>
              <a:ahLst/>
              <a:cxnLst/>
              <a:rect l="l" t="t" r="r" b="b"/>
              <a:pathLst>
                <a:path w="21457920" h="2075688" fill="norm" stroke="1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2075688"/>
                  </a:lnTo>
                  <a:lnTo>
                    <a:pt x="0" y="207568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51431" r="0" b="-151431"/>
              </a:stretch>
            </a:blipFill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76200"/>
              <a:ext cx="21457920" cy="2151888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>
                  <a:solidFill>
                    <a:srgbClr val="2D2D2D"/>
                  </a:solidFill>
                  <a:latin typeface="Cooper Hewitt"/>
                  <a:ea typeface="Cooper Hewitt"/>
                  <a:cs typeface="Cooper Hewitt"/>
                </a:rPr>
                <a:t>Starvation occurs when a low-priority thread is continuously denied CPU resources because higher-priority threads keep getting executed instead — it may NEVER run.</a:t>
              </a:r>
              <a:endParaRPr/>
            </a:p>
          </p:txBody>
        </p:sp>
      </p:grpSp>
      <p:grpSp>
        <p:nvGrpSpPr>
          <p:cNvPr id="807800530" name="Group 15"/>
          <p:cNvGrpSpPr/>
          <p:nvPr/>
        </p:nvGrpSpPr>
        <p:grpSpPr bwMode="auto">
          <a:xfrm rot="0">
            <a:off x="731520" y="4114800"/>
            <a:ext cx="8229600" cy="5303520"/>
            <a:chOff x="0" y="0"/>
            <a:chExt cx="10972800" cy="70713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972800" cy="7071360"/>
            </a:xfrm>
            <a:custGeom>
              <a:avLst/>
              <a:gdLst/>
              <a:ahLst/>
              <a:cxnLst/>
              <a:rect l="l" t="t" r="r" b="b"/>
              <a:pathLst>
                <a:path w="10972800" h="707136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6401471" name="Group 17"/>
          <p:cNvGrpSpPr/>
          <p:nvPr/>
        </p:nvGrpSpPr>
        <p:grpSpPr bwMode="auto">
          <a:xfrm rot="0">
            <a:off x="731520" y="4114800"/>
            <a:ext cx="128016" cy="5303520"/>
            <a:chOff x="0" y="0"/>
            <a:chExt cx="170688" cy="7071360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170688" cy="7071360"/>
            </a:xfrm>
            <a:custGeom>
              <a:avLst/>
              <a:gdLst/>
              <a:ahLst/>
              <a:cxnLst/>
              <a:rect l="l" t="t" r="r" b="b"/>
              <a:pathLst>
                <a:path w="170688" h="707136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117008238" name="Group 19"/>
          <p:cNvGrpSpPr/>
          <p:nvPr/>
        </p:nvGrpSpPr>
        <p:grpSpPr bwMode="auto">
          <a:xfrm rot="0">
            <a:off x="1042416" y="4297680"/>
            <a:ext cx="7735823" cy="731520"/>
            <a:chOff x="0" y="0"/>
            <a:chExt cx="10314432" cy="97536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374575633" name="Group 21"/>
          <p:cNvGrpSpPr/>
          <p:nvPr/>
        </p:nvGrpSpPr>
        <p:grpSpPr bwMode="auto">
          <a:xfrm rot="0">
            <a:off x="1042416" y="4240530"/>
            <a:ext cx="7735823" cy="788670"/>
            <a:chOff x="0" y="0"/>
            <a:chExt cx="10314432" cy="105156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How Starvation Occurs</a:t>
              </a:r>
              <a:endParaRPr/>
            </a:p>
          </p:txBody>
        </p:sp>
      </p:grpSp>
      <p:sp>
        <p:nvSpPr>
          <p:cNvPr id="2068564533" name="TextBox 24"/>
          <p:cNvSpPr txBox="1"/>
          <p:nvPr/>
        </p:nvSpPr>
        <p:spPr bwMode="auto">
          <a:xfrm rot="0">
            <a:off x="1133856" y="5013960"/>
            <a:ext cx="7552944" cy="417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Scheduler always picks the highest-priority thread first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High-priority threads continuously arrive in a stream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Low-priority thread is perpetually delayed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May never get CPU time — effectively frozen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Similar to a busy checkout aisle that never clears</a:t>
            </a:r>
            <a:endParaRPr/>
          </a:p>
        </p:txBody>
      </p:sp>
      <p:grpSp>
        <p:nvGrpSpPr>
          <p:cNvPr id="1426321842" name="Group 25"/>
          <p:cNvGrpSpPr/>
          <p:nvPr/>
        </p:nvGrpSpPr>
        <p:grpSpPr bwMode="auto">
          <a:xfrm rot="0">
            <a:off x="9326880" y="4114800"/>
            <a:ext cx="8229600" cy="5303520"/>
            <a:chOff x="0" y="0"/>
            <a:chExt cx="10972800" cy="70713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972800" cy="7071360"/>
            </a:xfrm>
            <a:custGeom>
              <a:avLst/>
              <a:gdLst/>
              <a:ahLst/>
              <a:cxnLst/>
              <a:rect l="l" t="t" r="r" b="b"/>
              <a:pathLst>
                <a:path w="10972800" h="707136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18681167" name="Group 27"/>
          <p:cNvGrpSpPr/>
          <p:nvPr/>
        </p:nvGrpSpPr>
        <p:grpSpPr bwMode="auto">
          <a:xfrm rot="0">
            <a:off x="9326880" y="4114800"/>
            <a:ext cx="128016" cy="5303520"/>
            <a:chOff x="0" y="0"/>
            <a:chExt cx="170688" cy="7071360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170688" cy="7071360"/>
            </a:xfrm>
            <a:custGeom>
              <a:avLst/>
              <a:gdLst/>
              <a:ahLst/>
              <a:cxnLst/>
              <a:rect l="l" t="t" r="r" b="b"/>
              <a:pathLst>
                <a:path w="170688" h="707136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814156451" name="Group 29"/>
          <p:cNvGrpSpPr/>
          <p:nvPr/>
        </p:nvGrpSpPr>
        <p:grpSpPr bwMode="auto">
          <a:xfrm rot="0">
            <a:off x="9637776" y="4297680"/>
            <a:ext cx="7735823" cy="731520"/>
            <a:chOff x="0" y="0"/>
            <a:chExt cx="10314432" cy="975360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549600693" name="Group 31"/>
          <p:cNvGrpSpPr/>
          <p:nvPr/>
        </p:nvGrpSpPr>
        <p:grpSpPr bwMode="auto">
          <a:xfrm rot="0">
            <a:off x="9637776" y="4240530"/>
            <a:ext cx="7735823" cy="788670"/>
            <a:chOff x="0" y="0"/>
            <a:chExt cx="10314432" cy="1051560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Prevention Strategies</a:t>
              </a:r>
              <a:endParaRPr/>
            </a:p>
          </p:txBody>
        </p:sp>
      </p:grpSp>
      <p:sp>
        <p:nvSpPr>
          <p:cNvPr id="767809028" name="TextBox 34"/>
          <p:cNvSpPr txBox="1"/>
          <p:nvPr/>
        </p:nvSpPr>
        <p:spPr bwMode="auto">
          <a:xfrm rot="0">
            <a:off x="9729215" y="5013960"/>
            <a:ext cx="7552944" cy="417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Aging: Gradually increase a thread's priority as it waits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Fair scheduling: Round Robin, Lottery scheduling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Priority ceiling / priority inheritance protocols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Ensure every thread eventually gets its turn on the CPU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189230" name="Group 2"/>
          <p:cNvGrpSpPr/>
          <p:nvPr/>
        </p:nvGrpSpPr>
        <p:grpSpPr bwMode="auto">
          <a:xfrm rot="0">
            <a:off x="2884370" y="965197"/>
            <a:ext cx="12519279" cy="8356568"/>
            <a:chOff x="0" y="0"/>
            <a:chExt cx="16692372" cy="11142091"/>
          </a:xfrm>
        </p:grpSpPr>
        <p:sp>
          <p:nvSpPr>
            <p:cNvPr id="3" name="Freeform 3" descr="A diagram of a group of people standing in line  AI-generated content may be incorrect."/>
            <p:cNvSpPr/>
            <p:nvPr/>
          </p:nvSpPr>
          <p:spPr bwMode="auto">
            <a:xfrm rot="0" flipH="0" flipV="0">
              <a:off x="0" y="0"/>
              <a:ext cx="16692372" cy="11142091"/>
            </a:xfrm>
            <a:custGeom>
              <a:avLst/>
              <a:gdLst/>
              <a:ahLst/>
              <a:cxnLst/>
              <a:rect l="l" t="t" r="r" b="b"/>
              <a:pathLst>
                <a:path w="16692372" h="11142091" fill="norm" stroke="1" extrusionOk="0">
                  <a:moveTo>
                    <a:pt x="0" y="0"/>
                  </a:moveTo>
                  <a:lnTo>
                    <a:pt x="16692372" y="0"/>
                  </a:lnTo>
                  <a:lnTo>
                    <a:pt x="16692372" y="11142091"/>
                  </a:lnTo>
                  <a:lnTo>
                    <a:pt x="0" y="11142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/>
              <a:stretch>
                <a:fillRect l="-85" t="0" r="-84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D2D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6268963" name="Group 2"/>
          <p:cNvGrpSpPr/>
          <p:nvPr/>
        </p:nvGrpSpPr>
        <p:grpSpPr bwMode="auto"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4384000" cy="195072"/>
            </a:xfrm>
            <a:custGeom>
              <a:avLst/>
              <a:gdLst/>
              <a:ahLst/>
              <a:cxnLst/>
              <a:rect l="l" t="t" r="r" b="b"/>
              <a:pathLst>
                <a:path w="24384000" h="195072" fill="norm" stroke="1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81179503" name="Group 4"/>
          <p:cNvGrpSpPr/>
          <p:nvPr/>
        </p:nvGrpSpPr>
        <p:grpSpPr bwMode="auto">
          <a:xfrm rot="0">
            <a:off x="11887200" y="914400"/>
            <a:ext cx="9144000" cy="9144000"/>
            <a:chOff x="0" y="0"/>
            <a:chExt cx="12192000" cy="1219200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 fill="norm" stroke="1" extrusionOk="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D4A96A">
                <a:alpha val="0"/>
              </a:srgbClr>
            </a:solidFill>
          </p:spPr>
        </p:sp>
      </p:grpSp>
      <p:grpSp>
        <p:nvGrpSpPr>
          <p:cNvPr id="2120532188" name="Group 6"/>
          <p:cNvGrpSpPr/>
          <p:nvPr/>
        </p:nvGrpSpPr>
        <p:grpSpPr bwMode="auto">
          <a:xfrm rot="0">
            <a:off x="1005840" y="2926080"/>
            <a:ext cx="10972800" cy="914400"/>
            <a:chOff x="0" y="0"/>
            <a:chExt cx="14630400" cy="12192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4630400" cy="1219200"/>
            </a:xfrm>
            <a:custGeom>
              <a:avLst/>
              <a:gdLst/>
              <a:ahLst/>
              <a:cxnLst/>
              <a:rect l="l" t="t" r="r" b="b"/>
              <a:pathLst>
                <a:path w="14630400" h="1219200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83658" r="0" b="-183657"/>
              </a:stretch>
            </a:blipFill>
          </p:spPr>
        </p:sp>
      </p:grpSp>
      <p:grpSp>
        <p:nvGrpSpPr>
          <p:cNvPr id="523314814" name="Group 8"/>
          <p:cNvGrpSpPr/>
          <p:nvPr/>
        </p:nvGrpSpPr>
        <p:grpSpPr bwMode="auto">
          <a:xfrm rot="0">
            <a:off x="1005840" y="2876074"/>
            <a:ext cx="10972800" cy="964406"/>
            <a:chOff x="0" y="0"/>
            <a:chExt cx="14630400" cy="1285875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4630400" cy="1285875"/>
            </a:xfrm>
            <a:custGeom>
              <a:avLst/>
              <a:gdLst/>
              <a:ahLst/>
              <a:cxnLst/>
              <a:rect l="l" t="t" r="r" b="b"/>
              <a:pathLst>
                <a:path w="14630400" h="1285875" fill="norm" stroke="1" extrusionOk="0">
                  <a:moveTo>
                    <a:pt x="0" y="0"/>
                  </a:moveTo>
                  <a:lnTo>
                    <a:pt x="14630400" y="0"/>
                  </a:lnTo>
                  <a:lnTo>
                    <a:pt x="14630400" y="1285875"/>
                  </a:lnTo>
                  <a:lnTo>
                    <a:pt x="0" y="12858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71696" r="0" b="-171696"/>
              </a:stretch>
            </a:blip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85725"/>
              <a:ext cx="146304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  <a:defRPr/>
              </a:pPr>
              <a:r>
                <a:rPr lang="en-US" sz="2800" spc="799">
                  <a:solidFill>
                    <a:srgbClr val="D4A96A"/>
                  </a:solidFill>
                  <a:latin typeface="Cooper Hewitt"/>
                  <a:ea typeface="Cooper Hewitt"/>
                  <a:cs typeface="Cooper Hewitt"/>
                </a:rPr>
                <a:t>PART 5</a:t>
              </a:r>
              <a:endParaRPr/>
            </a:p>
          </p:txBody>
        </p:sp>
      </p:grpSp>
      <p:grpSp>
        <p:nvGrpSpPr>
          <p:cNvPr id="1330000854" name="Group 11"/>
          <p:cNvGrpSpPr/>
          <p:nvPr/>
        </p:nvGrpSpPr>
        <p:grpSpPr bwMode="auto">
          <a:xfrm rot="0">
            <a:off x="1005840" y="3840480"/>
            <a:ext cx="13716000" cy="4023360"/>
            <a:chOff x="0" y="0"/>
            <a:chExt cx="18288000" cy="5364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288000" cy="5364480"/>
            </a:xfrm>
            <a:custGeom>
              <a:avLst/>
              <a:gdLst/>
              <a:ahLst/>
              <a:cxnLst/>
              <a:rect l="l" t="t" r="r" b="b"/>
              <a:pathLst>
                <a:path w="18288000" h="5364480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0"/>
                  </a:lnTo>
                  <a:lnTo>
                    <a:pt x="0" y="53644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6379" r="0" b="-16379"/>
              </a:stretch>
            </a:blipFill>
          </p:spPr>
        </p:sp>
      </p:grpSp>
      <p:grpSp>
        <p:nvGrpSpPr>
          <p:cNvPr id="1058667168" name="Group 13"/>
          <p:cNvGrpSpPr/>
          <p:nvPr/>
        </p:nvGrpSpPr>
        <p:grpSpPr bwMode="auto">
          <a:xfrm rot="0">
            <a:off x="1005840" y="3661886"/>
            <a:ext cx="13716000" cy="4201954"/>
            <a:chOff x="0" y="0"/>
            <a:chExt cx="18288000" cy="5602605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8288000" cy="5602605"/>
            </a:xfrm>
            <a:custGeom>
              <a:avLst/>
              <a:gdLst/>
              <a:ahLst/>
              <a:cxnLst/>
              <a:rect l="l" t="t" r="r" b="b"/>
              <a:pathLst>
                <a:path w="18288000" h="5602605" fill="norm" stroke="1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5602605"/>
                  </a:lnTo>
                  <a:lnTo>
                    <a:pt x="0" y="56026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3602" r="0" b="-13602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38125"/>
              <a:ext cx="18288000" cy="58407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Performance Strategy</a:t>
              </a:r>
              <a:endParaRPr/>
            </a:p>
            <a:p>
              <a:pPr algn="l">
                <a:lnSpc>
                  <a:spcPts val="9600"/>
                </a:lnSpc>
                <a:defRPr/>
              </a:pPr>
              <a:r>
                <a:rPr lang="en-US" sz="8000" b="1">
                  <a:solidFill>
                    <a:srgbClr val="FFFFFF"/>
                  </a:solidFill>
                  <a:latin typeface="Cooper Hewitt Bold"/>
                  <a:ea typeface="Cooper Hewitt Bold"/>
                  <a:cs typeface="Cooper Hewitt Bold"/>
                </a:rPr>
                <a:t>Amdahl's Law &amp; Load Balancing</a:t>
              </a:r>
              <a:endParaRPr/>
            </a:p>
          </p:txBody>
        </p:sp>
      </p:grpSp>
      <p:grpSp>
        <p:nvGrpSpPr>
          <p:cNvPr id="2069934061" name="Group 16"/>
          <p:cNvGrpSpPr/>
          <p:nvPr/>
        </p:nvGrpSpPr>
        <p:grpSpPr bwMode="auto">
          <a:xfrm rot="0">
            <a:off x="1005840" y="8961120"/>
            <a:ext cx="329184" cy="329184"/>
            <a:chOff x="0" y="0"/>
            <a:chExt cx="438912" cy="438912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998756883" name="Group 18"/>
          <p:cNvGrpSpPr/>
          <p:nvPr/>
        </p:nvGrpSpPr>
        <p:grpSpPr bwMode="auto">
          <a:xfrm rot="0">
            <a:off x="1645920" y="8961120"/>
            <a:ext cx="329184" cy="329184"/>
            <a:chOff x="0" y="0"/>
            <a:chExt cx="438912" cy="43891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  <p:grpSp>
        <p:nvGrpSpPr>
          <p:cNvPr id="1762758685" name="Group 20"/>
          <p:cNvGrpSpPr/>
          <p:nvPr/>
        </p:nvGrpSpPr>
        <p:grpSpPr bwMode="auto">
          <a:xfrm rot="0">
            <a:off x="2286000" y="8961120"/>
            <a:ext cx="329184" cy="329184"/>
            <a:chOff x="0" y="0"/>
            <a:chExt cx="438912" cy="438912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 fill="norm" stroke="1" extrusionOk="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888580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7137724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796509268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5.1 — Amdahl's Law</a:t>
              </a:r>
              <a:endParaRPr/>
            </a:p>
          </p:txBody>
        </p:sp>
      </p:grpSp>
      <p:grpSp>
        <p:nvGrpSpPr>
          <p:cNvPr id="299411193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02929874" name="Group 9"/>
          <p:cNvGrpSpPr/>
          <p:nvPr/>
        </p:nvGrpSpPr>
        <p:grpSpPr bwMode="auto">
          <a:xfrm rot="0">
            <a:off x="914400" y="2011680"/>
            <a:ext cx="16459200" cy="822960"/>
            <a:chOff x="0" y="0"/>
            <a:chExt cx="21945600" cy="109728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39429" r="0" b="-339430"/>
              </a:stretch>
            </a:blipFill>
          </p:spPr>
        </p:sp>
      </p:grpSp>
      <p:grpSp>
        <p:nvGrpSpPr>
          <p:cNvPr id="552865822" name="Group 11"/>
          <p:cNvGrpSpPr/>
          <p:nvPr/>
        </p:nvGrpSpPr>
        <p:grpSpPr bwMode="auto">
          <a:xfrm rot="0">
            <a:off x="914400" y="1954530"/>
            <a:ext cx="16459200" cy="880110"/>
            <a:chOff x="0" y="0"/>
            <a:chExt cx="21945600" cy="117348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173480"/>
            </a:xfrm>
            <a:custGeom>
              <a:avLst/>
              <a:gdLst/>
              <a:ahLst/>
              <a:cxnLst/>
              <a:rect l="l" t="t" r="r" b="b"/>
              <a:pathLst>
                <a:path w="21945600" h="11734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173480"/>
                  </a:lnTo>
                  <a:lnTo>
                    <a:pt x="0" y="11734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24968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Defines the theoretical limit of speedup when a program is parallelized. The serial portion always creates a bottleneck.</a:t>
              </a:r>
              <a:endParaRPr/>
            </a:p>
          </p:txBody>
        </p:sp>
      </p:grpSp>
      <p:grpSp>
        <p:nvGrpSpPr>
          <p:cNvPr id="1190108317" name="Group 14"/>
          <p:cNvGrpSpPr/>
          <p:nvPr/>
        </p:nvGrpSpPr>
        <p:grpSpPr bwMode="auto">
          <a:xfrm rot="0">
            <a:off x="731520" y="3017519"/>
            <a:ext cx="16824960" cy="2194560"/>
            <a:chOff x="0" y="0"/>
            <a:chExt cx="22433280" cy="292608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22433280" cy="2926080"/>
            </a:xfrm>
            <a:custGeom>
              <a:avLst/>
              <a:gdLst/>
              <a:ahLst/>
              <a:cxnLst/>
              <a:rect l="l" t="t" r="r" b="b"/>
              <a:pathLst>
                <a:path w="22433280" h="2926080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id="1658288878" name="Group 16"/>
          <p:cNvGrpSpPr/>
          <p:nvPr/>
        </p:nvGrpSpPr>
        <p:grpSpPr bwMode="auto">
          <a:xfrm rot="0">
            <a:off x="914400" y="3145536"/>
            <a:ext cx="16459200" cy="1188720"/>
            <a:chOff x="0" y="0"/>
            <a:chExt cx="21945600" cy="158496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id="316448348" name="Group 18"/>
          <p:cNvGrpSpPr/>
          <p:nvPr/>
        </p:nvGrpSpPr>
        <p:grpSpPr bwMode="auto">
          <a:xfrm rot="0">
            <a:off x="914400" y="3088386"/>
            <a:ext cx="16459200" cy="1245870"/>
            <a:chOff x="0" y="0"/>
            <a:chExt cx="21945600" cy="16611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21945600" cy="1661160"/>
            </a:xfrm>
            <a:custGeom>
              <a:avLst/>
              <a:gdLst/>
              <a:ahLst/>
              <a:cxnLst/>
              <a:rect l="l" t="t" r="r" b="b"/>
              <a:pathLst>
                <a:path w="21945600" h="166116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661160"/>
                  </a:lnTo>
                  <a:lnTo>
                    <a:pt x="0" y="16611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07417" r="0" b="-207417"/>
              </a:stretch>
            </a:blip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76200"/>
              <a:ext cx="21945600" cy="17373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  <a:defRPr/>
              </a:pPr>
              <a:r>
                <a:rPr lang="en-US" sz="4400" b="1">
                  <a:solidFill>
                    <a:srgbClr val="D4A96A"/>
                  </a:solidFill>
                  <a:latin typeface="Consolas Bold"/>
                  <a:ea typeface="Consolas Bold"/>
                  <a:cs typeface="Consolas Bold"/>
                </a:rPr>
                <a:t>Speedup  =  1 ÷ [ (1 − P)  +  (P ÷ N) ]</a:t>
              </a:r>
              <a:endParaRPr/>
            </a:p>
          </p:txBody>
        </p:sp>
      </p:grpSp>
      <p:grpSp>
        <p:nvGrpSpPr>
          <p:cNvPr id="577519561" name="Group 21"/>
          <p:cNvGrpSpPr/>
          <p:nvPr/>
        </p:nvGrpSpPr>
        <p:grpSpPr bwMode="auto">
          <a:xfrm rot="0">
            <a:off x="914400" y="4352544"/>
            <a:ext cx="16459200" cy="694944"/>
            <a:chOff x="0" y="0"/>
            <a:chExt cx="21945600" cy="926592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11166" r="0" b="-411167"/>
              </a:stretch>
            </a:blipFill>
          </p:spPr>
        </p:sp>
      </p:grpSp>
      <p:grpSp>
        <p:nvGrpSpPr>
          <p:cNvPr id="385810167" name="Group 23"/>
          <p:cNvGrpSpPr/>
          <p:nvPr/>
        </p:nvGrpSpPr>
        <p:grpSpPr bwMode="auto">
          <a:xfrm rot="0">
            <a:off x="914400" y="4295394"/>
            <a:ext cx="16459200" cy="752094"/>
            <a:chOff x="0" y="0"/>
            <a:chExt cx="21945600" cy="1002792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21945600" cy="1002792"/>
            </a:xfrm>
            <a:custGeom>
              <a:avLst/>
              <a:gdLst/>
              <a:ahLst/>
              <a:cxnLst/>
              <a:rect l="l" t="t" r="r" b="b"/>
              <a:pathLst>
                <a:path w="21945600" h="1002792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002792"/>
                  </a:lnTo>
                  <a:lnTo>
                    <a:pt x="0" y="100279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376420" r="0" b="-376420"/>
              </a:stretch>
            </a:blip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76200"/>
              <a:ext cx="21945600" cy="107899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  <a:defRPr/>
              </a:pPr>
              <a:r>
                <a:rPr lang="en-US" sz="2400">
                  <a:solidFill>
                    <a:srgbClr val="FFFFFF"/>
                  </a:solidFill>
                  <a:latin typeface="Cooper Hewitt"/>
                  <a:ea typeface="Cooper Hewitt"/>
                  <a:cs typeface="Cooper Hewitt"/>
                </a:rPr>
                <a:t>P = fraction parallelizable   ·   N = number of cores</a:t>
              </a:r>
              <a:endParaRPr/>
            </a:p>
          </p:txBody>
        </p:sp>
      </p:grpSp>
      <p:grpSp>
        <p:nvGrpSpPr>
          <p:cNvPr id="903150295" name="Group 26"/>
          <p:cNvGrpSpPr/>
          <p:nvPr/>
        </p:nvGrpSpPr>
        <p:grpSpPr bwMode="auto">
          <a:xfrm rot="0">
            <a:off x="731520" y="5486400"/>
            <a:ext cx="8229600" cy="4206240"/>
            <a:chOff x="0" y="0"/>
            <a:chExt cx="10972800" cy="560832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0972800" cy="5608320"/>
            </a:xfrm>
            <a:custGeom>
              <a:avLst/>
              <a:gdLst/>
              <a:ahLst/>
              <a:cxnLst/>
              <a:rect l="l" t="t" r="r" b="b"/>
              <a:pathLst>
                <a:path w="10972800" h="560832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22749051" name="Group 28"/>
          <p:cNvGrpSpPr/>
          <p:nvPr/>
        </p:nvGrpSpPr>
        <p:grpSpPr bwMode="auto">
          <a:xfrm rot="0">
            <a:off x="731520" y="5486400"/>
            <a:ext cx="128016" cy="4206240"/>
            <a:chOff x="0" y="0"/>
            <a:chExt cx="170688" cy="560832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70688" cy="5608320"/>
            </a:xfrm>
            <a:custGeom>
              <a:avLst/>
              <a:gdLst/>
              <a:ahLst/>
              <a:cxnLst/>
              <a:rect l="l" t="t" r="r" b="b"/>
              <a:pathLst>
                <a:path w="170688" h="560832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814627469" name="Group 30"/>
          <p:cNvGrpSpPr/>
          <p:nvPr/>
        </p:nvGrpSpPr>
        <p:grpSpPr bwMode="auto">
          <a:xfrm rot="0">
            <a:off x="1042416" y="5669280"/>
            <a:ext cx="7735823" cy="731520"/>
            <a:chOff x="0" y="0"/>
            <a:chExt cx="10314432" cy="9753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345334181" name="Group 32"/>
          <p:cNvGrpSpPr/>
          <p:nvPr/>
        </p:nvGrpSpPr>
        <p:grpSpPr bwMode="auto">
          <a:xfrm rot="0">
            <a:off x="1042416" y="5612130"/>
            <a:ext cx="7735823" cy="788670"/>
            <a:chOff x="0" y="0"/>
            <a:chExt cx="10314432" cy="1051560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⚠️ Key Insight</a:t>
              </a:r>
              <a:endParaRPr/>
            </a:p>
          </p:txBody>
        </p:sp>
      </p:grpSp>
      <p:sp>
        <p:nvSpPr>
          <p:cNvPr id="1964125220" name="TextBox 35"/>
          <p:cNvSpPr txBox="1"/>
          <p:nvPr/>
        </p:nvSpPr>
        <p:spPr bwMode="auto">
          <a:xfrm rot="0">
            <a:off x="1133856" y="6385560"/>
            <a:ext cx="7552944" cy="307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The serial portion of a program is a hard bottleneck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This limits max speedup regardless of core count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Example: 50% serial program → max 2× speedup ever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Even with infinite cores, serial code must run sequentially</a:t>
            </a:r>
            <a:endParaRPr/>
          </a:p>
        </p:txBody>
      </p:sp>
      <p:grpSp>
        <p:nvGrpSpPr>
          <p:cNvPr id="1161560355" name="Group 36"/>
          <p:cNvGrpSpPr/>
          <p:nvPr/>
        </p:nvGrpSpPr>
        <p:grpSpPr bwMode="auto">
          <a:xfrm rot="0">
            <a:off x="9326880" y="5486400"/>
            <a:ext cx="8229600" cy="4206240"/>
            <a:chOff x="0" y="0"/>
            <a:chExt cx="10972800" cy="5608320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10972800" cy="5608320"/>
            </a:xfrm>
            <a:custGeom>
              <a:avLst/>
              <a:gdLst/>
              <a:ahLst/>
              <a:cxnLst/>
              <a:rect l="l" t="t" r="r" b="b"/>
              <a:pathLst>
                <a:path w="10972800" h="560832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13181735" name="Group 38"/>
          <p:cNvGrpSpPr/>
          <p:nvPr/>
        </p:nvGrpSpPr>
        <p:grpSpPr bwMode="auto">
          <a:xfrm rot="0">
            <a:off x="9326880" y="5486400"/>
            <a:ext cx="128016" cy="4206240"/>
            <a:chOff x="0" y="0"/>
            <a:chExt cx="170688" cy="5608320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170688" cy="5608320"/>
            </a:xfrm>
            <a:custGeom>
              <a:avLst/>
              <a:gdLst/>
              <a:ahLst/>
              <a:cxnLst/>
              <a:rect l="l" t="t" r="r" b="b"/>
              <a:pathLst>
                <a:path w="170688" h="560832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15116936" name="Group 40"/>
          <p:cNvGrpSpPr/>
          <p:nvPr/>
        </p:nvGrpSpPr>
        <p:grpSpPr bwMode="auto">
          <a:xfrm rot="0">
            <a:off x="9637776" y="5669280"/>
            <a:ext cx="7735823" cy="731520"/>
            <a:chOff x="0" y="0"/>
            <a:chExt cx="10314432" cy="975360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521220422" name="Group 42"/>
          <p:cNvGrpSpPr/>
          <p:nvPr/>
        </p:nvGrpSpPr>
        <p:grpSpPr bwMode="auto">
          <a:xfrm rot="0">
            <a:off x="9637776" y="5612130"/>
            <a:ext cx="7735823" cy="788670"/>
            <a:chOff x="0" y="0"/>
            <a:chExt cx="10314432" cy="1051560"/>
          </a:xfrm>
        </p:grpSpPr>
        <p:sp>
          <p:nvSpPr>
            <p:cNvPr id="43" name="Freeform 43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44" name="TextBox 44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✅ Conclusion</a:t>
              </a:r>
              <a:endParaRPr/>
            </a:p>
          </p:txBody>
        </p:sp>
      </p:grpSp>
      <p:sp>
        <p:nvSpPr>
          <p:cNvPr id="786243547" name="TextBox 45"/>
          <p:cNvSpPr txBox="1"/>
          <p:nvPr/>
        </p:nvSpPr>
        <p:spPr bwMode="auto">
          <a:xfrm rot="0">
            <a:off x="9729215" y="6385560"/>
            <a:ext cx="7552944" cy="307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Adding cores only helps up to a limit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The more serial the program, the lower the benefit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To gain real speedup, minimize serial code sections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Parallelism requires algorithm-level design thinking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060595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023187338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5.2 — Load Balancing</a:t>
              </a:r>
              <a:endParaRPr/>
            </a:p>
          </p:txBody>
        </p:sp>
      </p:grpSp>
      <p:grpSp>
        <p:nvGrpSpPr>
          <p:cNvPr id="1478694165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733033928" name="Group 9"/>
          <p:cNvGrpSpPr/>
          <p:nvPr/>
        </p:nvGrpSpPr>
        <p:grpSpPr bwMode="auto">
          <a:xfrm rot="0">
            <a:off x="914400" y="2011680"/>
            <a:ext cx="16459200" cy="914400"/>
            <a:chOff x="0" y="0"/>
            <a:chExt cx="21945600" cy="12192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300486" r="0" b="-300487"/>
              </a:stretch>
            </a:blipFill>
          </p:spPr>
        </p:sp>
      </p:grpSp>
      <p:grpSp>
        <p:nvGrpSpPr>
          <p:cNvPr id="972838400" name="Group 11"/>
          <p:cNvGrpSpPr/>
          <p:nvPr/>
        </p:nvGrpSpPr>
        <p:grpSpPr bwMode="auto">
          <a:xfrm rot="0">
            <a:off x="914400" y="1954530"/>
            <a:ext cx="16459200" cy="971550"/>
            <a:chOff x="0" y="0"/>
            <a:chExt cx="21945600" cy="129540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21945600" cy="1295400"/>
            </a:xfrm>
            <a:custGeom>
              <a:avLst/>
              <a:gdLst/>
              <a:ahLst/>
              <a:cxnLst/>
              <a:rect l="l" t="t" r="r" b="b"/>
              <a:pathLst>
                <a:path w="21945600" h="12954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295400"/>
                  </a:lnTo>
                  <a:lnTo>
                    <a:pt x="0" y="1295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0099" r="0" b="-280099"/>
              </a:stretch>
            </a:blip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76200"/>
              <a:ext cx="21945600" cy="137160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  <a:defRPr/>
              </a:pPr>
              <a:r>
                <a:rPr lang="en-US" sz="27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Load balancing distributes tasks evenly across all processing units to maximize resource utilization and minimize execution time.</a:t>
              </a:r>
              <a:endParaRPr/>
            </a:p>
          </p:txBody>
        </p:sp>
      </p:grpSp>
      <p:grpSp>
        <p:nvGrpSpPr>
          <p:cNvPr id="2024811451" name="Group 14"/>
          <p:cNvGrpSpPr/>
          <p:nvPr/>
        </p:nvGrpSpPr>
        <p:grpSpPr bwMode="auto">
          <a:xfrm rot="0">
            <a:off x="731520" y="3108960"/>
            <a:ext cx="8229600" cy="3840480"/>
            <a:chOff x="0" y="0"/>
            <a:chExt cx="10972800" cy="512064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10972800" cy="5120640"/>
            </a:xfrm>
            <a:custGeom>
              <a:avLst/>
              <a:gdLst/>
              <a:ahLst/>
              <a:cxnLst/>
              <a:rect l="l" t="t" r="r" b="b"/>
              <a:pathLst>
                <a:path w="10972800" h="51206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92994258" name="Group 16"/>
          <p:cNvGrpSpPr/>
          <p:nvPr/>
        </p:nvGrpSpPr>
        <p:grpSpPr bwMode="auto">
          <a:xfrm rot="0">
            <a:off x="731520" y="3108960"/>
            <a:ext cx="128016" cy="3840480"/>
            <a:chOff x="0" y="0"/>
            <a:chExt cx="170688" cy="512064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70688" cy="5120640"/>
            </a:xfrm>
            <a:custGeom>
              <a:avLst/>
              <a:gdLst/>
              <a:ahLst/>
              <a:cxnLst/>
              <a:rect l="l" t="t" r="r" b="b"/>
              <a:pathLst>
                <a:path w="170688" h="51206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812107127" name="Group 18"/>
          <p:cNvGrpSpPr/>
          <p:nvPr/>
        </p:nvGrpSpPr>
        <p:grpSpPr bwMode="auto">
          <a:xfrm rot="0">
            <a:off x="1042416" y="3291840"/>
            <a:ext cx="7735823" cy="731520"/>
            <a:chOff x="0" y="0"/>
            <a:chExt cx="10314432" cy="97536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323612758" name="Group 20"/>
          <p:cNvGrpSpPr/>
          <p:nvPr/>
        </p:nvGrpSpPr>
        <p:grpSpPr bwMode="auto">
          <a:xfrm rot="0">
            <a:off x="1042416" y="3234690"/>
            <a:ext cx="7735823" cy="788670"/>
            <a:chOff x="0" y="0"/>
            <a:chExt cx="10314432" cy="105156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Role of the OS Scheduler</a:t>
              </a:r>
              <a:endParaRPr/>
            </a:p>
          </p:txBody>
        </p:sp>
      </p:grpSp>
      <p:sp>
        <p:nvSpPr>
          <p:cNvPr id="1025392087" name="TextBox 23"/>
          <p:cNvSpPr txBox="1"/>
          <p:nvPr/>
        </p:nvSpPr>
        <p:spPr bwMode="auto">
          <a:xfrm rot="0">
            <a:off x="1133856" y="4008120"/>
            <a:ext cx="7552944" cy="271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Assigns processes or threads to specific CPU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Ensures no single core is overloaded while others are idle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Dynamically adjusts task distribution during execution</a:t>
            </a:r>
            <a:endParaRPr/>
          </a:p>
        </p:txBody>
      </p:sp>
      <p:grpSp>
        <p:nvGrpSpPr>
          <p:cNvPr id="1370745574" name="Group 24"/>
          <p:cNvGrpSpPr/>
          <p:nvPr/>
        </p:nvGrpSpPr>
        <p:grpSpPr bwMode="auto">
          <a:xfrm rot="0">
            <a:off x="9326880" y="3108960"/>
            <a:ext cx="8229600" cy="3840480"/>
            <a:chOff x="0" y="0"/>
            <a:chExt cx="10972800" cy="5120640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0972800" cy="5120640"/>
            </a:xfrm>
            <a:custGeom>
              <a:avLst/>
              <a:gdLst/>
              <a:ahLst/>
              <a:cxnLst/>
              <a:rect l="l" t="t" r="r" b="b"/>
              <a:pathLst>
                <a:path w="10972800" h="51206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71877304" name="Group 26"/>
          <p:cNvGrpSpPr/>
          <p:nvPr/>
        </p:nvGrpSpPr>
        <p:grpSpPr bwMode="auto">
          <a:xfrm rot="0">
            <a:off x="9326880" y="3108960"/>
            <a:ext cx="128016" cy="3840480"/>
            <a:chOff x="0" y="0"/>
            <a:chExt cx="170688" cy="5120640"/>
          </a:xfrm>
        </p:grpSpPr>
        <p:sp>
          <p:nvSpPr>
            <p:cNvPr id="27" name="Freeform 27"/>
            <p:cNvSpPr/>
            <p:nvPr/>
          </p:nvSpPr>
          <p:spPr bwMode="auto">
            <a:xfrm rot="0" flipH="0" flipV="0">
              <a:off x="0" y="0"/>
              <a:ext cx="170688" cy="5120640"/>
            </a:xfrm>
            <a:custGeom>
              <a:avLst/>
              <a:gdLst/>
              <a:ahLst/>
              <a:cxnLst/>
              <a:rect l="l" t="t" r="r" b="b"/>
              <a:pathLst>
                <a:path w="170688" h="51206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847867305" name="Group 28"/>
          <p:cNvGrpSpPr/>
          <p:nvPr/>
        </p:nvGrpSpPr>
        <p:grpSpPr bwMode="auto">
          <a:xfrm rot="0">
            <a:off x="9637776" y="3291840"/>
            <a:ext cx="7735823" cy="731520"/>
            <a:chOff x="0" y="0"/>
            <a:chExt cx="10314432" cy="975360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725309455" name="Group 30"/>
          <p:cNvGrpSpPr/>
          <p:nvPr/>
        </p:nvGrpSpPr>
        <p:grpSpPr bwMode="auto">
          <a:xfrm rot="0">
            <a:off x="9637776" y="3234690"/>
            <a:ext cx="7735823" cy="788670"/>
            <a:chOff x="0" y="0"/>
            <a:chExt cx="10314432" cy="1051560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Objective</a:t>
              </a:r>
              <a:endParaRPr/>
            </a:p>
          </p:txBody>
        </p:sp>
      </p:grpSp>
      <p:sp>
        <p:nvSpPr>
          <p:cNvPr id="306489165" name="TextBox 33"/>
          <p:cNvSpPr txBox="1"/>
          <p:nvPr/>
        </p:nvSpPr>
        <p:spPr bwMode="auto">
          <a:xfrm rot="0">
            <a:off x="9729215" y="4008120"/>
            <a:ext cx="7552944" cy="271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Achieve efficient utilization of ALL available cores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Reduce idle time and prevent performance bottlenecks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Maximize overall throughput of the entire system</a:t>
            </a:r>
            <a:endParaRPr/>
          </a:p>
        </p:txBody>
      </p:sp>
      <p:grpSp>
        <p:nvGrpSpPr>
          <p:cNvPr id="1879655588" name="Group 34"/>
          <p:cNvGrpSpPr/>
          <p:nvPr/>
        </p:nvGrpSpPr>
        <p:grpSpPr bwMode="auto">
          <a:xfrm rot="0">
            <a:off x="731520" y="7223760"/>
            <a:ext cx="16824960" cy="2377440"/>
            <a:chOff x="0" y="0"/>
            <a:chExt cx="22433280" cy="3169920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22433280" cy="3169920"/>
            </a:xfrm>
            <a:custGeom>
              <a:avLst/>
              <a:gdLst/>
              <a:ahLst/>
              <a:cxnLst/>
              <a:rect l="l" t="t" r="r" b="b"/>
              <a:pathLst>
                <a:path w="22433280" h="3169920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42974817" name="Group 36"/>
          <p:cNvGrpSpPr/>
          <p:nvPr/>
        </p:nvGrpSpPr>
        <p:grpSpPr bwMode="auto">
          <a:xfrm rot="0">
            <a:off x="731520" y="7223760"/>
            <a:ext cx="128016" cy="2377440"/>
            <a:chOff x="0" y="0"/>
            <a:chExt cx="170688" cy="3169920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170688" cy="3169920"/>
            </a:xfrm>
            <a:custGeom>
              <a:avLst/>
              <a:gdLst/>
              <a:ahLst/>
              <a:cxnLst/>
              <a:rect l="l" t="t" r="r" b="b"/>
              <a:pathLst>
                <a:path w="170688" h="316992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825299447" name="Group 38"/>
          <p:cNvGrpSpPr/>
          <p:nvPr/>
        </p:nvGrpSpPr>
        <p:grpSpPr bwMode="auto">
          <a:xfrm rot="0">
            <a:off x="1097280" y="7351776"/>
            <a:ext cx="16459200" cy="2103120"/>
            <a:chOff x="0" y="0"/>
            <a:chExt cx="21945600" cy="2804160"/>
          </a:xfrm>
        </p:grpSpPr>
        <p:sp>
          <p:nvSpPr>
            <p:cNvPr id="39" name="Freeform 39"/>
            <p:cNvSpPr/>
            <p:nvPr/>
          </p:nvSpPr>
          <p:spPr bwMode="auto">
            <a:xfrm rot="0" flipH="0" flipV="0">
              <a:off x="0" y="0"/>
              <a:ext cx="21945600" cy="2804160"/>
            </a:xfrm>
            <a:custGeom>
              <a:avLst/>
              <a:gdLst/>
              <a:ahLst/>
              <a:cxnLst/>
              <a:rect l="l" t="t" r="r" b="b"/>
              <a:pathLst>
                <a:path w="21945600" h="280416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804160"/>
                  </a:lnTo>
                  <a:lnTo>
                    <a:pt x="0" y="2804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02385" r="0" b="-102384"/>
              </a:stretch>
            </a:blipFill>
          </p:spPr>
        </p:sp>
      </p:grpSp>
      <p:grpSp>
        <p:nvGrpSpPr>
          <p:cNvPr id="1770106730" name="Group 40"/>
          <p:cNvGrpSpPr/>
          <p:nvPr/>
        </p:nvGrpSpPr>
        <p:grpSpPr bwMode="auto">
          <a:xfrm rot="0">
            <a:off x="1097280" y="7294626"/>
            <a:ext cx="16459200" cy="2160270"/>
            <a:chOff x="0" y="0"/>
            <a:chExt cx="21945600" cy="2880360"/>
          </a:xfrm>
        </p:grpSpPr>
        <p:sp>
          <p:nvSpPr>
            <p:cNvPr id="41" name="Freeform 41"/>
            <p:cNvSpPr/>
            <p:nvPr/>
          </p:nvSpPr>
          <p:spPr bwMode="auto">
            <a:xfrm rot="0" flipH="0" flipV="0">
              <a:off x="0" y="0"/>
              <a:ext cx="21945600" cy="2880360"/>
            </a:xfrm>
            <a:custGeom>
              <a:avLst/>
              <a:gdLst/>
              <a:ahLst/>
              <a:cxnLst/>
              <a:rect l="l" t="t" r="r" b="b"/>
              <a:pathLst>
                <a:path w="21945600" h="288036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880360"/>
                  </a:lnTo>
                  <a:lnTo>
                    <a:pt x="0" y="28803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0" y="-76200"/>
              <a:ext cx="21945600" cy="29565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Example (4-core system):</a:t>
              </a:r>
              <a:endParaRPr/>
            </a:p>
            <a:p>
              <a:pPr algn="l">
                <a:lnSpc>
                  <a:spcPts val="2999"/>
                </a:lnSpc>
                <a:defRPr/>
              </a:pPr>
              <a:endParaRPr lang="en-US" sz="2600" b="1">
                <a:solidFill>
                  <a:srgbClr val="2D2D2D"/>
                </a:solidFill>
                <a:latin typeface="Cooper Hewitt Bold"/>
                <a:ea typeface="Cooper Hewitt Bold"/>
                <a:cs typeface="Cooper Hewitt Bold"/>
              </a:endParaRPr>
            </a:p>
            <a:p>
              <a:pPr algn="l">
                <a:lnSpc>
                  <a:spcPts val="2999"/>
                </a:lnSpc>
                <a:defRPr/>
              </a:pPr>
              <a:r>
                <a:rPr lang="en-US" sz="25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❌ Poor: </a:t>
              </a:r>
              <a:r>
                <a:rPr lang="en-US" sz="2500">
                  <a:solidFill>
                    <a:srgbClr val="2D2D2D"/>
                  </a:solidFill>
                  <a:latin typeface="Cooper Hewitt"/>
                  <a:ea typeface="Cooper Hewitt"/>
                  <a:cs typeface="Cooper Hewitt"/>
                </a:rPr>
                <a:t>Core 1 at 100% load · Cores 2, 3, 4 idle   </a:t>
              </a:r>
              <a:r>
                <a:rPr lang="en-US" sz="25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✅ Good: </a:t>
              </a:r>
              <a:r>
                <a:rPr lang="en-US" sz="2500">
                  <a:solidFill>
                    <a:srgbClr val="2D2D2D"/>
                  </a:solidFill>
                  <a:latin typeface="Cooper Hewitt"/>
                  <a:ea typeface="Cooper Hewitt"/>
                  <a:cs typeface="Cooper Hewitt"/>
                </a:rPr>
                <a:t>All 4 cores share the workload evenly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7685021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1747052225" name="Group 4"/>
          <p:cNvGrpSpPr/>
          <p:nvPr/>
        </p:nvGrpSpPr>
        <p:grpSpPr bwMode="auto">
          <a:xfrm rot="0">
            <a:off x="914400" y="295180"/>
            <a:ext cx="16459200" cy="1387316"/>
            <a:chOff x="0" y="0"/>
            <a:chExt cx="21945600" cy="1849755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49755"/>
            </a:xfrm>
            <a:custGeom>
              <a:avLst/>
              <a:gdLst/>
              <a:ahLst/>
              <a:cxnLst/>
              <a:rect l="l" t="t" r="r" b="b"/>
              <a:pathLst>
                <a:path w="21945600" h="1849755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49755"/>
                  </a:lnTo>
                  <a:lnTo>
                    <a:pt x="0" y="184975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81171" r="0" b="-181171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42875"/>
              <a:ext cx="21945600" cy="199263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  <a:defRPr/>
              </a:pPr>
              <a:r>
                <a:rPr lang="en-US" sz="52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5.3 — Multi-Processing vs Multi-Threading</a:t>
              </a:r>
              <a:endParaRPr/>
            </a:p>
          </p:txBody>
        </p:sp>
      </p:grpSp>
      <p:grpSp>
        <p:nvGrpSpPr>
          <p:cNvPr id="363042116" name="Group 7"/>
          <p:cNvGrpSpPr/>
          <p:nvPr/>
        </p:nvGrpSpPr>
        <p:grpSpPr bwMode="auto">
          <a:xfrm rot="0">
            <a:off x="914400" y="1737360"/>
            <a:ext cx="2194560" cy="100584"/>
            <a:chOff x="0" y="0"/>
            <a:chExt cx="292608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926080" cy="134112"/>
            </a:xfrm>
            <a:custGeom>
              <a:avLst/>
              <a:gdLst/>
              <a:ahLst/>
              <a:cxnLst/>
              <a:rect l="l" t="t" r="r" b="b"/>
              <a:pathLst>
                <a:path w="2926080" h="134112" fill="norm" stroke="1" extrusionOk="0">
                  <a:moveTo>
                    <a:pt x="0" y="0"/>
                  </a:moveTo>
                  <a:lnTo>
                    <a:pt x="2926080" y="0"/>
                  </a:lnTo>
                  <a:lnTo>
                    <a:pt x="29260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114059387" name="Group 9"/>
          <p:cNvGrpSpPr/>
          <p:nvPr/>
        </p:nvGrpSpPr>
        <p:grpSpPr bwMode="auto">
          <a:xfrm rot="0">
            <a:off x="731520" y="2194560"/>
            <a:ext cx="8229600" cy="7498080"/>
            <a:chOff x="0" y="0"/>
            <a:chExt cx="10972800" cy="999744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86161444" name="Group 11"/>
          <p:cNvGrpSpPr/>
          <p:nvPr/>
        </p:nvGrpSpPr>
        <p:grpSpPr bwMode="auto">
          <a:xfrm rot="0">
            <a:off x="731520" y="2194560"/>
            <a:ext cx="128016" cy="7498080"/>
            <a:chOff x="0" y="0"/>
            <a:chExt cx="170688" cy="999744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463310871" name="Group 13"/>
          <p:cNvGrpSpPr/>
          <p:nvPr/>
        </p:nvGrpSpPr>
        <p:grpSpPr bwMode="auto">
          <a:xfrm rot="0">
            <a:off x="1042416" y="2377440"/>
            <a:ext cx="7735823" cy="731520"/>
            <a:chOff x="0" y="0"/>
            <a:chExt cx="10314432" cy="97536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1174469726" name="Group 15"/>
          <p:cNvGrpSpPr/>
          <p:nvPr/>
        </p:nvGrpSpPr>
        <p:grpSpPr bwMode="auto">
          <a:xfrm rot="0">
            <a:off x="1042416" y="2320290"/>
            <a:ext cx="7735823" cy="788670"/>
            <a:chOff x="0" y="0"/>
            <a:chExt cx="10314432" cy="105156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Multi-Processing</a:t>
              </a:r>
              <a:endParaRPr/>
            </a:p>
          </p:txBody>
        </p:sp>
      </p:grpSp>
      <p:sp>
        <p:nvSpPr>
          <p:cNvPr id="1314021357" name="TextBox 18"/>
          <p:cNvSpPr txBox="1"/>
          <p:nvPr/>
        </p:nvSpPr>
        <p:spPr bwMode="auto">
          <a:xfrm rot="0">
            <a:off x="1133856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Multiple independent processes, each with its own memory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Processes are fully isolated from each other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Communication requires IPC (Inter-Process Communication) — costly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More robust and fault-tolerant (one crash doesn't affect others)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Suitable for: heavy independent tasks, high-reliability systems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Examples: Web servers handling requests, browser tabs</a:t>
            </a:r>
            <a:endParaRPr/>
          </a:p>
        </p:txBody>
      </p:sp>
      <p:grpSp>
        <p:nvGrpSpPr>
          <p:cNvPr id="1921921480" name="Group 19"/>
          <p:cNvGrpSpPr/>
          <p:nvPr/>
        </p:nvGrpSpPr>
        <p:grpSpPr bwMode="auto">
          <a:xfrm rot="0">
            <a:off x="9326880" y="2194560"/>
            <a:ext cx="8229600" cy="7498080"/>
            <a:chOff x="0" y="0"/>
            <a:chExt cx="10972800" cy="9997440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0972800" cy="9997440"/>
            </a:xfrm>
            <a:custGeom>
              <a:avLst/>
              <a:gdLst/>
              <a:ahLst/>
              <a:cxnLst/>
              <a:rect l="l" t="t" r="r" b="b"/>
              <a:pathLst>
                <a:path w="10972800" h="9997440" fill="norm" stroke="1" extrusionOk="0">
                  <a:moveTo>
                    <a:pt x="0" y="0"/>
                  </a:moveTo>
                  <a:lnTo>
                    <a:pt x="10972800" y="0"/>
                  </a:lnTo>
                  <a:lnTo>
                    <a:pt x="109728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22476161" name="Group 21"/>
          <p:cNvGrpSpPr/>
          <p:nvPr/>
        </p:nvGrpSpPr>
        <p:grpSpPr bwMode="auto">
          <a:xfrm rot="0">
            <a:off x="9326880" y="2194560"/>
            <a:ext cx="128016" cy="7498080"/>
            <a:chOff x="0" y="0"/>
            <a:chExt cx="170688" cy="999744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170688" cy="9997440"/>
            </a:xfrm>
            <a:custGeom>
              <a:avLst/>
              <a:gdLst/>
              <a:ahLst/>
              <a:cxnLst/>
              <a:rect l="l" t="t" r="r" b="b"/>
              <a:pathLst>
                <a:path w="170688" h="9997440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517870639" name="Group 23"/>
          <p:cNvGrpSpPr/>
          <p:nvPr/>
        </p:nvGrpSpPr>
        <p:grpSpPr bwMode="auto">
          <a:xfrm rot="0">
            <a:off x="9637776" y="2377440"/>
            <a:ext cx="7735823" cy="731520"/>
            <a:chOff x="0" y="0"/>
            <a:chExt cx="10314432" cy="97536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0314432" cy="975360"/>
            </a:xfrm>
            <a:custGeom>
              <a:avLst/>
              <a:gdLst/>
              <a:ahLst/>
              <a:cxnLst/>
              <a:rect l="l" t="t" r="r" b="b"/>
              <a:pathLst>
                <a:path w="10314432" h="9753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55911" r="0" b="-155910"/>
              </a:stretch>
            </a:blipFill>
          </p:spPr>
        </p:sp>
      </p:grpSp>
      <p:grpSp>
        <p:nvGrpSpPr>
          <p:cNvPr id="943536032" name="Group 25"/>
          <p:cNvGrpSpPr/>
          <p:nvPr/>
        </p:nvGrpSpPr>
        <p:grpSpPr bwMode="auto">
          <a:xfrm rot="0">
            <a:off x="9637776" y="2320290"/>
            <a:ext cx="7735823" cy="788670"/>
            <a:chOff x="0" y="0"/>
            <a:chExt cx="10314432" cy="1051560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0314432" cy="1051560"/>
            </a:xfrm>
            <a:custGeom>
              <a:avLst/>
              <a:gdLst/>
              <a:ahLst/>
              <a:cxnLst/>
              <a:rect l="l" t="t" r="r" b="b"/>
              <a:pathLst>
                <a:path w="10314432" h="1051560" fill="norm" stroke="1" extrusionOk="0">
                  <a:moveTo>
                    <a:pt x="0" y="0"/>
                  </a:moveTo>
                  <a:lnTo>
                    <a:pt x="10314432" y="0"/>
                  </a:lnTo>
                  <a:lnTo>
                    <a:pt x="10314432" y="1051560"/>
                  </a:lnTo>
                  <a:lnTo>
                    <a:pt x="0" y="10515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41122" r="0" b="-141122"/>
              </a:stretch>
            </a:blipFill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76200"/>
              <a:ext cx="10314432" cy="11277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  <a:defRPr/>
              </a:pPr>
              <a:r>
                <a:rPr lang="en-US" sz="26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Multi-Threading</a:t>
              </a:r>
              <a:endParaRPr/>
            </a:p>
          </p:txBody>
        </p:sp>
      </p:grpSp>
      <p:sp>
        <p:nvSpPr>
          <p:cNvPr id="53201851" name="TextBox 28"/>
          <p:cNvSpPr txBox="1"/>
          <p:nvPr/>
        </p:nvSpPr>
        <p:spPr bwMode="auto">
          <a:xfrm rot="0">
            <a:off x="9729215" y="3093720"/>
            <a:ext cx="7552944" cy="637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Multiple threads within the same process, sharing memory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Threads share the same memory space efficiently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Lower overhead compared to process creation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Faster inter-thread communication (shared memory)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Suitable for: tasks needing frequent data sharing</a:t>
            </a:r>
            <a:endParaRPr/>
          </a:p>
          <a:p>
            <a:pPr marL="579120" lvl="2" indent="-193040" algn="l">
              <a:lnSpc>
                <a:spcPts val="2879"/>
              </a:lnSpc>
              <a:buFont typeface="Arial"/>
              <a:buChar char="⚬"/>
              <a:defRPr/>
            </a:pPr>
            <a:r>
              <a:rPr lang="en-US" sz="2400">
                <a:solidFill>
                  <a:srgbClr val="2D2D2D"/>
                </a:solidFill>
                <a:latin typeface="Cooper Hewitt"/>
                <a:ea typeface="Cooper Hewitt"/>
                <a:cs typeface="Cooper Hewitt"/>
              </a:rPr>
              <a:t>Examples: Game engines, UI apps with background tasks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AF8F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6420897" name="Group 2"/>
          <p:cNvGrpSpPr/>
          <p:nvPr/>
        </p:nvGrpSpPr>
        <p:grpSpPr bwMode="auto">
          <a:xfrm rot="0">
            <a:off x="914400" y="402336"/>
            <a:ext cx="16459200" cy="1280160"/>
            <a:chOff x="0" y="0"/>
            <a:chExt cx="21945600" cy="170688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id="414707954" name="Group 4"/>
          <p:cNvGrpSpPr/>
          <p:nvPr/>
        </p:nvGrpSpPr>
        <p:grpSpPr bwMode="auto">
          <a:xfrm rot="0">
            <a:off x="914400" y="273748"/>
            <a:ext cx="16459200" cy="1408748"/>
            <a:chOff x="0" y="0"/>
            <a:chExt cx="21945600" cy="1878330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1945600" cy="1878330"/>
            </a:xfrm>
            <a:custGeom>
              <a:avLst/>
              <a:gdLst/>
              <a:ahLst/>
              <a:cxnLst/>
              <a:rect l="l" t="t" r="r" b="b"/>
              <a:pathLst>
                <a:path w="21945600" h="187833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1878330"/>
                  </a:lnTo>
                  <a:lnTo>
                    <a:pt x="0" y="18783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77654" r="0" b="-177654"/>
              </a:stretch>
            </a:blip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171450"/>
              <a:ext cx="21945600" cy="204978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  <a:defRPr/>
              </a:pPr>
              <a:r>
                <a:rPr lang="en-US" sz="5600" b="1">
                  <a:solidFill>
                    <a:srgbClr val="2D2D2D"/>
                  </a:solidFill>
                  <a:latin typeface="Cooper Hewitt Bold"/>
                  <a:ea typeface="Cooper Hewitt Bold"/>
                  <a:cs typeface="Cooper Hewitt Bold"/>
                </a:rPr>
                <a:t>Complete Summary</a:t>
              </a:r>
              <a:endParaRPr/>
            </a:p>
          </p:txBody>
        </p:sp>
      </p:grpSp>
      <p:grpSp>
        <p:nvGrpSpPr>
          <p:cNvPr id="285475896" name="Group 7"/>
          <p:cNvGrpSpPr/>
          <p:nvPr/>
        </p:nvGrpSpPr>
        <p:grpSpPr bwMode="auto">
          <a:xfrm rot="0">
            <a:off x="914400" y="1737360"/>
            <a:ext cx="2743200" cy="100584"/>
            <a:chOff x="0" y="0"/>
            <a:chExt cx="3657600" cy="134112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3657600" cy="134112"/>
            </a:xfrm>
            <a:custGeom>
              <a:avLst/>
              <a:gdLst/>
              <a:ahLst/>
              <a:cxnLst/>
              <a:rect l="l" t="t" r="r" b="b"/>
              <a:pathLst>
                <a:path w="3657600" h="134112" fill="norm" stroke="1" extrusionOk="0">
                  <a:moveTo>
                    <a:pt x="0" y="0"/>
                  </a:moveTo>
                  <a:lnTo>
                    <a:pt x="3657600" y="0"/>
                  </a:lnTo>
                  <a:lnTo>
                    <a:pt x="36576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585264072" name="Group 9"/>
          <p:cNvGrpSpPr/>
          <p:nvPr/>
        </p:nvGrpSpPr>
        <p:grpSpPr bwMode="auto">
          <a:xfrm rot="0">
            <a:off x="731520" y="2011680"/>
            <a:ext cx="16824960" cy="1426464"/>
            <a:chOff x="0" y="0"/>
            <a:chExt cx="22433280" cy="1901952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2433280" cy="1901952"/>
            </a:xfrm>
            <a:custGeom>
              <a:avLst/>
              <a:gdLst/>
              <a:ahLst/>
              <a:cxnLst/>
              <a:rect l="l" t="t" r="r" b="b"/>
              <a:pathLst>
                <a:path w="22433280" h="1901952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53682900" name="Group 11"/>
          <p:cNvGrpSpPr/>
          <p:nvPr/>
        </p:nvGrpSpPr>
        <p:grpSpPr bwMode="auto">
          <a:xfrm rot="0">
            <a:off x="731520" y="2011680"/>
            <a:ext cx="128016" cy="1426464"/>
            <a:chOff x="0" y="0"/>
            <a:chExt cx="170688" cy="1901952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6B9E78"/>
            </a:solidFill>
          </p:spPr>
        </p:sp>
      </p:grpSp>
      <p:grpSp>
        <p:nvGrpSpPr>
          <p:cNvPr id="533200406" name="Group 13"/>
          <p:cNvGrpSpPr/>
          <p:nvPr/>
        </p:nvGrpSpPr>
        <p:grpSpPr bwMode="auto">
          <a:xfrm rot="0">
            <a:off x="1097280" y="2011680"/>
            <a:ext cx="4023360" cy="1426464"/>
            <a:chOff x="0" y="0"/>
            <a:chExt cx="5364480" cy="1901952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5364480" cy="1901952"/>
            </a:xfrm>
            <a:custGeom>
              <a:avLst/>
              <a:gdLst/>
              <a:ahLst/>
              <a:cxnLst/>
              <a:rect l="l" t="t" r="r" b="b"/>
              <a:pathLst>
                <a:path w="5364480" h="19019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919" r="0" b="-4918"/>
              </a:stretch>
            </a:blipFill>
          </p:spPr>
        </p:sp>
      </p:grpSp>
      <p:grpSp>
        <p:nvGrpSpPr>
          <p:cNvPr id="749074760" name="Group 15"/>
          <p:cNvGrpSpPr/>
          <p:nvPr/>
        </p:nvGrpSpPr>
        <p:grpSpPr bwMode="auto">
          <a:xfrm rot="0">
            <a:off x="1097280" y="1954530"/>
            <a:ext cx="4023360" cy="1483614"/>
            <a:chOff x="0" y="0"/>
            <a:chExt cx="5364480" cy="1978152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5364480" cy="1978152"/>
            </a:xfrm>
            <a:custGeom>
              <a:avLst/>
              <a:gdLst/>
              <a:ahLst/>
              <a:cxnLst/>
              <a:rect l="l" t="t" r="r" b="b"/>
              <a:pathLst>
                <a:path w="5364480" h="19781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78152"/>
                  </a:lnTo>
                  <a:lnTo>
                    <a:pt x="0" y="19781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40" r="0" b="-2840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76200"/>
              <a:ext cx="5364480" cy="205435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6B9E78"/>
                  </a:solidFill>
                  <a:latin typeface="Cooper Hewitt Bold"/>
                  <a:ea typeface="Cooper Hewitt Bold"/>
                  <a:cs typeface="Cooper Hewitt Bold"/>
                </a:rPr>
                <a:t>Part 1 — Hardware</a:t>
              </a:r>
              <a:endParaRPr/>
            </a:p>
          </p:txBody>
        </p:sp>
      </p:grpSp>
      <p:grpSp>
        <p:nvGrpSpPr>
          <p:cNvPr id="508856535" name="Group 18"/>
          <p:cNvGrpSpPr/>
          <p:nvPr/>
        </p:nvGrpSpPr>
        <p:grpSpPr bwMode="auto">
          <a:xfrm rot="0">
            <a:off x="5303520" y="2011680"/>
            <a:ext cx="12070079" cy="1426464"/>
            <a:chOff x="0" y="0"/>
            <a:chExt cx="16093440" cy="1901952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6093439" cy="1901952"/>
            </a:xfrm>
            <a:custGeom>
              <a:avLst/>
              <a:gdLst/>
              <a:ahLst/>
              <a:cxnLst/>
              <a:rect l="l" t="t" r="r" b="b"/>
              <a:pathLst>
                <a:path w="16093439" h="1901952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4758" r="0" b="-114757"/>
              </a:stretch>
            </a:blipFill>
          </p:spPr>
        </p:sp>
      </p:grpSp>
      <p:grpSp>
        <p:nvGrpSpPr>
          <p:cNvPr id="1323488272" name="Group 20"/>
          <p:cNvGrpSpPr/>
          <p:nvPr/>
        </p:nvGrpSpPr>
        <p:grpSpPr bwMode="auto">
          <a:xfrm rot="0">
            <a:off x="5303520" y="1961674"/>
            <a:ext cx="12070079" cy="1476470"/>
            <a:chOff x="0" y="0"/>
            <a:chExt cx="16093440" cy="1968627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6093439" cy="1968627"/>
            </a:xfrm>
            <a:custGeom>
              <a:avLst/>
              <a:gdLst/>
              <a:ahLst/>
              <a:cxnLst/>
              <a:rect l="l" t="t" r="r" b="b"/>
              <a:pathLst>
                <a:path w="16093439" h="1968627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68627"/>
                  </a:lnTo>
                  <a:lnTo>
                    <a:pt x="0" y="196862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9289" r="0" b="-109288"/>
              </a:stretch>
            </a:blip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66675"/>
              <a:ext cx="16093440" cy="203530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  <a:defRPr/>
              </a:pPr>
              <a:r>
                <a:rPr lang="en-US" sz="23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CPU cores (ALU, registers), parallelism vs concurrency, L1/L2/L3 cache, MESI protocol, thermal limits → multi-core solution</a:t>
              </a:r>
              <a:endParaRPr/>
            </a:p>
          </p:txBody>
        </p:sp>
      </p:grpSp>
      <p:grpSp>
        <p:nvGrpSpPr>
          <p:cNvPr id="1531592063" name="Group 23"/>
          <p:cNvGrpSpPr/>
          <p:nvPr/>
        </p:nvGrpSpPr>
        <p:grpSpPr bwMode="auto">
          <a:xfrm rot="0">
            <a:off x="731520" y="3602735"/>
            <a:ext cx="16824960" cy="1426464"/>
            <a:chOff x="0" y="0"/>
            <a:chExt cx="22433280" cy="1901952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22433280" cy="1901952"/>
            </a:xfrm>
            <a:custGeom>
              <a:avLst/>
              <a:gdLst/>
              <a:ahLst/>
              <a:cxnLst/>
              <a:rect l="l" t="t" r="r" b="b"/>
              <a:pathLst>
                <a:path w="22433280" h="1901952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97697911" name="Group 25"/>
          <p:cNvGrpSpPr/>
          <p:nvPr/>
        </p:nvGrpSpPr>
        <p:grpSpPr bwMode="auto">
          <a:xfrm rot="0">
            <a:off x="731520" y="3602735"/>
            <a:ext cx="128016" cy="1426464"/>
            <a:chOff x="0" y="0"/>
            <a:chExt cx="170688" cy="1901952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7BB8D4"/>
            </a:solidFill>
          </p:spPr>
        </p:sp>
      </p:grpSp>
      <p:grpSp>
        <p:nvGrpSpPr>
          <p:cNvPr id="1212427041" name="Group 27"/>
          <p:cNvGrpSpPr/>
          <p:nvPr/>
        </p:nvGrpSpPr>
        <p:grpSpPr bwMode="auto">
          <a:xfrm rot="0">
            <a:off x="1097280" y="3602735"/>
            <a:ext cx="4023360" cy="1426464"/>
            <a:chOff x="0" y="0"/>
            <a:chExt cx="5364480" cy="1901952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5364480" cy="1901952"/>
            </a:xfrm>
            <a:custGeom>
              <a:avLst/>
              <a:gdLst/>
              <a:ahLst/>
              <a:cxnLst/>
              <a:rect l="l" t="t" r="r" b="b"/>
              <a:pathLst>
                <a:path w="5364480" h="19019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919" r="0" b="-4918"/>
              </a:stretch>
            </a:blipFill>
          </p:spPr>
        </p:sp>
      </p:grpSp>
      <p:grpSp>
        <p:nvGrpSpPr>
          <p:cNvPr id="633069966" name="Group 29"/>
          <p:cNvGrpSpPr/>
          <p:nvPr/>
        </p:nvGrpSpPr>
        <p:grpSpPr bwMode="auto">
          <a:xfrm rot="0">
            <a:off x="1097280" y="3545586"/>
            <a:ext cx="4023360" cy="1483614"/>
            <a:chOff x="0" y="0"/>
            <a:chExt cx="5364480" cy="1978152"/>
          </a:xfrm>
        </p:grpSpPr>
        <p:sp>
          <p:nvSpPr>
            <p:cNvPr id="30" name="Freeform 30"/>
            <p:cNvSpPr/>
            <p:nvPr/>
          </p:nvSpPr>
          <p:spPr bwMode="auto">
            <a:xfrm rot="0" flipH="0" flipV="0">
              <a:off x="0" y="0"/>
              <a:ext cx="5364480" cy="1978152"/>
            </a:xfrm>
            <a:custGeom>
              <a:avLst/>
              <a:gdLst/>
              <a:ahLst/>
              <a:cxnLst/>
              <a:rect l="l" t="t" r="r" b="b"/>
              <a:pathLst>
                <a:path w="5364480" h="19781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78152"/>
                  </a:lnTo>
                  <a:lnTo>
                    <a:pt x="0" y="19781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40" r="0" b="-2840"/>
              </a:stretch>
            </a:blipFill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0" y="-76200"/>
              <a:ext cx="5364480" cy="205435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7BB8D4"/>
                  </a:solidFill>
                  <a:latin typeface="Cooper Hewitt Bold"/>
                  <a:ea typeface="Cooper Hewitt Bold"/>
                  <a:cs typeface="Cooper Hewitt Bold"/>
                </a:rPr>
                <a:t>Part 2 — OS &amp; Processes</a:t>
              </a:r>
              <a:endParaRPr/>
            </a:p>
          </p:txBody>
        </p:sp>
      </p:grpSp>
      <p:grpSp>
        <p:nvGrpSpPr>
          <p:cNvPr id="1918544611" name="Group 32"/>
          <p:cNvGrpSpPr/>
          <p:nvPr/>
        </p:nvGrpSpPr>
        <p:grpSpPr bwMode="auto">
          <a:xfrm rot="0">
            <a:off x="5303520" y="3602735"/>
            <a:ext cx="12070079" cy="1426464"/>
            <a:chOff x="0" y="0"/>
            <a:chExt cx="16093440" cy="1901952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16093439" cy="1901952"/>
            </a:xfrm>
            <a:custGeom>
              <a:avLst/>
              <a:gdLst/>
              <a:ahLst/>
              <a:cxnLst/>
              <a:rect l="l" t="t" r="r" b="b"/>
              <a:pathLst>
                <a:path w="16093439" h="1901952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4758" r="0" b="-114757"/>
              </a:stretch>
            </a:blipFill>
          </p:spPr>
        </p:sp>
      </p:grpSp>
      <p:grpSp>
        <p:nvGrpSpPr>
          <p:cNvPr id="476211813" name="Group 34"/>
          <p:cNvGrpSpPr/>
          <p:nvPr/>
        </p:nvGrpSpPr>
        <p:grpSpPr bwMode="auto">
          <a:xfrm rot="0">
            <a:off x="5303520" y="3552730"/>
            <a:ext cx="12070079" cy="1476470"/>
            <a:chOff x="0" y="0"/>
            <a:chExt cx="16093440" cy="1968627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16093439" cy="1968627"/>
            </a:xfrm>
            <a:custGeom>
              <a:avLst/>
              <a:gdLst/>
              <a:ahLst/>
              <a:cxnLst/>
              <a:rect l="l" t="t" r="r" b="b"/>
              <a:pathLst>
                <a:path w="16093439" h="1968627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68627"/>
                  </a:lnTo>
                  <a:lnTo>
                    <a:pt x="0" y="196862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9289" r="0" b="-109288"/>
              </a:stretch>
            </a:blipFill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66675"/>
              <a:ext cx="16093440" cy="203530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  <a:defRPr/>
              </a:pPr>
              <a:r>
                <a:rPr lang="en-US" sz="23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Process anatomy (code/data/heap/stack), virtual memory, MMU/page table, context switching, multi-core vs multi-CPU</a:t>
              </a:r>
              <a:endParaRPr/>
            </a:p>
          </p:txBody>
        </p:sp>
      </p:grpSp>
      <p:grpSp>
        <p:nvGrpSpPr>
          <p:cNvPr id="1498807348" name="Group 37"/>
          <p:cNvGrpSpPr/>
          <p:nvPr/>
        </p:nvGrpSpPr>
        <p:grpSpPr bwMode="auto">
          <a:xfrm rot="0">
            <a:off x="731520" y="5193792"/>
            <a:ext cx="16824960" cy="1426464"/>
            <a:chOff x="0" y="0"/>
            <a:chExt cx="22433280" cy="1901952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22433280" cy="1901952"/>
            </a:xfrm>
            <a:custGeom>
              <a:avLst/>
              <a:gdLst/>
              <a:ahLst/>
              <a:cxnLst/>
              <a:rect l="l" t="t" r="r" b="b"/>
              <a:pathLst>
                <a:path w="22433280" h="1901952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03243197" name="Group 39"/>
          <p:cNvGrpSpPr/>
          <p:nvPr/>
        </p:nvGrpSpPr>
        <p:grpSpPr bwMode="auto">
          <a:xfrm rot="0">
            <a:off x="731520" y="5193792"/>
            <a:ext cx="128016" cy="1426464"/>
            <a:chOff x="0" y="0"/>
            <a:chExt cx="170688" cy="1901952"/>
          </a:xfrm>
        </p:grpSpPr>
        <p:sp>
          <p:nvSpPr>
            <p:cNvPr id="40" name="Freeform 40"/>
            <p:cNvSpPr/>
            <p:nvPr/>
          </p:nvSpPr>
          <p:spPr bwMode="auto">
            <a:xfrm rot="0" flipH="0" flipV="0">
              <a:off x="0" y="0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9B89B4"/>
            </a:solidFill>
          </p:spPr>
        </p:sp>
      </p:grpSp>
      <p:grpSp>
        <p:nvGrpSpPr>
          <p:cNvPr id="1013529018" name="Group 41"/>
          <p:cNvGrpSpPr/>
          <p:nvPr/>
        </p:nvGrpSpPr>
        <p:grpSpPr bwMode="auto">
          <a:xfrm rot="0">
            <a:off x="1097280" y="5193792"/>
            <a:ext cx="4023360" cy="1426464"/>
            <a:chOff x="0" y="0"/>
            <a:chExt cx="5364480" cy="1901952"/>
          </a:xfrm>
        </p:grpSpPr>
        <p:sp>
          <p:nvSpPr>
            <p:cNvPr id="42" name="Freeform 42"/>
            <p:cNvSpPr/>
            <p:nvPr/>
          </p:nvSpPr>
          <p:spPr bwMode="auto">
            <a:xfrm rot="0" flipH="0" flipV="0">
              <a:off x="0" y="0"/>
              <a:ext cx="5364480" cy="1901952"/>
            </a:xfrm>
            <a:custGeom>
              <a:avLst/>
              <a:gdLst/>
              <a:ahLst/>
              <a:cxnLst/>
              <a:rect l="l" t="t" r="r" b="b"/>
              <a:pathLst>
                <a:path w="5364480" h="19019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919" r="0" b="-4918"/>
              </a:stretch>
            </a:blipFill>
          </p:spPr>
        </p:sp>
      </p:grpSp>
      <p:grpSp>
        <p:nvGrpSpPr>
          <p:cNvPr id="186369670" name="Group 43"/>
          <p:cNvGrpSpPr/>
          <p:nvPr/>
        </p:nvGrpSpPr>
        <p:grpSpPr bwMode="auto">
          <a:xfrm rot="0">
            <a:off x="1097280" y="5136642"/>
            <a:ext cx="4023360" cy="1483614"/>
            <a:chOff x="0" y="0"/>
            <a:chExt cx="5364480" cy="1978152"/>
          </a:xfrm>
        </p:grpSpPr>
        <p:sp>
          <p:nvSpPr>
            <p:cNvPr id="44" name="Freeform 44"/>
            <p:cNvSpPr/>
            <p:nvPr/>
          </p:nvSpPr>
          <p:spPr bwMode="auto">
            <a:xfrm rot="0" flipH="0" flipV="0">
              <a:off x="0" y="0"/>
              <a:ext cx="5364480" cy="1978152"/>
            </a:xfrm>
            <a:custGeom>
              <a:avLst/>
              <a:gdLst/>
              <a:ahLst/>
              <a:cxnLst/>
              <a:rect l="l" t="t" r="r" b="b"/>
              <a:pathLst>
                <a:path w="5364480" h="19781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78152"/>
                  </a:lnTo>
                  <a:lnTo>
                    <a:pt x="0" y="19781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40" r="0" b="-2840"/>
              </a:stretch>
            </a:blipFill>
          </p:spPr>
        </p:sp>
        <p:sp>
          <p:nvSpPr>
            <p:cNvPr id="45" name="TextBox 45"/>
            <p:cNvSpPr txBox="1"/>
            <p:nvPr/>
          </p:nvSpPr>
          <p:spPr bwMode="auto">
            <a:xfrm>
              <a:off x="0" y="-76200"/>
              <a:ext cx="5364480" cy="205435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9B89B4"/>
                  </a:solidFill>
                  <a:latin typeface="Cooper Hewitt Bold"/>
                  <a:ea typeface="Cooper Hewitt Bold"/>
                  <a:cs typeface="Cooper Hewitt Bold"/>
                </a:rPr>
                <a:t>Part 3 — Threads</a:t>
              </a:r>
              <a:endParaRPr/>
            </a:p>
          </p:txBody>
        </p:sp>
      </p:grpSp>
      <p:grpSp>
        <p:nvGrpSpPr>
          <p:cNvPr id="164525713" name="Group 46"/>
          <p:cNvGrpSpPr/>
          <p:nvPr/>
        </p:nvGrpSpPr>
        <p:grpSpPr bwMode="auto">
          <a:xfrm rot="0">
            <a:off x="5303520" y="5193792"/>
            <a:ext cx="12070079" cy="1426464"/>
            <a:chOff x="0" y="0"/>
            <a:chExt cx="16093440" cy="1901952"/>
          </a:xfrm>
        </p:grpSpPr>
        <p:sp>
          <p:nvSpPr>
            <p:cNvPr id="47" name="Freeform 47"/>
            <p:cNvSpPr/>
            <p:nvPr/>
          </p:nvSpPr>
          <p:spPr bwMode="auto">
            <a:xfrm rot="0" flipH="0" flipV="0">
              <a:off x="0" y="0"/>
              <a:ext cx="16093439" cy="1901952"/>
            </a:xfrm>
            <a:custGeom>
              <a:avLst/>
              <a:gdLst/>
              <a:ahLst/>
              <a:cxnLst/>
              <a:rect l="l" t="t" r="r" b="b"/>
              <a:pathLst>
                <a:path w="16093439" h="1901952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4758" r="0" b="-114757"/>
              </a:stretch>
            </a:blipFill>
          </p:spPr>
        </p:sp>
      </p:grpSp>
      <p:grpSp>
        <p:nvGrpSpPr>
          <p:cNvPr id="416820803" name="Group 48"/>
          <p:cNvGrpSpPr/>
          <p:nvPr/>
        </p:nvGrpSpPr>
        <p:grpSpPr bwMode="auto">
          <a:xfrm rot="0">
            <a:off x="5303520" y="5143786"/>
            <a:ext cx="12070079" cy="1476470"/>
            <a:chOff x="0" y="0"/>
            <a:chExt cx="16093440" cy="1968627"/>
          </a:xfrm>
        </p:grpSpPr>
        <p:sp>
          <p:nvSpPr>
            <p:cNvPr id="49" name="Freeform 49"/>
            <p:cNvSpPr/>
            <p:nvPr/>
          </p:nvSpPr>
          <p:spPr bwMode="auto">
            <a:xfrm rot="0" flipH="0" flipV="0">
              <a:off x="0" y="0"/>
              <a:ext cx="16093439" cy="1968627"/>
            </a:xfrm>
            <a:custGeom>
              <a:avLst/>
              <a:gdLst/>
              <a:ahLst/>
              <a:cxnLst/>
              <a:rect l="l" t="t" r="r" b="b"/>
              <a:pathLst>
                <a:path w="16093439" h="1968627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68627"/>
                  </a:lnTo>
                  <a:lnTo>
                    <a:pt x="0" y="196862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9289" r="0" b="-109288"/>
              </a:stretch>
            </a:blipFill>
          </p:spPr>
        </p:sp>
        <p:sp>
          <p:nvSpPr>
            <p:cNvPr id="50" name="TextBox 50"/>
            <p:cNvSpPr txBox="1"/>
            <p:nvPr/>
          </p:nvSpPr>
          <p:spPr bwMode="auto">
            <a:xfrm>
              <a:off x="0" y="-66675"/>
              <a:ext cx="16093440" cy="203530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  <a:defRPr/>
              </a:pPr>
              <a:r>
                <a:rPr lang="en-US" sz="23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Thread definition, shared vs private resources, why threads are faster, race conditions, multithreading in GUI apps</a:t>
              </a:r>
              <a:endParaRPr/>
            </a:p>
          </p:txBody>
        </p:sp>
      </p:grpSp>
      <p:grpSp>
        <p:nvGrpSpPr>
          <p:cNvPr id="284864671" name="Group 51"/>
          <p:cNvGrpSpPr/>
          <p:nvPr/>
        </p:nvGrpSpPr>
        <p:grpSpPr bwMode="auto">
          <a:xfrm rot="0">
            <a:off x="731520" y="6784848"/>
            <a:ext cx="16824960" cy="1426464"/>
            <a:chOff x="0" y="0"/>
            <a:chExt cx="22433280" cy="1901952"/>
          </a:xfrm>
        </p:grpSpPr>
        <p:sp>
          <p:nvSpPr>
            <p:cNvPr id="52" name="Freeform 52"/>
            <p:cNvSpPr/>
            <p:nvPr/>
          </p:nvSpPr>
          <p:spPr bwMode="auto">
            <a:xfrm rot="0" flipH="0" flipV="0">
              <a:off x="0" y="0"/>
              <a:ext cx="22433280" cy="1901952"/>
            </a:xfrm>
            <a:custGeom>
              <a:avLst/>
              <a:gdLst/>
              <a:ahLst/>
              <a:cxnLst/>
              <a:rect l="l" t="t" r="r" b="b"/>
              <a:pathLst>
                <a:path w="22433280" h="1901952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45846523" name="Group 53"/>
          <p:cNvGrpSpPr/>
          <p:nvPr/>
        </p:nvGrpSpPr>
        <p:grpSpPr bwMode="auto">
          <a:xfrm rot="0">
            <a:off x="731520" y="6784848"/>
            <a:ext cx="128016" cy="1426464"/>
            <a:chOff x="0" y="0"/>
            <a:chExt cx="170688" cy="1901952"/>
          </a:xfrm>
        </p:grpSpPr>
        <p:sp>
          <p:nvSpPr>
            <p:cNvPr id="54" name="Freeform 54"/>
            <p:cNvSpPr/>
            <p:nvPr/>
          </p:nvSpPr>
          <p:spPr bwMode="auto">
            <a:xfrm rot="0" flipH="0" flipV="0">
              <a:off x="0" y="0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E8A598"/>
            </a:solidFill>
          </p:spPr>
        </p:sp>
      </p:grpSp>
      <p:grpSp>
        <p:nvGrpSpPr>
          <p:cNvPr id="161061742" name="Group 55"/>
          <p:cNvGrpSpPr/>
          <p:nvPr/>
        </p:nvGrpSpPr>
        <p:grpSpPr bwMode="auto">
          <a:xfrm rot="0">
            <a:off x="1097280" y="6784848"/>
            <a:ext cx="4023360" cy="1426464"/>
            <a:chOff x="0" y="0"/>
            <a:chExt cx="5364480" cy="1901952"/>
          </a:xfrm>
        </p:grpSpPr>
        <p:sp>
          <p:nvSpPr>
            <p:cNvPr id="56" name="Freeform 56"/>
            <p:cNvSpPr/>
            <p:nvPr/>
          </p:nvSpPr>
          <p:spPr bwMode="auto">
            <a:xfrm rot="0" flipH="0" flipV="0">
              <a:off x="0" y="0"/>
              <a:ext cx="5364480" cy="1901952"/>
            </a:xfrm>
            <a:custGeom>
              <a:avLst/>
              <a:gdLst/>
              <a:ahLst/>
              <a:cxnLst/>
              <a:rect l="l" t="t" r="r" b="b"/>
              <a:pathLst>
                <a:path w="5364480" h="19019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919" r="0" b="-4918"/>
              </a:stretch>
            </a:blipFill>
          </p:spPr>
        </p:sp>
      </p:grpSp>
      <p:grpSp>
        <p:nvGrpSpPr>
          <p:cNvPr id="1706472180" name="Group 57"/>
          <p:cNvGrpSpPr/>
          <p:nvPr/>
        </p:nvGrpSpPr>
        <p:grpSpPr bwMode="auto">
          <a:xfrm rot="0">
            <a:off x="1097280" y="6727698"/>
            <a:ext cx="4023360" cy="1483614"/>
            <a:chOff x="0" y="0"/>
            <a:chExt cx="5364480" cy="1978152"/>
          </a:xfrm>
        </p:grpSpPr>
        <p:sp>
          <p:nvSpPr>
            <p:cNvPr id="58" name="Freeform 58"/>
            <p:cNvSpPr/>
            <p:nvPr/>
          </p:nvSpPr>
          <p:spPr bwMode="auto">
            <a:xfrm rot="0" flipH="0" flipV="0">
              <a:off x="0" y="0"/>
              <a:ext cx="5364480" cy="1978152"/>
            </a:xfrm>
            <a:custGeom>
              <a:avLst/>
              <a:gdLst/>
              <a:ahLst/>
              <a:cxnLst/>
              <a:rect l="l" t="t" r="r" b="b"/>
              <a:pathLst>
                <a:path w="5364480" h="19781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78152"/>
                  </a:lnTo>
                  <a:lnTo>
                    <a:pt x="0" y="19781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40" r="0" b="-2840"/>
              </a:stretch>
            </a:blipFill>
          </p:spPr>
        </p:sp>
        <p:sp>
          <p:nvSpPr>
            <p:cNvPr id="59" name="TextBox 59"/>
            <p:cNvSpPr txBox="1"/>
            <p:nvPr/>
          </p:nvSpPr>
          <p:spPr bwMode="auto">
            <a:xfrm>
              <a:off x="0" y="-76200"/>
              <a:ext cx="5364480" cy="205435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E8A598"/>
                  </a:solidFill>
                  <a:latin typeface="Cooper Hewitt Bold"/>
                  <a:ea typeface="Cooper Hewitt Bold"/>
                  <a:cs typeface="Cooper Hewitt Bold"/>
                </a:rPr>
                <a:t>Part 4 — Synchronization</a:t>
              </a:r>
              <a:endParaRPr/>
            </a:p>
          </p:txBody>
        </p:sp>
      </p:grpSp>
      <p:grpSp>
        <p:nvGrpSpPr>
          <p:cNvPr id="179947933" name="Group 60"/>
          <p:cNvGrpSpPr/>
          <p:nvPr/>
        </p:nvGrpSpPr>
        <p:grpSpPr bwMode="auto">
          <a:xfrm rot="0">
            <a:off x="5303520" y="6784848"/>
            <a:ext cx="12070079" cy="1426464"/>
            <a:chOff x="0" y="0"/>
            <a:chExt cx="16093440" cy="1901952"/>
          </a:xfrm>
        </p:grpSpPr>
        <p:sp>
          <p:nvSpPr>
            <p:cNvPr id="61" name="Freeform 61"/>
            <p:cNvSpPr/>
            <p:nvPr/>
          </p:nvSpPr>
          <p:spPr bwMode="auto">
            <a:xfrm rot="0" flipH="0" flipV="0">
              <a:off x="0" y="0"/>
              <a:ext cx="16093439" cy="1901952"/>
            </a:xfrm>
            <a:custGeom>
              <a:avLst/>
              <a:gdLst/>
              <a:ahLst/>
              <a:cxnLst/>
              <a:rect l="l" t="t" r="r" b="b"/>
              <a:pathLst>
                <a:path w="16093439" h="1901952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4758" r="0" b="-114757"/>
              </a:stretch>
            </a:blipFill>
          </p:spPr>
        </p:sp>
      </p:grpSp>
      <p:grpSp>
        <p:nvGrpSpPr>
          <p:cNvPr id="1992695632" name="Group 62"/>
          <p:cNvGrpSpPr/>
          <p:nvPr/>
        </p:nvGrpSpPr>
        <p:grpSpPr bwMode="auto">
          <a:xfrm rot="0">
            <a:off x="5303520" y="6734841"/>
            <a:ext cx="12070079" cy="1476470"/>
            <a:chOff x="0" y="0"/>
            <a:chExt cx="16093440" cy="1968627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16093439" cy="1968627"/>
            </a:xfrm>
            <a:custGeom>
              <a:avLst/>
              <a:gdLst/>
              <a:ahLst/>
              <a:cxnLst/>
              <a:rect l="l" t="t" r="r" b="b"/>
              <a:pathLst>
                <a:path w="16093439" h="1968627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68627"/>
                  </a:lnTo>
                  <a:lnTo>
                    <a:pt x="0" y="196862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9289" r="0" b="-109288"/>
              </a:stretch>
            </a:blipFill>
          </p:spPr>
        </p:sp>
        <p:sp>
          <p:nvSpPr>
            <p:cNvPr id="64" name="TextBox 64"/>
            <p:cNvSpPr txBox="1"/>
            <p:nvPr/>
          </p:nvSpPr>
          <p:spPr bwMode="auto">
            <a:xfrm>
              <a:off x="0" y="-66675"/>
              <a:ext cx="16093440" cy="203530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  <a:defRPr/>
              </a:pPr>
              <a:r>
                <a:rPr lang="en-US" sz="23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Mutex/locks for race conditions, deadlock (4 conditions + fix: consistent lock order), starvation and prevention</a:t>
              </a:r>
              <a:endParaRPr/>
            </a:p>
          </p:txBody>
        </p:sp>
      </p:grpSp>
      <p:grpSp>
        <p:nvGrpSpPr>
          <p:cNvPr id="1572140183" name="Group 65"/>
          <p:cNvGrpSpPr/>
          <p:nvPr/>
        </p:nvGrpSpPr>
        <p:grpSpPr bwMode="auto">
          <a:xfrm rot="0">
            <a:off x="731520" y="8375904"/>
            <a:ext cx="16824960" cy="1426464"/>
            <a:chOff x="0" y="0"/>
            <a:chExt cx="22433280" cy="1901952"/>
          </a:xfrm>
        </p:grpSpPr>
        <p:sp>
          <p:nvSpPr>
            <p:cNvPr id="66" name="Freeform 66"/>
            <p:cNvSpPr/>
            <p:nvPr/>
          </p:nvSpPr>
          <p:spPr bwMode="auto">
            <a:xfrm rot="0" flipH="0" flipV="0">
              <a:off x="0" y="0"/>
              <a:ext cx="22433280" cy="1901952"/>
            </a:xfrm>
            <a:custGeom>
              <a:avLst/>
              <a:gdLst/>
              <a:ahLst/>
              <a:cxnLst/>
              <a:rect l="l" t="t" r="r" b="b"/>
              <a:pathLst>
                <a:path w="22433280" h="1901952" fill="norm" stroke="1" extrusionOk="0">
                  <a:moveTo>
                    <a:pt x="0" y="0"/>
                  </a:moveTo>
                  <a:lnTo>
                    <a:pt x="22433280" y="0"/>
                  </a:lnTo>
                  <a:lnTo>
                    <a:pt x="224332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7741217" name="Group 67"/>
          <p:cNvGrpSpPr/>
          <p:nvPr/>
        </p:nvGrpSpPr>
        <p:grpSpPr bwMode="auto">
          <a:xfrm rot="0">
            <a:off x="731520" y="8375904"/>
            <a:ext cx="128016" cy="1426464"/>
            <a:chOff x="0" y="0"/>
            <a:chExt cx="170688" cy="1901952"/>
          </a:xfrm>
        </p:grpSpPr>
        <p:sp>
          <p:nvSpPr>
            <p:cNvPr id="68" name="Freeform 68"/>
            <p:cNvSpPr/>
            <p:nvPr/>
          </p:nvSpPr>
          <p:spPr bwMode="auto">
            <a:xfrm rot="0" flipH="0" flipV="0">
              <a:off x="0" y="0"/>
              <a:ext cx="170688" cy="1901952"/>
            </a:xfrm>
            <a:custGeom>
              <a:avLst/>
              <a:gdLst/>
              <a:ahLst/>
              <a:cxnLst/>
              <a:rect l="l" t="t" r="r" b="b"/>
              <a:pathLst>
                <a:path w="170688" h="1901952" fill="norm" stroke="1" extrusionOk="0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D4A96A"/>
            </a:solidFill>
          </p:spPr>
        </p:sp>
      </p:grpSp>
      <p:grpSp>
        <p:nvGrpSpPr>
          <p:cNvPr id="900769321" name="Group 69"/>
          <p:cNvGrpSpPr/>
          <p:nvPr/>
        </p:nvGrpSpPr>
        <p:grpSpPr bwMode="auto">
          <a:xfrm rot="0">
            <a:off x="1097280" y="8375904"/>
            <a:ext cx="4023360" cy="1426464"/>
            <a:chOff x="0" y="0"/>
            <a:chExt cx="5364480" cy="1901952"/>
          </a:xfrm>
        </p:grpSpPr>
        <p:sp>
          <p:nvSpPr>
            <p:cNvPr id="70" name="Freeform 70"/>
            <p:cNvSpPr/>
            <p:nvPr/>
          </p:nvSpPr>
          <p:spPr bwMode="auto">
            <a:xfrm rot="0" flipH="0" flipV="0">
              <a:off x="0" y="0"/>
              <a:ext cx="5364480" cy="1901952"/>
            </a:xfrm>
            <a:custGeom>
              <a:avLst/>
              <a:gdLst/>
              <a:ahLst/>
              <a:cxnLst/>
              <a:rect l="l" t="t" r="r" b="b"/>
              <a:pathLst>
                <a:path w="5364480" h="19019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4919" r="0" b="-4918"/>
              </a:stretch>
            </a:blipFill>
          </p:spPr>
        </p:sp>
      </p:grpSp>
      <p:grpSp>
        <p:nvGrpSpPr>
          <p:cNvPr id="130645082" name="Group 71"/>
          <p:cNvGrpSpPr/>
          <p:nvPr/>
        </p:nvGrpSpPr>
        <p:grpSpPr bwMode="auto">
          <a:xfrm rot="0">
            <a:off x="1097280" y="8318754"/>
            <a:ext cx="4023360" cy="1483614"/>
            <a:chOff x="0" y="0"/>
            <a:chExt cx="5364480" cy="1978152"/>
          </a:xfrm>
        </p:grpSpPr>
        <p:sp>
          <p:nvSpPr>
            <p:cNvPr id="72" name="Freeform 72"/>
            <p:cNvSpPr/>
            <p:nvPr/>
          </p:nvSpPr>
          <p:spPr bwMode="auto">
            <a:xfrm rot="0" flipH="0" flipV="0">
              <a:off x="0" y="0"/>
              <a:ext cx="5364480" cy="1978152"/>
            </a:xfrm>
            <a:custGeom>
              <a:avLst/>
              <a:gdLst/>
              <a:ahLst/>
              <a:cxnLst/>
              <a:rect l="l" t="t" r="r" b="b"/>
              <a:pathLst>
                <a:path w="5364480" h="1978152" fill="norm" stroke="1" extrusionOk="0">
                  <a:moveTo>
                    <a:pt x="0" y="0"/>
                  </a:moveTo>
                  <a:lnTo>
                    <a:pt x="5364480" y="0"/>
                  </a:lnTo>
                  <a:lnTo>
                    <a:pt x="5364480" y="1978152"/>
                  </a:lnTo>
                  <a:lnTo>
                    <a:pt x="0" y="19781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2840" r="0" b="-2840"/>
              </a:stretch>
            </a:blipFill>
          </p:spPr>
        </p:sp>
        <p:sp>
          <p:nvSpPr>
            <p:cNvPr id="73" name="TextBox 73"/>
            <p:cNvSpPr txBox="1"/>
            <p:nvPr/>
          </p:nvSpPr>
          <p:spPr bwMode="auto">
            <a:xfrm>
              <a:off x="0" y="-76200"/>
              <a:ext cx="5364480" cy="205435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  <a:defRPr/>
              </a:pPr>
              <a:r>
                <a:rPr lang="en-US" sz="2400" b="1">
                  <a:solidFill>
                    <a:srgbClr val="D4A96A"/>
                  </a:solidFill>
                  <a:latin typeface="Cooper Hewitt Bold"/>
                  <a:ea typeface="Cooper Hewitt Bold"/>
                  <a:cs typeface="Cooper Hewitt Bold"/>
                </a:rPr>
                <a:t>Part 5 — Performance</a:t>
              </a:r>
              <a:endParaRPr/>
            </a:p>
          </p:txBody>
        </p:sp>
      </p:grpSp>
      <p:grpSp>
        <p:nvGrpSpPr>
          <p:cNvPr id="190177547" name="Group 74"/>
          <p:cNvGrpSpPr/>
          <p:nvPr/>
        </p:nvGrpSpPr>
        <p:grpSpPr bwMode="auto">
          <a:xfrm rot="0">
            <a:off x="5303520" y="8375904"/>
            <a:ext cx="12070079" cy="1426464"/>
            <a:chOff x="0" y="0"/>
            <a:chExt cx="16093440" cy="1901952"/>
          </a:xfrm>
        </p:grpSpPr>
        <p:sp>
          <p:nvSpPr>
            <p:cNvPr id="75" name="Freeform 75"/>
            <p:cNvSpPr/>
            <p:nvPr/>
          </p:nvSpPr>
          <p:spPr bwMode="auto">
            <a:xfrm rot="0" flipH="0" flipV="0">
              <a:off x="0" y="0"/>
              <a:ext cx="16093439" cy="1901952"/>
            </a:xfrm>
            <a:custGeom>
              <a:avLst/>
              <a:gdLst/>
              <a:ahLst/>
              <a:cxnLst/>
              <a:rect l="l" t="t" r="r" b="b"/>
              <a:pathLst>
                <a:path w="16093439" h="1901952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0" t="-114758" r="0" b="-114757"/>
              </a:stretch>
            </a:blipFill>
          </p:spPr>
        </p:sp>
      </p:grpSp>
      <p:grpSp>
        <p:nvGrpSpPr>
          <p:cNvPr id="1502219966" name="Group 76"/>
          <p:cNvGrpSpPr/>
          <p:nvPr/>
        </p:nvGrpSpPr>
        <p:grpSpPr bwMode="auto">
          <a:xfrm rot="0">
            <a:off x="5303520" y="8325898"/>
            <a:ext cx="12070079" cy="1476470"/>
            <a:chOff x="0" y="0"/>
            <a:chExt cx="16093440" cy="1968627"/>
          </a:xfrm>
        </p:grpSpPr>
        <p:sp>
          <p:nvSpPr>
            <p:cNvPr id="77" name="Freeform 77"/>
            <p:cNvSpPr/>
            <p:nvPr/>
          </p:nvSpPr>
          <p:spPr bwMode="auto">
            <a:xfrm rot="0" flipH="0" flipV="0">
              <a:off x="0" y="0"/>
              <a:ext cx="16093439" cy="1968627"/>
            </a:xfrm>
            <a:custGeom>
              <a:avLst/>
              <a:gdLst/>
              <a:ahLst/>
              <a:cxnLst/>
              <a:rect l="l" t="t" r="r" b="b"/>
              <a:pathLst>
                <a:path w="16093439" h="1968627" fill="norm" stroke="1" extrusionOk="0">
                  <a:moveTo>
                    <a:pt x="0" y="0"/>
                  </a:moveTo>
                  <a:lnTo>
                    <a:pt x="16093439" y="0"/>
                  </a:lnTo>
                  <a:lnTo>
                    <a:pt x="16093439" y="1968627"/>
                  </a:lnTo>
                  <a:lnTo>
                    <a:pt x="0" y="196862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0" t="-109289" r="0" b="-109288"/>
              </a:stretch>
            </a:blipFill>
          </p:spPr>
        </p:sp>
        <p:sp>
          <p:nvSpPr>
            <p:cNvPr id="78" name="TextBox 78"/>
            <p:cNvSpPr txBox="1"/>
            <p:nvPr/>
          </p:nvSpPr>
          <p:spPr bwMode="auto">
            <a:xfrm>
              <a:off x="0" y="-66675"/>
              <a:ext cx="16093440" cy="203530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  <a:defRPr/>
              </a:pPr>
              <a:r>
                <a:rPr lang="en-US" sz="2300">
                  <a:solidFill>
                    <a:srgbClr val="888580"/>
                  </a:solidFill>
                  <a:latin typeface="Cooper Hewitt"/>
                  <a:ea typeface="Cooper Hewitt"/>
                  <a:cs typeface="Cooper Hewitt"/>
                </a:rPr>
                <a:t>Amdahl's Law (serial bottleneck limits parallelism), load balancing by OS scheduler, multi-processing vs multi-threading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38</Slides>
  <Notes>38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the full text extracted from the image: ## Step-by-Step Execution (The Problem) Let's assume: **count = 0** **Thread A starts:** Reads count -&gt; 0 **Thread B starts before A finishes:** Reads count -&gt; 0 **Thread A continues:** Increments -&gt; 1</dc:title>
  <dc:identifier>DAHIEY6Fu6k</dc:identifier>
  <cp:lastModifiedBy/>
  <cp:revision>2</cp:revision>
  <dcterms:created xsi:type="dcterms:W3CDTF">2006-08-16T00:00:00Z</dcterms:created>
  <dcterms:modified xsi:type="dcterms:W3CDTF">2026-04-29T13:27:12Z</dcterms:modified>
</cp:coreProperties>
</file>